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0.xml" ContentType="application/vnd.openxmlformats-officedocument.presentationml.notesSlide+xml"/>
  <Override PartName="/ppt/charts/chart10.xml" ContentType="application/vnd.openxmlformats-officedocument.drawingml.chart+xml"/>
  <Override PartName="/ppt/notesSlides/notesSlide11.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3.xml" ContentType="application/vnd.openxmlformats-officedocument.drawingml.chart+xml"/>
  <Override PartName="/ppt/notesSlides/notesSlide18.xml" ContentType="application/vnd.openxmlformats-officedocument.presentationml.notesSlide+xml"/>
  <Override PartName="/ppt/charts/chart14.xml" ContentType="application/vnd.openxmlformats-officedocument.drawingml.chart+xml"/>
  <Override PartName="/ppt/notesSlides/notesSlide19.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20.xml" ContentType="application/vnd.openxmlformats-officedocument.presentationml.notesSlide+xml"/>
  <Override PartName="/ppt/charts/chart1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95B58B3-B140-AE7F-3FF6-DA4F3001328B}">
          <p14:sldIdLst>
            <p14:sldId id="256"/>
          </p14:sldIdLst>
        </p14:section>
        <p14:section name="Contexte et méthode" id="{1B8788D1-2B87-B4AA-DC9D-F609BF610726}">
          <p14:sldIdLst>
            <p14:sldId id="257"/>
            <p14:sldId id="258"/>
            <p14:sldId id="259"/>
            <p14:sldId id="260"/>
          </p14:sldIdLst>
        </p14:section>
        <p14:section name="Résultats" id="{5ABE7BFB-6DEA-F147-4F89-478ADD4CB941}">
          <p14:sldIdLst>
            <p14:sldId id="261"/>
            <p14:sldId id="262"/>
            <p14:sldId id="263"/>
            <p14:sldId id="264"/>
            <p14:sldId id="265"/>
            <p14:sldId id="266"/>
          </p14:sldIdLst>
        </p14:section>
        <p14:section name="Conclusion" id="{2D7878F7-1EC9-AD52-6EE7-B38CB13B4852}">
          <p14:sldIdLst>
            <p14:sldId id="267"/>
            <p14:sldId id="268"/>
            <p14:sldId id="269"/>
          </p14:sldIdLst>
        </p14:section>
        <p14:section name="Annexes" id="{F8E8427E-36C6-A40D-3962-1C58160991C8}">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Manquantes</c:v>
                </c:pt>
              </c:strCache>
            </c:strRef>
          </c:tx>
          <c:spPr>
            <a:solidFill>
              <a:srgbClr val="2B3440"/>
            </a:solidFill>
            <a:effectLst/>
          </c:spPr>
          <c:invertIfNegative val="0"/>
          <c:dLbls>
            <c:numFmt formatCode="0.0&quot;%&quot;"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Insuline</c:v>
                </c:pt>
                <c:pt idx="1">
                  <c:v>Pli cutané</c:v>
                </c:pt>
                <c:pt idx="2">
                  <c:v>Pression</c:v>
                </c:pt>
                <c:pt idx="3">
                  <c:v>IMC</c:v>
                </c:pt>
                <c:pt idx="4">
                  <c:v>Glycémie</c:v>
                </c:pt>
              </c:strCache>
            </c:strRef>
          </c:cat>
          <c:val>
            <c:numRef>
              <c:f>Sheet1!$B$2:$B$6</c:f>
              <c:numCache>
                <c:formatCode>General</c:formatCode>
                <c:ptCount val="5"/>
                <c:pt idx="0">
                  <c:v>48.7</c:v>
                </c:pt>
                <c:pt idx="1">
                  <c:v>29.6</c:v>
                </c:pt>
                <c:pt idx="2">
                  <c:v>4.5999999999999996</c:v>
                </c:pt>
                <c:pt idx="3">
                  <c:v>1.4</c:v>
                </c:pt>
                <c:pt idx="4">
                  <c:v>0.7</c:v>
                </c:pt>
              </c:numCache>
            </c:numRef>
          </c:val>
          <c:extLst>
            <c:ext xmlns:c16="http://schemas.microsoft.com/office/drawing/2014/chart" uri="{C3380CC4-5D6E-409C-BE32-E72D297353CC}">
              <c16:uniqueId val="{00000000-7207-4953-A4F0-B053006A7C47}"/>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AUC</c:v>
                </c:pt>
              </c:strCache>
            </c:strRef>
          </c:tx>
          <c:spPr>
            <a:solidFill>
              <a:srgbClr val="D9433B"/>
            </a:solidFill>
            <a:effectLst/>
          </c:spPr>
          <c:invertIfNegative val="0"/>
          <c:dPt>
            <c:idx val="0"/>
            <c:invertIfNegative val="0"/>
            <c:bubble3D val="0"/>
            <c:extLst>
              <c:ext xmlns:c16="http://schemas.microsoft.com/office/drawing/2014/chart" uri="{C3380CC4-5D6E-409C-BE32-E72D297353CC}">
                <c16:uniqueId val="{00000001-DE57-4DE3-B6F6-6D834D8D8569}"/>
              </c:ext>
            </c:extLst>
          </c:dPt>
          <c:dPt>
            <c:idx val="1"/>
            <c:invertIfNegative val="0"/>
            <c:bubble3D val="0"/>
            <c:spPr>
              <a:solidFill>
                <a:srgbClr val="2B3440"/>
              </a:solidFill>
              <a:effectLst/>
            </c:spPr>
            <c:extLst>
              <c:ext xmlns:c16="http://schemas.microsoft.com/office/drawing/2014/chart" uri="{C3380CC4-5D6E-409C-BE32-E72D297353CC}">
                <c16:uniqueId val="{00000003-DE57-4DE3-B6F6-6D834D8D8569}"/>
              </c:ext>
            </c:extLst>
          </c:dPt>
          <c:dLbls>
            <c:numFmt formatCode="0.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Par classe (fuite)</c:v>
                </c:pt>
                <c:pt idx="1">
                  <c:v>Honnête</c:v>
                </c:pt>
              </c:strCache>
            </c:strRef>
          </c:cat>
          <c:val>
            <c:numRef>
              <c:f>Sheet1!$B$2:$B$3</c:f>
              <c:numCache>
                <c:formatCode>General</c:formatCode>
                <c:ptCount val="2"/>
                <c:pt idx="0">
                  <c:v>0.83199999999999996</c:v>
                </c:pt>
                <c:pt idx="1">
                  <c:v>0.78800000000000003</c:v>
                </c:pt>
              </c:numCache>
            </c:numRef>
          </c:val>
          <c:extLst>
            <c:ext xmlns:c16="http://schemas.microsoft.com/office/drawing/2014/chart" uri="{C3380CC4-5D6E-409C-BE32-E72D297353CC}">
              <c16:uniqueId val="{00000004-DE57-4DE3-B6F6-6D834D8D856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0.9"/>
          <c:min val="0.5"/>
        </c:scaling>
        <c:delete val="0"/>
        <c:axPos val="l"/>
        <c:majorGridlines>
          <c:spPr>
            <a:ln w="9525" cap="flat">
              <a:solidFill>
                <a:srgbClr val="E2E5E9"/>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Règle vraie</c:v>
                </c:pt>
              </c:strCache>
            </c:strRef>
          </c:tx>
          <c:spPr>
            <a:solidFill>
              <a:srgbClr val="0E8F7E"/>
            </a:solidFill>
            <a:effectLst/>
          </c:spPr>
          <c:invertIfNegative val="0"/>
          <c:dLbls>
            <c:numFmt formatCode="0&quot;%&quot;"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R2</c:v>
                </c:pt>
                <c:pt idx="1">
                  <c:v>R3</c:v>
                </c:pt>
                <c:pt idx="2">
                  <c:v>R4</c:v>
                </c:pt>
                <c:pt idx="3">
                  <c:v>R5</c:v>
                </c:pt>
                <c:pt idx="4">
                  <c:v>R6</c:v>
                </c:pt>
              </c:strCache>
            </c:strRef>
          </c:cat>
          <c:val>
            <c:numRef>
              <c:f>Sheet1!$B$2:$B$6</c:f>
              <c:numCache>
                <c:formatCode>General</c:formatCode>
                <c:ptCount val="5"/>
                <c:pt idx="0">
                  <c:v>71</c:v>
                </c:pt>
                <c:pt idx="1">
                  <c:v>46</c:v>
                </c:pt>
                <c:pt idx="2">
                  <c:v>54</c:v>
                </c:pt>
                <c:pt idx="3">
                  <c:v>50</c:v>
                </c:pt>
                <c:pt idx="4">
                  <c:v>2</c:v>
                </c:pt>
              </c:numCache>
            </c:numRef>
          </c:val>
          <c:extLst>
            <c:ext xmlns:c16="http://schemas.microsoft.com/office/drawing/2014/chart" uri="{C3380CC4-5D6E-409C-BE32-E72D297353CC}">
              <c16:uniqueId val="{00000000-9803-4769-8FFA-B40E1853AD8F}"/>
            </c:ext>
          </c:extLst>
        </c:ser>
        <c:ser>
          <c:idx val="1"/>
          <c:order val="1"/>
          <c:tx>
            <c:strRef>
              <c:f>Sheet1!$C$1</c:f>
              <c:strCache>
                <c:ptCount val="1"/>
                <c:pt idx="0">
                  <c:v>Règle fausse</c:v>
                </c:pt>
              </c:strCache>
            </c:strRef>
          </c:tx>
          <c:spPr>
            <a:solidFill>
              <a:srgbClr val="AEB6BF"/>
            </a:solidFill>
            <a:effectLst/>
          </c:spPr>
          <c:invertIfNegative val="0"/>
          <c:dLbls>
            <c:numFmt formatCode="0&quot;%&quot;"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R2</c:v>
                </c:pt>
                <c:pt idx="1">
                  <c:v>R3</c:v>
                </c:pt>
                <c:pt idx="2">
                  <c:v>R4</c:v>
                </c:pt>
                <c:pt idx="3">
                  <c:v>R5</c:v>
                </c:pt>
                <c:pt idx="4">
                  <c:v>R6</c:v>
                </c:pt>
              </c:strCache>
            </c:strRef>
          </c:cat>
          <c:val>
            <c:numRef>
              <c:f>Sheet1!$C$2:$C$6</c:f>
              <c:numCache>
                <c:formatCode>General</c:formatCode>
                <c:ptCount val="5"/>
                <c:pt idx="0">
                  <c:v>23</c:v>
                </c:pt>
                <c:pt idx="1">
                  <c:v>17</c:v>
                </c:pt>
                <c:pt idx="2">
                  <c:v>25</c:v>
                </c:pt>
                <c:pt idx="3">
                  <c:v>34</c:v>
                </c:pt>
                <c:pt idx="4">
                  <c:v>38</c:v>
                </c:pt>
              </c:numCache>
            </c:numRef>
          </c:val>
          <c:extLst>
            <c:ext xmlns:c16="http://schemas.microsoft.com/office/drawing/2014/chart" uri="{C3380CC4-5D6E-409C-BE32-E72D297353CC}">
              <c16:uniqueId val="{00000001-9803-4769-8FFA-B40E1853AD8F}"/>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Rappel</c:v>
                </c:pt>
              </c:strCache>
            </c:strRef>
          </c:tx>
          <c:spPr>
            <a:ln w="38100" cap="flat">
              <a:solidFill>
                <a:srgbClr val="0E8F7E"/>
              </a:solidFill>
              <a:prstDash val="solid"/>
              <a:round/>
            </a:ln>
            <a:effectLst/>
          </c:spPr>
          <c:marker>
            <c:symbol val="circle"/>
            <c:size val="9"/>
            <c:spPr>
              <a:solidFill>
                <a:srgbClr val="0E8F7E"/>
              </a:solidFill>
              <a:ln w="9525" cap="flat">
                <a:solidFill>
                  <a:srgbClr val="0E8F7E"/>
                </a:solidFill>
                <a:prstDash val="solid"/>
                <a:round/>
              </a:ln>
              <a:effectLst/>
            </c:spPr>
          </c:marker>
          <c:dLbls>
            <c:numFmt formatCode="0&quot;%&quot;" sourceLinked="0"/>
            <c:spPr>
              <a:noFill/>
              <a:ln>
                <a:noFill/>
              </a:ln>
              <a:effectLst/>
            </c:spPr>
            <c:txPr>
              <a:bodyPr/>
              <a:lstStyle/>
              <a:p>
                <a:pPr>
                  <a:defRPr sz="1200" b="0" i="0" u="none" strike="noStrike">
                    <a:solidFill>
                      <a:srgbClr val="101418"/>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0,50</c:v>
                </c:pt>
                <c:pt idx="1">
                  <c:v>0,40</c:v>
                </c:pt>
                <c:pt idx="2">
                  <c:v>0,30</c:v>
                </c:pt>
                <c:pt idx="3">
                  <c:v>0,24 (retenu)</c:v>
                </c:pt>
              </c:strCache>
            </c:strRef>
          </c:cat>
          <c:val>
            <c:numRef>
              <c:f>Sheet1!$B$2:$B$5</c:f>
              <c:numCache>
                <c:formatCode>General</c:formatCode>
                <c:ptCount val="4"/>
                <c:pt idx="0">
                  <c:v>59.8</c:v>
                </c:pt>
                <c:pt idx="1">
                  <c:v>66.8</c:v>
                </c:pt>
                <c:pt idx="2">
                  <c:v>76.2</c:v>
                </c:pt>
                <c:pt idx="3">
                  <c:v>80.400000000000006</c:v>
                </c:pt>
              </c:numCache>
            </c:numRef>
          </c:val>
          <c:smooth val="0"/>
          <c:extLst>
            <c:ext xmlns:c16="http://schemas.microsoft.com/office/drawing/2014/chart" uri="{C3380CC4-5D6E-409C-BE32-E72D297353CC}">
              <c16:uniqueId val="{00000000-E235-4807-B7A3-165EC0E6B163}"/>
            </c:ext>
          </c:extLst>
        </c:ser>
        <c:ser>
          <c:idx val="1"/>
          <c:order val="1"/>
          <c:tx>
            <c:strRef>
              <c:f>Sheet1!$C$1</c:f>
              <c:strCache>
                <c:ptCount val="1"/>
                <c:pt idx="0">
                  <c:v>Fausses alertes</c:v>
                </c:pt>
              </c:strCache>
            </c:strRef>
          </c:tx>
          <c:spPr>
            <a:ln w="38100" cap="flat">
              <a:solidFill>
                <a:srgbClr val="D9433B"/>
              </a:solidFill>
              <a:prstDash val="solid"/>
              <a:round/>
            </a:ln>
            <a:effectLst/>
          </c:spPr>
          <c:marker>
            <c:symbol val="circle"/>
            <c:size val="9"/>
            <c:spPr>
              <a:solidFill>
                <a:srgbClr val="D9433B"/>
              </a:solidFill>
              <a:ln w="9525" cap="flat">
                <a:solidFill>
                  <a:srgbClr val="D9433B"/>
                </a:solidFill>
                <a:prstDash val="solid"/>
                <a:round/>
              </a:ln>
              <a:effectLst/>
            </c:spPr>
          </c:marker>
          <c:dLbls>
            <c:numFmt formatCode="0&quot;%&quot;" sourceLinked="0"/>
            <c:spPr>
              <a:noFill/>
              <a:ln>
                <a:noFill/>
              </a:ln>
              <a:effectLst/>
            </c:spPr>
            <c:txPr>
              <a:bodyPr/>
              <a:lstStyle/>
              <a:p>
                <a:pPr>
                  <a:defRPr sz="1200" b="0" i="0" u="none" strike="noStrike">
                    <a:solidFill>
                      <a:srgbClr val="101418"/>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0,50</c:v>
                </c:pt>
                <c:pt idx="1">
                  <c:v>0,40</c:v>
                </c:pt>
                <c:pt idx="2">
                  <c:v>0,30</c:v>
                </c:pt>
                <c:pt idx="3">
                  <c:v>0,24 (retenu)</c:v>
                </c:pt>
              </c:strCache>
            </c:strRef>
          </c:cat>
          <c:val>
            <c:numRef>
              <c:f>Sheet1!$C$2:$C$5</c:f>
              <c:numCache>
                <c:formatCode>General</c:formatCode>
                <c:ptCount val="4"/>
                <c:pt idx="0">
                  <c:v>18.2</c:v>
                </c:pt>
                <c:pt idx="1">
                  <c:v>24</c:v>
                </c:pt>
                <c:pt idx="2">
                  <c:v>28.5</c:v>
                </c:pt>
                <c:pt idx="3">
                  <c:v>32</c:v>
                </c:pt>
              </c:numCache>
            </c:numRef>
          </c:val>
          <c:smooth val="0"/>
          <c:extLst>
            <c:ext xmlns:c16="http://schemas.microsoft.com/office/drawing/2014/chart" uri="{C3380CC4-5D6E-409C-BE32-E72D297353CC}">
              <c16:uniqueId val="{00000001-E235-4807-B7A3-165EC0E6B16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470"/>
                    </a:solidFill>
                    <a:latin typeface="Arial"/>
                  </a:defRPr>
                </a:pPr>
                <a:r>
                  <a:rPr lang="fr-FR" sz="1200" b="0" i="0" u="none" strike="noStrike">
                    <a:solidFill>
                      <a:srgbClr val="5B6470"/>
                    </a:solidFill>
                    <a:latin typeface="Arial"/>
                  </a:rPr>
                  <a:t>Seuil de décision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Test seul (154)</c:v>
                </c:pt>
              </c:strCache>
            </c:strRef>
          </c:tx>
          <c:spPr>
            <a:solidFill>
              <a:srgbClr val="AEB6BF"/>
            </a:solidFill>
            <a:effectLst/>
          </c:spPr>
          <c:invertIfNegative val="0"/>
          <c:dLbls>
            <c:numFmt formatCode="\+0.000;\−0.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 log.</c:v>
                </c:pt>
                <c:pt idx="1">
                  <c:v>XGBoost</c:v>
                </c:pt>
              </c:strCache>
            </c:strRef>
          </c:cat>
          <c:val>
            <c:numRef>
              <c:f>Sheet1!$B$2:$B$3</c:f>
              <c:numCache>
                <c:formatCode>General</c:formatCode>
                <c:ptCount val="2"/>
                <c:pt idx="0">
                  <c:v>7.0000000000000001E-3</c:v>
                </c:pt>
                <c:pt idx="1">
                  <c:v>-3.0000000000000001E-3</c:v>
                </c:pt>
              </c:numCache>
            </c:numRef>
          </c:val>
          <c:extLst>
            <c:ext xmlns:c16="http://schemas.microsoft.com/office/drawing/2014/chart" uri="{C3380CC4-5D6E-409C-BE32-E72D297353CC}">
              <c16:uniqueId val="{00000000-E67A-49E6-AD02-E71867576BFD}"/>
            </c:ext>
          </c:extLst>
        </c:ser>
        <c:ser>
          <c:idx val="1"/>
          <c:order val="1"/>
          <c:tx>
            <c:strRef>
              <c:f>Sheet1!$C$1</c:f>
              <c:strCache>
                <c:ptCount val="1"/>
                <c:pt idx="0">
                  <c:v>Validation croisée (768)</c:v>
                </c:pt>
              </c:strCache>
            </c:strRef>
          </c:tx>
          <c:spPr>
            <a:solidFill>
              <a:srgbClr val="0E8F7E"/>
            </a:solidFill>
            <a:effectLst/>
          </c:spPr>
          <c:invertIfNegative val="0"/>
          <c:dLbls>
            <c:numFmt formatCode="\+0.000;\−0.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 log.</c:v>
                </c:pt>
                <c:pt idx="1">
                  <c:v>XGBoost</c:v>
                </c:pt>
              </c:strCache>
            </c:strRef>
          </c:cat>
          <c:val>
            <c:numRef>
              <c:f>Sheet1!$C$2:$C$3</c:f>
              <c:numCache>
                <c:formatCode>General</c:formatCode>
                <c:ptCount val="2"/>
                <c:pt idx="0">
                  <c:v>-2.5000000000000001E-3</c:v>
                </c:pt>
                <c:pt idx="1">
                  <c:v>2.0999999999999999E-3</c:v>
                </c:pt>
              </c:numCache>
            </c:numRef>
          </c:val>
          <c:extLst>
            <c:ext xmlns:c16="http://schemas.microsoft.com/office/drawing/2014/chart" uri="{C3380CC4-5D6E-409C-BE32-E72D297353CC}">
              <c16:uniqueId val="{00000001-E67A-49E6-AD02-E71867576BF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2E-2"/>
          <c:min val="-0.01"/>
        </c:scaling>
        <c:delete val="0"/>
        <c:axPos val="l"/>
        <c:majorGridlines>
          <c:spPr>
            <a:ln w="9525" cap="flat">
              <a:solidFill>
                <a:srgbClr val="E2E5E9"/>
              </a:solidFill>
              <a:prstDash val="solid"/>
              <a:round/>
            </a:ln>
          </c:spPr>
        </c:majorGridlines>
        <c:numFmt formatCode="\+0.00;\−0.00;0"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0.01"/>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Sans règle</c:v>
                </c:pt>
              </c:strCache>
            </c:strRef>
          </c:tx>
          <c:spPr>
            <a:solidFill>
              <a:srgbClr val="AEB6BF"/>
            </a:solidFill>
            <a:effectLst/>
          </c:spPr>
          <c:invertIfNegative val="0"/>
          <c:dLbls>
            <c:numFmt formatCode="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XGBoost</c:v>
                </c:pt>
                <c:pt idx="1">
                  <c:v>Rég. log.</c:v>
                </c:pt>
              </c:strCache>
            </c:strRef>
          </c:cat>
          <c:val>
            <c:numRef>
              <c:f>Sheet1!$B$2:$B$3</c:f>
              <c:numCache>
                <c:formatCode>General</c:formatCode>
                <c:ptCount val="2"/>
                <c:pt idx="0">
                  <c:v>0.56000000000000005</c:v>
                </c:pt>
                <c:pt idx="1">
                  <c:v>0.93</c:v>
                </c:pt>
              </c:numCache>
            </c:numRef>
          </c:val>
          <c:extLst>
            <c:ext xmlns:c16="http://schemas.microsoft.com/office/drawing/2014/chart" uri="{C3380CC4-5D6E-409C-BE32-E72D297353CC}">
              <c16:uniqueId val="{00000000-68BA-4DB0-8DB1-43517E3C405E}"/>
            </c:ext>
          </c:extLst>
        </c:ser>
        <c:ser>
          <c:idx val="1"/>
          <c:order val="1"/>
          <c:tx>
            <c:strRef>
              <c:f>Sheet1!$C$1</c:f>
              <c:strCache>
                <c:ptCount val="1"/>
                <c:pt idx="0">
                  <c:v>Avec la règle R1</c:v>
                </c:pt>
              </c:strCache>
            </c:strRef>
          </c:tx>
          <c:spPr>
            <a:solidFill>
              <a:srgbClr val="0E8F7E"/>
            </a:solidFill>
            <a:effectLst/>
          </c:spPr>
          <c:invertIfNegative val="0"/>
          <c:dLbls>
            <c:numFmt formatCode="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XGBoost</c:v>
                </c:pt>
                <c:pt idx="1">
                  <c:v>Rég. log.</c:v>
                </c:pt>
              </c:strCache>
            </c:strRef>
          </c:cat>
          <c:val>
            <c:numRef>
              <c:f>Sheet1!$C$2:$C$3</c:f>
              <c:numCache>
                <c:formatCode>General</c:formatCode>
                <c:ptCount val="2"/>
                <c:pt idx="0">
                  <c:v>0.9</c:v>
                </c:pt>
                <c:pt idx="1">
                  <c:v>0.96</c:v>
                </c:pt>
              </c:numCache>
            </c:numRef>
          </c:val>
          <c:extLst>
            <c:ext xmlns:c16="http://schemas.microsoft.com/office/drawing/2014/chart" uri="{C3380CC4-5D6E-409C-BE32-E72D297353CC}">
              <c16:uniqueId val="{00000001-68BA-4DB0-8DB1-43517E3C405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2E5E9"/>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Glycémie +10 mg/dL</c:v>
                </c:pt>
              </c:strCache>
            </c:strRef>
          </c:tx>
          <c:spPr>
            <a:solidFill>
              <a:srgbClr val="2B3440"/>
            </a:solidFill>
            <a:effectLst/>
          </c:spPr>
          <c:invertIfNegative val="0"/>
          <c:dLbls>
            <c:numFmt formatCode="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Rég. log.</c:v>
                </c:pt>
                <c:pt idx="1">
                  <c:v>Rég. log. + règles</c:v>
                </c:pt>
                <c:pt idx="2">
                  <c:v>XGBoost</c:v>
                </c:pt>
                <c:pt idx="3">
                  <c:v>XGBoost monotone</c:v>
                </c:pt>
              </c:strCache>
            </c:strRef>
          </c:cat>
          <c:val>
            <c:numRef>
              <c:f>Sheet1!$B$2:$B$5</c:f>
              <c:numCache>
                <c:formatCode>General</c:formatCode>
                <c:ptCount val="4"/>
                <c:pt idx="0">
                  <c:v>0.1</c:v>
                </c:pt>
                <c:pt idx="1">
                  <c:v>2.6</c:v>
                </c:pt>
                <c:pt idx="2">
                  <c:v>20.3</c:v>
                </c:pt>
                <c:pt idx="3">
                  <c:v>8.9</c:v>
                </c:pt>
              </c:numCache>
            </c:numRef>
          </c:val>
          <c:extLst>
            <c:ext xmlns:c16="http://schemas.microsoft.com/office/drawing/2014/chart" uri="{C3380CC4-5D6E-409C-BE32-E72D297353CC}">
              <c16:uniqueId val="{00000000-E606-4816-89F5-AAB5AC531502}"/>
            </c:ext>
          </c:extLst>
        </c:ser>
        <c:ser>
          <c:idx val="1"/>
          <c:order val="1"/>
          <c:tx>
            <c:strRef>
              <c:f>Sheet1!$C$1</c:f>
              <c:strCache>
                <c:ptCount val="1"/>
                <c:pt idx="0">
                  <c:v>IMC +3</c:v>
                </c:pt>
              </c:strCache>
            </c:strRef>
          </c:tx>
          <c:spPr>
            <a:solidFill>
              <a:srgbClr val="D9433B"/>
            </a:solidFill>
            <a:effectLst/>
          </c:spPr>
          <c:invertIfNegative val="0"/>
          <c:dLbls>
            <c:numFmt formatCode="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Rég. log.</c:v>
                </c:pt>
                <c:pt idx="1">
                  <c:v>Rég. log. + règles</c:v>
                </c:pt>
                <c:pt idx="2">
                  <c:v>XGBoost</c:v>
                </c:pt>
                <c:pt idx="3">
                  <c:v>XGBoost monotone</c:v>
                </c:pt>
              </c:strCache>
            </c:strRef>
          </c:cat>
          <c:val>
            <c:numRef>
              <c:f>Sheet1!$C$2:$C$5</c:f>
              <c:numCache>
                <c:formatCode>General</c:formatCode>
                <c:ptCount val="4"/>
                <c:pt idx="0">
                  <c:v>0.3</c:v>
                </c:pt>
                <c:pt idx="1">
                  <c:v>0.1</c:v>
                </c:pt>
                <c:pt idx="2">
                  <c:v>37.5</c:v>
                </c:pt>
                <c:pt idx="3">
                  <c:v>10.7</c:v>
                </c:pt>
              </c:numCache>
            </c:numRef>
          </c:val>
          <c:extLst>
            <c:ext xmlns:c16="http://schemas.microsoft.com/office/drawing/2014/chart" uri="{C3380CC4-5D6E-409C-BE32-E72D297353CC}">
              <c16:uniqueId val="{00000001-E606-4816-89F5-AAB5AC531502}"/>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1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Idéal</c:v>
                </c:pt>
              </c:strCache>
            </c:strRef>
          </c:tx>
          <c:spPr>
            <a:ln w="31750" cap="flat">
              <a:solidFill>
                <a:srgbClr val="AEB6BF"/>
              </a:solidFill>
              <a:prstDash val="solid"/>
              <a:round/>
            </a:ln>
            <a:effectLst/>
          </c:spPr>
          <c:marker>
            <c:symbol val="circle"/>
            <c:size val="6"/>
            <c:spPr>
              <a:solidFill>
                <a:srgbClr val="AEB6BF"/>
              </a:solidFill>
              <a:ln w="9525" cap="flat">
                <a:solidFill>
                  <a:srgbClr val="AEB6BF"/>
                </a:solidFill>
                <a:prstDash val="solid"/>
                <a:round/>
              </a:ln>
              <a:effectLst/>
            </c:spPr>
          </c:marker>
          <c:cat>
            <c:strRef>
              <c:f>Sheet1!$A$2:$A$9</c:f>
              <c:strCache>
                <c:ptCount val="8"/>
                <c:pt idx="0">
                  <c:v>0-10</c:v>
                </c:pt>
                <c:pt idx="1">
                  <c:v>10-20</c:v>
                </c:pt>
                <c:pt idx="2">
                  <c:v>20-30</c:v>
                </c:pt>
                <c:pt idx="3">
                  <c:v>30-40</c:v>
                </c:pt>
                <c:pt idx="4">
                  <c:v>40-50</c:v>
                </c:pt>
                <c:pt idx="5">
                  <c:v>50-60</c:v>
                </c:pt>
                <c:pt idx="6">
                  <c:v>60-70</c:v>
                </c:pt>
                <c:pt idx="7">
                  <c:v>70+</c:v>
                </c:pt>
              </c:strCache>
            </c:strRef>
          </c:cat>
          <c:val>
            <c:numRef>
              <c:f>Sheet1!$B$2:$B$9</c:f>
              <c:numCache>
                <c:formatCode>General</c:formatCode>
                <c:ptCount val="8"/>
                <c:pt idx="0">
                  <c:v>6</c:v>
                </c:pt>
                <c:pt idx="1">
                  <c:v>14.5</c:v>
                </c:pt>
                <c:pt idx="2">
                  <c:v>24.4</c:v>
                </c:pt>
                <c:pt idx="3">
                  <c:v>34.799999999999997</c:v>
                </c:pt>
                <c:pt idx="4">
                  <c:v>44.5</c:v>
                </c:pt>
                <c:pt idx="5">
                  <c:v>55</c:v>
                </c:pt>
                <c:pt idx="6">
                  <c:v>65</c:v>
                </c:pt>
                <c:pt idx="7">
                  <c:v>83.8</c:v>
                </c:pt>
              </c:numCache>
            </c:numRef>
          </c:val>
          <c:smooth val="0"/>
          <c:extLst>
            <c:ext xmlns:c16="http://schemas.microsoft.com/office/drawing/2014/chart" uri="{C3380CC4-5D6E-409C-BE32-E72D297353CC}">
              <c16:uniqueId val="{00000000-8474-41BB-BE29-C10028AFAFD0}"/>
            </c:ext>
          </c:extLst>
        </c:ser>
        <c:ser>
          <c:idx val="1"/>
          <c:order val="1"/>
          <c:tx>
            <c:strRef>
              <c:f>Sheet1!$C$1</c:f>
              <c:strCache>
                <c:ptCount val="1"/>
                <c:pt idx="0">
                  <c:v>Référence</c:v>
                </c:pt>
              </c:strCache>
            </c:strRef>
          </c:tx>
          <c:spPr>
            <a:ln w="31750" cap="flat">
              <a:solidFill>
                <a:srgbClr val="101418"/>
              </a:solidFill>
              <a:prstDash val="solid"/>
              <a:round/>
            </a:ln>
            <a:effectLst/>
          </c:spPr>
          <c:marker>
            <c:symbol val="circle"/>
            <c:size val="6"/>
            <c:spPr>
              <a:solidFill>
                <a:srgbClr val="101418"/>
              </a:solidFill>
              <a:ln w="9525" cap="flat">
                <a:solidFill>
                  <a:srgbClr val="101418"/>
                </a:solidFill>
                <a:prstDash val="solid"/>
                <a:round/>
              </a:ln>
              <a:effectLst/>
            </c:spPr>
          </c:marker>
          <c:cat>
            <c:strRef>
              <c:f>Sheet1!$A$2:$A$9</c:f>
              <c:strCache>
                <c:ptCount val="8"/>
                <c:pt idx="0">
                  <c:v>0-10</c:v>
                </c:pt>
                <c:pt idx="1">
                  <c:v>10-20</c:v>
                </c:pt>
                <c:pt idx="2">
                  <c:v>20-30</c:v>
                </c:pt>
                <c:pt idx="3">
                  <c:v>30-40</c:v>
                </c:pt>
                <c:pt idx="4">
                  <c:v>40-50</c:v>
                </c:pt>
                <c:pt idx="5">
                  <c:v>50-60</c:v>
                </c:pt>
                <c:pt idx="6">
                  <c:v>60-70</c:v>
                </c:pt>
                <c:pt idx="7">
                  <c:v>70+</c:v>
                </c:pt>
              </c:strCache>
            </c:strRef>
          </c:cat>
          <c:val>
            <c:numRef>
              <c:f>Sheet1!$C$2:$C$9</c:f>
              <c:numCache>
                <c:formatCode>General</c:formatCode>
                <c:ptCount val="8"/>
                <c:pt idx="0">
                  <c:v>1.2</c:v>
                </c:pt>
                <c:pt idx="1">
                  <c:v>18.2</c:v>
                </c:pt>
                <c:pt idx="2">
                  <c:v>27.3</c:v>
                </c:pt>
                <c:pt idx="3">
                  <c:v>36.6</c:v>
                </c:pt>
                <c:pt idx="4">
                  <c:v>44.1</c:v>
                </c:pt>
                <c:pt idx="5">
                  <c:v>54.1</c:v>
                </c:pt>
                <c:pt idx="6">
                  <c:v>63.5</c:v>
                </c:pt>
                <c:pt idx="7">
                  <c:v>81.099999999999994</c:v>
                </c:pt>
              </c:numCache>
            </c:numRef>
          </c:val>
          <c:smooth val="0"/>
          <c:extLst>
            <c:ext xmlns:c16="http://schemas.microsoft.com/office/drawing/2014/chart" uri="{C3380CC4-5D6E-409C-BE32-E72D297353CC}">
              <c16:uniqueId val="{00000001-8474-41BB-BE29-C10028AFAFD0}"/>
            </c:ext>
          </c:extLst>
        </c:ser>
        <c:ser>
          <c:idx val="2"/>
          <c:order val="2"/>
          <c:tx>
            <c:strRef>
              <c:f>Sheet1!$D$1</c:f>
              <c:strCache>
                <c:ptCount val="1"/>
                <c:pt idx="0">
                  <c:v>+ température</c:v>
                </c:pt>
              </c:strCache>
            </c:strRef>
          </c:tx>
          <c:spPr>
            <a:ln w="31750" cap="flat">
              <a:solidFill>
                <a:srgbClr val="0E8F7E"/>
              </a:solidFill>
              <a:prstDash val="solid"/>
              <a:round/>
            </a:ln>
            <a:effectLst/>
          </c:spPr>
          <c:marker>
            <c:symbol val="circle"/>
            <c:size val="6"/>
            <c:spPr>
              <a:solidFill>
                <a:srgbClr val="0E8F7E"/>
              </a:solidFill>
              <a:ln w="9525" cap="flat">
                <a:solidFill>
                  <a:srgbClr val="0E8F7E"/>
                </a:solidFill>
                <a:prstDash val="solid"/>
                <a:round/>
              </a:ln>
              <a:effectLst/>
            </c:spPr>
          </c:marker>
          <c:cat>
            <c:strRef>
              <c:f>Sheet1!$A$2:$A$9</c:f>
              <c:strCache>
                <c:ptCount val="8"/>
                <c:pt idx="0">
                  <c:v>0-10</c:v>
                </c:pt>
                <c:pt idx="1">
                  <c:v>10-20</c:v>
                </c:pt>
                <c:pt idx="2">
                  <c:v>20-30</c:v>
                </c:pt>
                <c:pt idx="3">
                  <c:v>30-40</c:v>
                </c:pt>
                <c:pt idx="4">
                  <c:v>40-50</c:v>
                </c:pt>
                <c:pt idx="5">
                  <c:v>50-60</c:v>
                </c:pt>
                <c:pt idx="6">
                  <c:v>60-70</c:v>
                </c:pt>
                <c:pt idx="7">
                  <c:v>70+</c:v>
                </c:pt>
              </c:strCache>
            </c:strRef>
          </c:cat>
          <c:val>
            <c:numRef>
              <c:f>Sheet1!$D$2:$D$9</c:f>
              <c:numCache>
                <c:formatCode>General</c:formatCode>
                <c:ptCount val="8"/>
                <c:pt idx="0">
                  <c:v>1.4</c:v>
                </c:pt>
                <c:pt idx="1">
                  <c:v>15.3</c:v>
                </c:pt>
                <c:pt idx="2">
                  <c:v>26.5</c:v>
                </c:pt>
                <c:pt idx="3">
                  <c:v>36.5</c:v>
                </c:pt>
                <c:pt idx="4">
                  <c:v>43.5</c:v>
                </c:pt>
                <c:pt idx="5">
                  <c:v>56.4</c:v>
                </c:pt>
                <c:pt idx="6">
                  <c:v>64.8</c:v>
                </c:pt>
                <c:pt idx="7">
                  <c:v>80.5</c:v>
                </c:pt>
              </c:numCache>
            </c:numRef>
          </c:val>
          <c:smooth val="0"/>
          <c:extLst>
            <c:ext xmlns:c16="http://schemas.microsoft.com/office/drawing/2014/chart" uri="{C3380CC4-5D6E-409C-BE32-E72D297353CC}">
              <c16:uniqueId val="{00000002-8474-41BB-BE29-C10028AFAFD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470"/>
                    </a:solidFill>
                    <a:latin typeface="Arial"/>
                  </a:defRPr>
                </a:pPr>
                <a:r>
                  <a:rPr lang="fr-FR" sz="1200" b="0" i="0" u="none" strike="noStrike">
                    <a:solidFill>
                      <a:srgbClr val="5B6470"/>
                    </a:solidFill>
                    <a:latin typeface="Arial"/>
                  </a:rPr>
                  <a:t>Probabilité prédite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Idéal</c:v>
                </c:pt>
              </c:strCache>
            </c:strRef>
          </c:tx>
          <c:spPr>
            <a:ln w="31750" cap="flat">
              <a:solidFill>
                <a:srgbClr val="AEB6BF"/>
              </a:solidFill>
              <a:prstDash val="solid"/>
              <a:round/>
            </a:ln>
            <a:effectLst/>
          </c:spPr>
          <c:marker>
            <c:symbol val="circle"/>
            <c:size val="6"/>
            <c:spPr>
              <a:solidFill>
                <a:srgbClr val="AEB6BF"/>
              </a:solidFill>
              <a:ln w="9525" cap="flat">
                <a:solidFill>
                  <a:srgbClr val="AEB6BF"/>
                </a:solidFill>
                <a:prstDash val="solid"/>
                <a:round/>
              </a:ln>
              <a:effectLst/>
            </c:spPr>
          </c:marker>
          <c:cat>
            <c:strRef>
              <c:f>Sheet1!$A$2:$A$9</c:f>
              <c:strCache>
                <c:ptCount val="8"/>
                <c:pt idx="0">
                  <c:v>0-10</c:v>
                </c:pt>
                <c:pt idx="1">
                  <c:v>10-20</c:v>
                </c:pt>
                <c:pt idx="2">
                  <c:v>20-30</c:v>
                </c:pt>
                <c:pt idx="3">
                  <c:v>30-40</c:v>
                </c:pt>
                <c:pt idx="4">
                  <c:v>40-50</c:v>
                </c:pt>
                <c:pt idx="5">
                  <c:v>50-60</c:v>
                </c:pt>
                <c:pt idx="6">
                  <c:v>60-70</c:v>
                </c:pt>
                <c:pt idx="7">
                  <c:v>70+</c:v>
                </c:pt>
              </c:strCache>
            </c:strRef>
          </c:cat>
          <c:val>
            <c:numRef>
              <c:f>Sheet1!$B$2:$B$9</c:f>
              <c:numCache>
                <c:formatCode>General</c:formatCode>
                <c:ptCount val="8"/>
                <c:pt idx="0">
                  <c:v>3.5</c:v>
                </c:pt>
                <c:pt idx="1">
                  <c:v>14.7</c:v>
                </c:pt>
                <c:pt idx="2">
                  <c:v>25.1</c:v>
                </c:pt>
                <c:pt idx="3">
                  <c:v>34.9</c:v>
                </c:pt>
                <c:pt idx="4">
                  <c:v>45.8</c:v>
                </c:pt>
                <c:pt idx="5">
                  <c:v>55.2</c:v>
                </c:pt>
                <c:pt idx="6">
                  <c:v>64.2</c:v>
                </c:pt>
                <c:pt idx="7">
                  <c:v>84</c:v>
                </c:pt>
              </c:numCache>
            </c:numRef>
          </c:val>
          <c:smooth val="0"/>
          <c:extLst>
            <c:ext xmlns:c16="http://schemas.microsoft.com/office/drawing/2014/chart" uri="{C3380CC4-5D6E-409C-BE32-E72D297353CC}">
              <c16:uniqueId val="{00000000-06C4-4FB3-A3B4-6FC44E1F39F2}"/>
            </c:ext>
          </c:extLst>
        </c:ser>
        <c:ser>
          <c:idx val="1"/>
          <c:order val="1"/>
          <c:tx>
            <c:strRef>
              <c:f>Sheet1!$C$1</c:f>
              <c:strCache>
                <c:ptCount val="1"/>
                <c:pt idx="0">
                  <c:v>Référence</c:v>
                </c:pt>
              </c:strCache>
            </c:strRef>
          </c:tx>
          <c:spPr>
            <a:ln w="31750" cap="flat">
              <a:solidFill>
                <a:srgbClr val="101418"/>
              </a:solidFill>
              <a:prstDash val="solid"/>
              <a:round/>
            </a:ln>
            <a:effectLst/>
          </c:spPr>
          <c:marker>
            <c:symbol val="circle"/>
            <c:size val="6"/>
            <c:spPr>
              <a:solidFill>
                <a:srgbClr val="101418"/>
              </a:solidFill>
              <a:ln w="9525" cap="flat">
                <a:solidFill>
                  <a:srgbClr val="101418"/>
                </a:solidFill>
                <a:prstDash val="solid"/>
                <a:round/>
              </a:ln>
              <a:effectLst/>
            </c:spPr>
          </c:marker>
          <c:cat>
            <c:strRef>
              <c:f>Sheet1!$A$2:$A$9</c:f>
              <c:strCache>
                <c:ptCount val="8"/>
                <c:pt idx="0">
                  <c:v>0-10</c:v>
                </c:pt>
                <c:pt idx="1">
                  <c:v>10-20</c:v>
                </c:pt>
                <c:pt idx="2">
                  <c:v>20-30</c:v>
                </c:pt>
                <c:pt idx="3">
                  <c:v>30-40</c:v>
                </c:pt>
                <c:pt idx="4">
                  <c:v>40-50</c:v>
                </c:pt>
                <c:pt idx="5">
                  <c:v>50-60</c:v>
                </c:pt>
                <c:pt idx="6">
                  <c:v>60-70</c:v>
                </c:pt>
                <c:pt idx="7">
                  <c:v>70+</c:v>
                </c:pt>
              </c:strCache>
            </c:strRef>
          </c:cat>
          <c:val>
            <c:numRef>
              <c:f>Sheet1!$C$2:$C$9</c:f>
              <c:numCache>
                <c:formatCode>General</c:formatCode>
                <c:ptCount val="8"/>
                <c:pt idx="0">
                  <c:v>8.1999999999999993</c:v>
                </c:pt>
                <c:pt idx="1">
                  <c:v>16.3</c:v>
                </c:pt>
                <c:pt idx="2">
                  <c:v>38.9</c:v>
                </c:pt>
                <c:pt idx="3">
                  <c:v>34</c:v>
                </c:pt>
                <c:pt idx="4">
                  <c:v>45.1</c:v>
                </c:pt>
                <c:pt idx="5">
                  <c:v>52.2</c:v>
                </c:pt>
                <c:pt idx="6">
                  <c:v>59.6</c:v>
                </c:pt>
                <c:pt idx="7">
                  <c:v>72.599999999999994</c:v>
                </c:pt>
              </c:numCache>
            </c:numRef>
          </c:val>
          <c:smooth val="0"/>
          <c:extLst>
            <c:ext xmlns:c16="http://schemas.microsoft.com/office/drawing/2014/chart" uri="{C3380CC4-5D6E-409C-BE32-E72D297353CC}">
              <c16:uniqueId val="{00000001-06C4-4FB3-A3B4-6FC44E1F39F2}"/>
            </c:ext>
          </c:extLst>
        </c:ser>
        <c:ser>
          <c:idx val="2"/>
          <c:order val="2"/>
          <c:tx>
            <c:strRef>
              <c:f>Sheet1!$D$1</c:f>
              <c:strCache>
                <c:ptCount val="1"/>
                <c:pt idx="0">
                  <c:v>+ température</c:v>
                </c:pt>
              </c:strCache>
            </c:strRef>
          </c:tx>
          <c:spPr>
            <a:ln w="31750" cap="flat">
              <a:solidFill>
                <a:srgbClr val="0E8F7E"/>
              </a:solidFill>
              <a:prstDash val="solid"/>
              <a:round/>
            </a:ln>
            <a:effectLst/>
          </c:spPr>
          <c:marker>
            <c:symbol val="circle"/>
            <c:size val="6"/>
            <c:spPr>
              <a:solidFill>
                <a:srgbClr val="0E8F7E"/>
              </a:solidFill>
              <a:ln w="9525" cap="flat">
                <a:solidFill>
                  <a:srgbClr val="0E8F7E"/>
                </a:solidFill>
                <a:prstDash val="solid"/>
                <a:round/>
              </a:ln>
              <a:effectLst/>
            </c:spPr>
          </c:marker>
          <c:cat>
            <c:strRef>
              <c:f>Sheet1!$A$2:$A$9</c:f>
              <c:strCache>
                <c:ptCount val="8"/>
                <c:pt idx="0">
                  <c:v>0-10</c:v>
                </c:pt>
                <c:pt idx="1">
                  <c:v>10-20</c:v>
                </c:pt>
                <c:pt idx="2">
                  <c:v>20-30</c:v>
                </c:pt>
                <c:pt idx="3">
                  <c:v>30-40</c:v>
                </c:pt>
                <c:pt idx="4">
                  <c:v>40-50</c:v>
                </c:pt>
                <c:pt idx="5">
                  <c:v>50-60</c:v>
                </c:pt>
                <c:pt idx="6">
                  <c:v>60-70</c:v>
                </c:pt>
                <c:pt idx="7">
                  <c:v>70+</c:v>
                </c:pt>
              </c:strCache>
            </c:strRef>
          </c:cat>
          <c:val>
            <c:numRef>
              <c:f>Sheet1!$D$2:$D$9</c:f>
              <c:numCache>
                <c:formatCode>General</c:formatCode>
                <c:ptCount val="8"/>
                <c:pt idx="0">
                  <c:v>5.0999999999999996</c:v>
                </c:pt>
                <c:pt idx="1">
                  <c:v>13.2</c:v>
                </c:pt>
                <c:pt idx="2">
                  <c:v>18.899999999999999</c:v>
                </c:pt>
                <c:pt idx="3">
                  <c:v>40.200000000000003</c:v>
                </c:pt>
                <c:pt idx="4">
                  <c:v>39.4</c:v>
                </c:pt>
                <c:pt idx="5">
                  <c:v>52.6</c:v>
                </c:pt>
                <c:pt idx="6">
                  <c:v>67.7</c:v>
                </c:pt>
                <c:pt idx="7">
                  <c:v>75.2</c:v>
                </c:pt>
              </c:numCache>
            </c:numRef>
          </c:val>
          <c:smooth val="0"/>
          <c:extLst>
            <c:ext xmlns:c16="http://schemas.microsoft.com/office/drawing/2014/chart" uri="{C3380CC4-5D6E-409C-BE32-E72D297353CC}">
              <c16:uniqueId val="{00000002-06C4-4FB3-A3B4-6FC44E1F39F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470"/>
                    </a:solidFill>
                    <a:latin typeface="Arial"/>
                  </a:defRPr>
                </a:pPr>
                <a:r>
                  <a:rPr lang="fr-FR" sz="1200" b="0" i="0" u="none" strike="noStrike">
                    <a:solidFill>
                      <a:srgbClr val="5B6470"/>
                    </a:solidFill>
                    <a:latin typeface="Arial"/>
                  </a:rPr>
                  <a:t>Probabilité prédite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Contribution</c:v>
                </c:pt>
              </c:strCache>
            </c:strRef>
          </c:tx>
          <c:spPr>
            <a:solidFill>
              <a:srgbClr val="D9433B"/>
            </a:solidFill>
            <a:effectLst/>
          </c:spPr>
          <c:invertIfNegative val="0"/>
          <c:dPt>
            <c:idx val="0"/>
            <c:invertIfNegative val="0"/>
            <c:bubble3D val="0"/>
            <c:extLst>
              <c:ext xmlns:c16="http://schemas.microsoft.com/office/drawing/2014/chart" uri="{C3380CC4-5D6E-409C-BE32-E72D297353CC}">
                <c16:uniqueId val="{00000001-3033-4B35-937B-C73CB474CAA6}"/>
              </c:ext>
            </c:extLst>
          </c:dPt>
          <c:dPt>
            <c:idx val="1"/>
            <c:invertIfNegative val="0"/>
            <c:bubble3D val="0"/>
            <c:extLst>
              <c:ext xmlns:c16="http://schemas.microsoft.com/office/drawing/2014/chart" uri="{C3380CC4-5D6E-409C-BE32-E72D297353CC}">
                <c16:uniqueId val="{00000003-3033-4B35-937B-C73CB474CAA6}"/>
              </c:ext>
            </c:extLst>
          </c:dPt>
          <c:dPt>
            <c:idx val="2"/>
            <c:invertIfNegative val="0"/>
            <c:bubble3D val="0"/>
            <c:extLst>
              <c:ext xmlns:c16="http://schemas.microsoft.com/office/drawing/2014/chart" uri="{C3380CC4-5D6E-409C-BE32-E72D297353CC}">
                <c16:uniqueId val="{00000005-3033-4B35-937B-C73CB474CAA6}"/>
              </c:ext>
            </c:extLst>
          </c:dPt>
          <c:dPt>
            <c:idx val="3"/>
            <c:invertIfNegative val="0"/>
            <c:bubble3D val="0"/>
            <c:spPr>
              <a:solidFill>
                <a:srgbClr val="AEB6BF"/>
              </a:solidFill>
              <a:effectLst/>
            </c:spPr>
            <c:extLst>
              <c:ext xmlns:c16="http://schemas.microsoft.com/office/drawing/2014/chart" uri="{C3380CC4-5D6E-409C-BE32-E72D297353CC}">
                <c16:uniqueId val="{00000007-3033-4B35-937B-C73CB474CAA6}"/>
              </c:ext>
            </c:extLst>
          </c:dPt>
          <c:dPt>
            <c:idx val="4"/>
            <c:invertIfNegative val="0"/>
            <c:bubble3D val="0"/>
            <c:spPr>
              <a:solidFill>
                <a:srgbClr val="AEB6BF"/>
              </a:solidFill>
              <a:effectLst/>
            </c:spPr>
            <c:extLst>
              <c:ext xmlns:c16="http://schemas.microsoft.com/office/drawing/2014/chart" uri="{C3380CC4-5D6E-409C-BE32-E72D297353CC}">
                <c16:uniqueId val="{00000009-3033-4B35-937B-C73CB474CAA6}"/>
              </c:ext>
            </c:extLst>
          </c:dPt>
          <c:dPt>
            <c:idx val="5"/>
            <c:invertIfNegative val="0"/>
            <c:bubble3D val="0"/>
            <c:spPr>
              <a:solidFill>
                <a:srgbClr val="AEB6BF"/>
              </a:solidFill>
              <a:effectLst/>
            </c:spPr>
            <c:extLst>
              <c:ext xmlns:c16="http://schemas.microsoft.com/office/drawing/2014/chart" uri="{C3380CC4-5D6E-409C-BE32-E72D297353CC}">
                <c16:uniqueId val="{0000000B-3033-4B35-937B-C73CB474CAA6}"/>
              </c:ext>
            </c:extLst>
          </c:dPt>
          <c:dLbls>
            <c:numFmt formatCode="\+0.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Glycémie (180 mg/dL)</c:v>
                </c:pt>
                <c:pt idx="1">
                  <c:v>IMC (59,4)</c:v>
                </c:pt>
                <c:pt idx="2">
                  <c:v>Antécédents (score 2,42)</c:v>
                </c:pt>
                <c:pt idx="3">
                  <c:v>Grossesses (0)</c:v>
                </c:pt>
                <c:pt idx="4">
                  <c:v>Âge (25 ans)</c:v>
                </c:pt>
                <c:pt idx="5">
                  <c:v>Pli cutané (63 mm)</c:v>
                </c:pt>
              </c:strCache>
            </c:strRef>
          </c:cat>
          <c:val>
            <c:numRef>
              <c:f>Sheet1!$B$2:$B$7</c:f>
              <c:numCache>
                <c:formatCode>General</c:formatCode>
                <c:ptCount val="6"/>
                <c:pt idx="0">
                  <c:v>2.2930000000000001</c:v>
                </c:pt>
                <c:pt idx="1">
                  <c:v>2.0760000000000001</c:v>
                </c:pt>
                <c:pt idx="2">
                  <c:v>1.38</c:v>
                </c:pt>
                <c:pt idx="3">
                  <c:v>-0.41499999999999998</c:v>
                </c:pt>
                <c:pt idx="4">
                  <c:v>-0.17699999999999999</c:v>
                </c:pt>
                <c:pt idx="5">
                  <c:v>-0.05</c:v>
                </c:pt>
              </c:numCache>
            </c:numRef>
          </c:val>
          <c:extLst>
            <c:ext xmlns:c16="http://schemas.microsoft.com/office/drawing/2014/chart" uri="{C3380CC4-5D6E-409C-BE32-E72D297353CC}">
              <c16:uniqueId val="{0000000C-3033-4B35-937B-C73CB474CAA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3"/>
          <c:min val="-1.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stacked"/>
        <c:varyColors val="0"/>
        <c:ser>
          <c:idx val="0"/>
          <c:order val="0"/>
          <c:tx>
            <c:strRef>
              <c:f>Sheet1!$B$1</c:f>
              <c:strCache>
                <c:ptCount val="1"/>
                <c:pt idx="0">
                  <c:v>Modèle</c:v>
                </c:pt>
              </c:strCache>
            </c:strRef>
          </c:tx>
          <c:spPr>
            <a:solidFill>
              <a:srgbClr val="2B3440"/>
            </a:solidFill>
            <a:effectLst/>
          </c:spPr>
          <c:invertIfNegative val="0"/>
          <c:dLbls>
            <c:numFmt formatCode="[&gt;5]0;;" sourceLinked="0"/>
            <c:spPr>
              <a:noFill/>
              <a:ln>
                <a:noFill/>
              </a:ln>
              <a:effectLst/>
            </c:spPr>
            <c:txPr>
              <a:bodyPr/>
              <a:lstStyle/>
              <a:p>
                <a:pPr>
                  <a:defRPr sz="1200" b="0" i="0" u="none" strike="noStrike">
                    <a:solidFill>
                      <a:srgbClr val="FFFFFF"/>
                    </a:solidFill>
                    <a:latin typeface="+mn-lt"/>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 log. (210)</c:v>
                </c:pt>
                <c:pt idx="1">
                  <c:v>XGBoost (211)</c:v>
                </c:pt>
              </c:strCache>
            </c:strRef>
          </c:cat>
          <c:val>
            <c:numRef>
              <c:f>Sheet1!$B$2:$B$3</c:f>
              <c:numCache>
                <c:formatCode>General</c:formatCode>
                <c:ptCount val="2"/>
                <c:pt idx="0">
                  <c:v>111.6</c:v>
                </c:pt>
                <c:pt idx="1">
                  <c:v>124.8</c:v>
                </c:pt>
              </c:numCache>
            </c:numRef>
          </c:val>
          <c:extLst>
            <c:ext xmlns:c16="http://schemas.microsoft.com/office/drawing/2014/chart" uri="{C3380CC4-5D6E-409C-BE32-E72D297353CC}">
              <c16:uniqueId val="{00000000-8A39-4397-BA7A-B52432BCDAD7}"/>
            </c:ext>
          </c:extLst>
        </c:ser>
        <c:ser>
          <c:idx val="1"/>
          <c:order val="1"/>
          <c:tx>
            <c:strRef>
              <c:f>Sheet1!$C$1</c:f>
              <c:strCache>
                <c:ptCount val="1"/>
                <c:pt idx="0">
                  <c:v>Seuil bas</c:v>
                </c:pt>
              </c:strCache>
            </c:strRef>
          </c:tx>
          <c:spPr>
            <a:solidFill>
              <a:srgbClr val="AEB6BF"/>
            </a:solidFill>
            <a:effectLst/>
          </c:spPr>
          <c:invertIfNegative val="0"/>
          <c:dLbls>
            <c:numFmt formatCode="[&gt;5]0;;" sourceLinked="0"/>
            <c:spPr>
              <a:noFill/>
              <a:ln>
                <a:noFill/>
              </a:ln>
              <a:effectLst/>
            </c:spPr>
            <c:txPr>
              <a:bodyPr/>
              <a:lstStyle/>
              <a:p>
                <a:pPr>
                  <a:defRPr sz="1200" b="0" i="0" u="none" strike="noStrike">
                    <a:solidFill>
                      <a:srgbClr val="FFFFFF"/>
                    </a:solidFill>
                    <a:latin typeface="+mn-lt"/>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 log. (210)</c:v>
                </c:pt>
                <c:pt idx="1">
                  <c:v>XGBoost (211)</c:v>
                </c:pt>
              </c:strCache>
            </c:strRef>
          </c:cat>
          <c:val>
            <c:numRef>
              <c:f>Sheet1!$C$2:$C$3</c:f>
              <c:numCache>
                <c:formatCode>General</c:formatCode>
                <c:ptCount val="2"/>
                <c:pt idx="0">
                  <c:v>74.2</c:v>
                </c:pt>
                <c:pt idx="1">
                  <c:v>76.599999999999994</c:v>
                </c:pt>
              </c:numCache>
            </c:numRef>
          </c:val>
          <c:extLst>
            <c:ext xmlns:c16="http://schemas.microsoft.com/office/drawing/2014/chart" uri="{C3380CC4-5D6E-409C-BE32-E72D297353CC}">
              <c16:uniqueId val="{00000001-8A39-4397-BA7A-B52432BCDAD7}"/>
            </c:ext>
          </c:extLst>
        </c:ser>
        <c:ser>
          <c:idx val="2"/>
          <c:order val="2"/>
          <c:tx>
            <c:strRef>
              <c:f>Sheet1!$D$1</c:f>
              <c:strCache>
                <c:ptCount val="1"/>
                <c:pt idx="0">
                  <c:v>Règles en entrée</c:v>
                </c:pt>
              </c:strCache>
            </c:strRef>
          </c:tx>
          <c:spPr>
            <a:solidFill>
              <a:srgbClr val="0E8F7E"/>
            </a:solidFill>
            <a:effectLst/>
          </c:spPr>
          <c:invertIfNegative val="0"/>
          <c:dLbls>
            <c:numFmt formatCode="[&gt;5]0;;" sourceLinked="0"/>
            <c:spPr>
              <a:noFill/>
              <a:ln>
                <a:noFill/>
              </a:ln>
              <a:effectLst/>
            </c:spPr>
            <c:txPr>
              <a:bodyPr/>
              <a:lstStyle/>
              <a:p>
                <a:pPr>
                  <a:defRPr sz="1200" b="0" i="0" u="none" strike="noStrike">
                    <a:solidFill>
                      <a:srgbClr val="FFFFFF"/>
                    </a:solidFill>
                    <a:latin typeface="+mn-lt"/>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 log. (210)</c:v>
                </c:pt>
                <c:pt idx="1">
                  <c:v>XGBoost (211)</c:v>
                </c:pt>
              </c:strCache>
            </c:strRef>
          </c:cat>
          <c:val>
            <c:numRef>
              <c:f>Sheet1!$D$2:$D$3</c:f>
              <c:numCache>
                <c:formatCode>General</c:formatCode>
                <c:ptCount val="2"/>
                <c:pt idx="0">
                  <c:v>22.2</c:v>
                </c:pt>
                <c:pt idx="1">
                  <c:v>7.6</c:v>
                </c:pt>
              </c:numCache>
            </c:numRef>
          </c:val>
          <c:extLst>
            <c:ext xmlns:c16="http://schemas.microsoft.com/office/drawing/2014/chart" uri="{C3380CC4-5D6E-409C-BE32-E72D297353CC}">
              <c16:uniqueId val="{00000002-8A39-4397-BA7A-B52432BCDAD7}"/>
            </c:ext>
          </c:extLst>
        </c:ser>
        <c:ser>
          <c:idx val="3"/>
          <c:order val="3"/>
          <c:tx>
            <c:strRef>
              <c:f>Sheet1!$E$1</c:f>
              <c:strCache>
                <c:ptCount val="1"/>
                <c:pt idx="0">
                  <c:v>Donnée manquante</c:v>
                </c:pt>
              </c:strCache>
            </c:strRef>
          </c:tx>
          <c:spPr>
            <a:solidFill>
              <a:srgbClr val="D9433B"/>
            </a:solidFill>
            <a:effectLst/>
          </c:spPr>
          <c:invertIfNegative val="0"/>
          <c:dLbls>
            <c:numFmt formatCode="[&gt;5]0;;" sourceLinked="0"/>
            <c:spPr>
              <a:noFill/>
              <a:ln>
                <a:noFill/>
              </a:ln>
              <a:effectLst/>
            </c:spPr>
            <c:txPr>
              <a:bodyPr/>
              <a:lstStyle/>
              <a:p>
                <a:pPr>
                  <a:defRPr sz="1200" b="0" i="0" u="none" strike="noStrike">
                    <a:solidFill>
                      <a:srgbClr val="FFFFFF"/>
                    </a:solidFill>
                    <a:latin typeface="+mn-lt"/>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 log. (210)</c:v>
                </c:pt>
                <c:pt idx="1">
                  <c:v>XGBoost (211)</c:v>
                </c:pt>
              </c:strCache>
            </c:strRef>
          </c:cat>
          <c:val>
            <c:numRef>
              <c:f>Sheet1!$E$2:$E$3</c:f>
              <c:numCache>
                <c:formatCode>General</c:formatCode>
                <c:ptCount val="2"/>
                <c:pt idx="0">
                  <c:v>1.8</c:v>
                </c:pt>
                <c:pt idx="1">
                  <c:v>1.8</c:v>
                </c:pt>
              </c:numCache>
            </c:numRef>
          </c:val>
          <c:extLst>
            <c:ext xmlns:c16="http://schemas.microsoft.com/office/drawing/2014/chart" uri="{C3380CC4-5D6E-409C-BE32-E72D297353CC}">
              <c16:uniqueId val="{00000003-8A39-4397-BA7A-B52432BCDAD7}"/>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22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Seuil 0,5</c:v>
                </c:pt>
              </c:strCache>
            </c:strRef>
          </c:tx>
          <c:spPr>
            <a:solidFill>
              <a:srgbClr val="AEB6BF"/>
            </a:solidFill>
            <a:effectLst/>
          </c:spPr>
          <c:invertIfNegative val="0"/>
          <c:dLbls>
            <c:numFmt formatCode="0&quot;%&quot;"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21-30 ans (n = 89)</c:v>
                </c:pt>
                <c:pt idx="1">
                  <c:v>31-45 ans (n = 40)</c:v>
                </c:pt>
                <c:pt idx="2">
                  <c:v>46 ans et + (n = 25)</c:v>
                </c:pt>
              </c:strCache>
            </c:strRef>
          </c:cat>
          <c:val>
            <c:numRef>
              <c:f>Sheet1!$B$2:$B$4</c:f>
              <c:numCache>
                <c:formatCode>General</c:formatCode>
                <c:ptCount val="3"/>
                <c:pt idx="0">
                  <c:v>44</c:v>
                </c:pt>
                <c:pt idx="1">
                  <c:v>77</c:v>
                </c:pt>
                <c:pt idx="2">
                  <c:v>90</c:v>
                </c:pt>
              </c:numCache>
            </c:numRef>
          </c:val>
          <c:extLst>
            <c:ext xmlns:c16="http://schemas.microsoft.com/office/drawing/2014/chart" uri="{C3380CC4-5D6E-409C-BE32-E72D297353CC}">
              <c16:uniqueId val="{00000000-4B9A-4E9D-AFB9-20965D55752D}"/>
            </c:ext>
          </c:extLst>
        </c:ser>
        <c:ser>
          <c:idx val="1"/>
          <c:order val="1"/>
          <c:tx>
            <c:strRef>
              <c:f>Sheet1!$C$1</c:f>
              <c:strCache>
                <c:ptCount val="1"/>
                <c:pt idx="0">
                  <c:v>Seuil retenu (0,24)</c:v>
                </c:pt>
              </c:strCache>
            </c:strRef>
          </c:tx>
          <c:spPr>
            <a:solidFill>
              <a:srgbClr val="0E8F7E"/>
            </a:solidFill>
            <a:effectLst/>
          </c:spPr>
          <c:invertIfNegative val="0"/>
          <c:dLbls>
            <c:numFmt formatCode="0&quot;%&quot;"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21-30 ans (n = 89)</c:v>
                </c:pt>
                <c:pt idx="1">
                  <c:v>31-45 ans (n = 40)</c:v>
                </c:pt>
                <c:pt idx="2">
                  <c:v>46 ans et + (n = 25)</c:v>
                </c:pt>
              </c:strCache>
            </c:strRef>
          </c:cat>
          <c:val>
            <c:numRef>
              <c:f>Sheet1!$C$2:$C$4</c:f>
              <c:numCache>
                <c:formatCode>General</c:formatCode>
                <c:ptCount val="3"/>
                <c:pt idx="0">
                  <c:v>67</c:v>
                </c:pt>
                <c:pt idx="1">
                  <c:v>100</c:v>
                </c:pt>
                <c:pt idx="2">
                  <c:v>100</c:v>
                </c:pt>
              </c:numCache>
            </c:numRef>
          </c:val>
          <c:extLst>
            <c:ext xmlns:c16="http://schemas.microsoft.com/office/drawing/2014/chart" uri="{C3380CC4-5D6E-409C-BE32-E72D297353CC}">
              <c16:uniqueId val="{00000001-4B9A-4E9D-AFB9-20965D55752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15"/>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Fausses alertes</c:v>
                </c:pt>
              </c:strCache>
            </c:strRef>
          </c:tx>
          <c:spPr>
            <a:solidFill>
              <a:srgbClr val="2B3440"/>
            </a:solidFill>
            <a:effectLst/>
          </c:spPr>
          <c:invertIfNegative val="0"/>
          <c:dPt>
            <c:idx val="0"/>
            <c:invertIfNegative val="0"/>
            <c:bubble3D val="0"/>
            <c:extLst>
              <c:ext xmlns:c16="http://schemas.microsoft.com/office/drawing/2014/chart" uri="{C3380CC4-5D6E-409C-BE32-E72D297353CC}">
                <c16:uniqueId val="{00000001-1163-470D-BD93-7EF9B3177B83}"/>
              </c:ext>
            </c:extLst>
          </c:dPt>
          <c:dPt>
            <c:idx val="1"/>
            <c:invertIfNegative val="0"/>
            <c:bubble3D val="0"/>
            <c:extLst>
              <c:ext xmlns:c16="http://schemas.microsoft.com/office/drawing/2014/chart" uri="{C3380CC4-5D6E-409C-BE32-E72D297353CC}">
                <c16:uniqueId val="{00000003-1163-470D-BD93-7EF9B3177B83}"/>
              </c:ext>
            </c:extLst>
          </c:dPt>
          <c:dPt>
            <c:idx val="2"/>
            <c:invertIfNegative val="0"/>
            <c:bubble3D val="0"/>
            <c:spPr>
              <a:solidFill>
                <a:srgbClr val="0E8F7E"/>
              </a:solidFill>
              <a:effectLst/>
            </c:spPr>
            <c:extLst>
              <c:ext xmlns:c16="http://schemas.microsoft.com/office/drawing/2014/chart" uri="{C3380CC4-5D6E-409C-BE32-E72D297353CC}">
                <c16:uniqueId val="{00000005-1163-470D-BD93-7EF9B3177B83}"/>
              </c:ext>
            </c:extLst>
          </c:dPt>
          <c:dLbls>
            <c:numFmt formatCode="0.0&quot;%&quot;"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Rég. log.</c:v>
                </c:pt>
                <c:pt idx="1">
                  <c:v>XGBoost</c:v>
                </c:pt>
                <c:pt idx="2">
                  <c:v>XGBoost + SMOTE</c:v>
                </c:pt>
              </c:strCache>
            </c:strRef>
          </c:cat>
          <c:val>
            <c:numRef>
              <c:f>Sheet1!$B$2:$B$4</c:f>
              <c:numCache>
                <c:formatCode>General</c:formatCode>
                <c:ptCount val="3"/>
                <c:pt idx="0">
                  <c:v>29.5</c:v>
                </c:pt>
                <c:pt idx="1">
                  <c:v>32</c:v>
                </c:pt>
                <c:pt idx="2">
                  <c:v>30.5</c:v>
                </c:pt>
              </c:numCache>
            </c:numRef>
          </c:val>
          <c:extLst>
            <c:ext xmlns:c16="http://schemas.microsoft.com/office/drawing/2014/chart" uri="{C3380CC4-5D6E-409C-BE32-E72D297353CC}">
              <c16:uniqueId val="{00000006-1163-470D-BD93-7EF9B3177B83}"/>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2E5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Rég. log. référence</c:v>
                </c:pt>
              </c:strCache>
            </c:strRef>
          </c:tx>
          <c:spPr>
            <a:ln w="31750" cap="flat">
              <a:solidFill>
                <a:srgbClr val="101418"/>
              </a:solidFill>
              <a:prstDash val="solid"/>
              <a:round/>
            </a:ln>
            <a:effectLst/>
          </c:spPr>
          <c:marker>
            <c:symbol val="circle"/>
            <c:size val="7"/>
            <c:spPr>
              <a:solidFill>
                <a:srgbClr val="101418"/>
              </a:solidFill>
              <a:ln w="9525" cap="flat">
                <a:solidFill>
                  <a:srgbClr val="101418"/>
                </a:solidFill>
                <a:prstDash val="solid"/>
                <a:round/>
              </a:ln>
              <a:effectLst/>
            </c:spPr>
          </c:marker>
          <c:cat>
            <c:strRef>
              <c:f>Sheet1!$A$2:$A$6</c:f>
              <c:strCache>
                <c:ptCount val="5"/>
                <c:pt idx="0">
                  <c:v>50</c:v>
                </c:pt>
                <c:pt idx="1">
                  <c:v>100</c:v>
                </c:pt>
                <c:pt idx="2">
                  <c:v>200</c:v>
                </c:pt>
                <c:pt idx="3">
                  <c:v>400</c:v>
                </c:pt>
                <c:pt idx="4">
                  <c:v>614</c:v>
                </c:pt>
              </c:strCache>
            </c:strRef>
          </c:cat>
          <c:val>
            <c:numRef>
              <c:f>Sheet1!$B$2:$B$6</c:f>
              <c:numCache>
                <c:formatCode>General</c:formatCode>
                <c:ptCount val="5"/>
                <c:pt idx="0">
                  <c:v>0.78380000000000005</c:v>
                </c:pt>
                <c:pt idx="1">
                  <c:v>0.79790000000000005</c:v>
                </c:pt>
                <c:pt idx="2">
                  <c:v>0.80110000000000003</c:v>
                </c:pt>
                <c:pt idx="3">
                  <c:v>0.80940000000000001</c:v>
                </c:pt>
                <c:pt idx="4">
                  <c:v>0.8135</c:v>
                </c:pt>
              </c:numCache>
            </c:numRef>
          </c:val>
          <c:smooth val="0"/>
          <c:extLst>
            <c:ext xmlns:c16="http://schemas.microsoft.com/office/drawing/2014/chart" uri="{C3380CC4-5D6E-409C-BE32-E72D297353CC}">
              <c16:uniqueId val="{00000000-E3B9-49AB-A09F-4FD57A6EEE64}"/>
            </c:ext>
          </c:extLst>
        </c:ser>
        <c:ser>
          <c:idx val="1"/>
          <c:order val="1"/>
          <c:tx>
            <c:strRef>
              <c:f>Sheet1!$C$1</c:f>
              <c:strCache>
                <c:ptCount val="1"/>
                <c:pt idx="0">
                  <c:v>Rég. log. complet</c:v>
                </c:pt>
              </c:strCache>
            </c:strRef>
          </c:tx>
          <c:spPr>
            <a:ln w="31750" cap="flat">
              <a:solidFill>
                <a:srgbClr val="0E8F7E"/>
              </a:solidFill>
              <a:prstDash val="solid"/>
              <a:round/>
            </a:ln>
            <a:effectLst/>
          </c:spPr>
          <c:marker>
            <c:symbol val="circle"/>
            <c:size val="7"/>
            <c:spPr>
              <a:solidFill>
                <a:srgbClr val="0E8F7E"/>
              </a:solidFill>
              <a:ln w="9525" cap="flat">
                <a:solidFill>
                  <a:srgbClr val="0E8F7E"/>
                </a:solidFill>
                <a:prstDash val="solid"/>
                <a:round/>
              </a:ln>
              <a:effectLst/>
            </c:spPr>
          </c:marker>
          <c:cat>
            <c:strRef>
              <c:f>Sheet1!$A$2:$A$6</c:f>
              <c:strCache>
                <c:ptCount val="5"/>
                <c:pt idx="0">
                  <c:v>50</c:v>
                </c:pt>
                <c:pt idx="1">
                  <c:v>100</c:v>
                </c:pt>
                <c:pt idx="2">
                  <c:v>200</c:v>
                </c:pt>
                <c:pt idx="3">
                  <c:v>400</c:v>
                </c:pt>
                <c:pt idx="4">
                  <c:v>614</c:v>
                </c:pt>
              </c:strCache>
            </c:strRef>
          </c:cat>
          <c:val>
            <c:numRef>
              <c:f>Sheet1!$C$2:$C$6</c:f>
              <c:numCache>
                <c:formatCode>General</c:formatCode>
                <c:ptCount val="5"/>
                <c:pt idx="0">
                  <c:v>0.79039999999999999</c:v>
                </c:pt>
                <c:pt idx="1">
                  <c:v>0.80259999999999998</c:v>
                </c:pt>
                <c:pt idx="2">
                  <c:v>0.80720000000000003</c:v>
                </c:pt>
                <c:pt idx="3">
                  <c:v>0.81589999999999996</c:v>
                </c:pt>
                <c:pt idx="4">
                  <c:v>0.82130000000000003</c:v>
                </c:pt>
              </c:numCache>
            </c:numRef>
          </c:val>
          <c:smooth val="0"/>
          <c:extLst>
            <c:ext xmlns:c16="http://schemas.microsoft.com/office/drawing/2014/chart" uri="{C3380CC4-5D6E-409C-BE32-E72D297353CC}">
              <c16:uniqueId val="{00000001-E3B9-49AB-A09F-4FD57A6EEE64}"/>
            </c:ext>
          </c:extLst>
        </c:ser>
        <c:ser>
          <c:idx val="2"/>
          <c:order val="2"/>
          <c:tx>
            <c:strRef>
              <c:f>Sheet1!$D$1</c:f>
              <c:strCache>
                <c:ptCount val="1"/>
                <c:pt idx="0">
                  <c:v>XGBoost référence</c:v>
                </c:pt>
              </c:strCache>
            </c:strRef>
          </c:tx>
          <c:spPr>
            <a:ln w="31750" cap="flat">
              <a:solidFill>
                <a:srgbClr val="AEB6BF"/>
              </a:solidFill>
              <a:prstDash val="solid"/>
              <a:round/>
            </a:ln>
            <a:effectLst/>
          </c:spPr>
          <c:marker>
            <c:symbol val="circle"/>
            <c:size val="7"/>
            <c:spPr>
              <a:solidFill>
                <a:srgbClr val="AEB6BF"/>
              </a:solidFill>
              <a:ln w="9525" cap="flat">
                <a:solidFill>
                  <a:srgbClr val="AEB6BF"/>
                </a:solidFill>
                <a:prstDash val="solid"/>
                <a:round/>
              </a:ln>
              <a:effectLst/>
            </c:spPr>
          </c:marker>
          <c:cat>
            <c:strRef>
              <c:f>Sheet1!$A$2:$A$6</c:f>
              <c:strCache>
                <c:ptCount val="5"/>
                <c:pt idx="0">
                  <c:v>50</c:v>
                </c:pt>
                <c:pt idx="1">
                  <c:v>100</c:v>
                </c:pt>
                <c:pt idx="2">
                  <c:v>200</c:v>
                </c:pt>
                <c:pt idx="3">
                  <c:v>400</c:v>
                </c:pt>
                <c:pt idx="4">
                  <c:v>614</c:v>
                </c:pt>
              </c:strCache>
            </c:strRef>
          </c:cat>
          <c:val>
            <c:numRef>
              <c:f>Sheet1!$D$2:$D$6</c:f>
              <c:numCache>
                <c:formatCode>General</c:formatCode>
                <c:ptCount val="5"/>
                <c:pt idx="0">
                  <c:v>0.73450000000000004</c:v>
                </c:pt>
                <c:pt idx="1">
                  <c:v>0.77310000000000001</c:v>
                </c:pt>
                <c:pt idx="2">
                  <c:v>0.79610000000000003</c:v>
                </c:pt>
                <c:pt idx="3">
                  <c:v>0.80510000000000004</c:v>
                </c:pt>
                <c:pt idx="4">
                  <c:v>0.83199999999999996</c:v>
                </c:pt>
              </c:numCache>
            </c:numRef>
          </c:val>
          <c:smooth val="0"/>
          <c:extLst>
            <c:ext xmlns:c16="http://schemas.microsoft.com/office/drawing/2014/chart" uri="{C3380CC4-5D6E-409C-BE32-E72D297353CC}">
              <c16:uniqueId val="{00000002-E3B9-49AB-A09F-4FD57A6EEE64}"/>
            </c:ext>
          </c:extLst>
        </c:ser>
        <c:ser>
          <c:idx val="3"/>
          <c:order val="3"/>
          <c:tx>
            <c:strRef>
              <c:f>Sheet1!$E$1</c:f>
              <c:strCache>
                <c:ptCount val="1"/>
                <c:pt idx="0">
                  <c:v>XGBoost complet</c:v>
                </c:pt>
              </c:strCache>
            </c:strRef>
          </c:tx>
          <c:spPr>
            <a:ln w="31750" cap="flat">
              <a:solidFill>
                <a:srgbClr val="D9433B"/>
              </a:solidFill>
              <a:prstDash val="solid"/>
              <a:round/>
            </a:ln>
            <a:effectLst/>
          </c:spPr>
          <c:marker>
            <c:symbol val="circle"/>
            <c:size val="7"/>
            <c:spPr>
              <a:solidFill>
                <a:srgbClr val="D9433B"/>
              </a:solidFill>
              <a:ln w="9525" cap="flat">
                <a:solidFill>
                  <a:srgbClr val="D9433B"/>
                </a:solidFill>
                <a:prstDash val="solid"/>
                <a:round/>
              </a:ln>
              <a:effectLst/>
            </c:spPr>
          </c:marker>
          <c:cat>
            <c:strRef>
              <c:f>Sheet1!$A$2:$A$6</c:f>
              <c:strCache>
                <c:ptCount val="5"/>
                <c:pt idx="0">
                  <c:v>50</c:v>
                </c:pt>
                <c:pt idx="1">
                  <c:v>100</c:v>
                </c:pt>
                <c:pt idx="2">
                  <c:v>200</c:v>
                </c:pt>
                <c:pt idx="3">
                  <c:v>400</c:v>
                </c:pt>
                <c:pt idx="4">
                  <c:v>614</c:v>
                </c:pt>
              </c:strCache>
            </c:strRef>
          </c:cat>
          <c:val>
            <c:numRef>
              <c:f>Sheet1!$E$2:$E$6</c:f>
              <c:numCache>
                <c:formatCode>General</c:formatCode>
                <c:ptCount val="5"/>
                <c:pt idx="0">
                  <c:v>0.73760000000000003</c:v>
                </c:pt>
                <c:pt idx="1">
                  <c:v>0.77549999999999997</c:v>
                </c:pt>
                <c:pt idx="2">
                  <c:v>0.79679999999999995</c:v>
                </c:pt>
                <c:pt idx="3">
                  <c:v>0.80510000000000004</c:v>
                </c:pt>
                <c:pt idx="4">
                  <c:v>0.82889999999999997</c:v>
                </c:pt>
              </c:numCache>
            </c:numRef>
          </c:val>
          <c:smooth val="0"/>
          <c:extLst>
            <c:ext xmlns:c16="http://schemas.microsoft.com/office/drawing/2014/chart" uri="{C3380CC4-5D6E-409C-BE32-E72D297353CC}">
              <c16:uniqueId val="{00000003-E3B9-49AB-A09F-4FD57A6EEE6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5B6470"/>
                    </a:solidFill>
                    <a:latin typeface="Arial"/>
                  </a:defRPr>
                </a:pPr>
                <a:r>
                  <a:rPr lang="fr-FR" sz="1200" b="0" i="0" u="none" strike="noStrike">
                    <a:solidFill>
                      <a:srgbClr val="5B6470"/>
                    </a:solidFill>
                    <a:latin typeface="Arial"/>
                  </a:rPr>
                  <a:t>Patientes dans l'entraînement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0.85"/>
          <c:min val="0.7"/>
        </c:scaling>
        <c:delete val="0"/>
        <c:axPos val="l"/>
        <c:majorGridlines>
          <c:spPr>
            <a:ln w="9525" cap="flat">
              <a:solidFill>
                <a:srgbClr val="E2E5E9"/>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Coefficient</c:v>
                </c:pt>
              </c:strCache>
            </c:strRef>
          </c:tx>
          <c:spPr>
            <a:solidFill>
              <a:srgbClr val="2B3440"/>
            </a:solidFill>
            <a:effectLst/>
          </c:spPr>
          <c:invertIfNegative val="0"/>
          <c:dLbls>
            <c:numFmt formatCode="0.00;\−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Glycémie</c:v>
                </c:pt>
                <c:pt idx="1">
                  <c:v>IMC</c:v>
                </c:pt>
                <c:pt idx="2">
                  <c:v>Grossesses</c:v>
                </c:pt>
                <c:pt idx="3">
                  <c:v>Antécédents (DPF)</c:v>
                </c:pt>
                <c:pt idx="4">
                  <c:v>Âge</c:v>
                </c:pt>
                <c:pt idx="5">
                  <c:v>Pli cutané</c:v>
                </c:pt>
                <c:pt idx="6">
                  <c:v>Insuline</c:v>
                </c:pt>
                <c:pt idx="7">
                  <c:v>Pression</c:v>
                </c:pt>
              </c:strCache>
            </c:strRef>
          </c:cat>
          <c:val>
            <c:numRef>
              <c:f>Sheet1!$B$2:$B$9</c:f>
              <c:numCache>
                <c:formatCode>General</c:formatCode>
                <c:ptCount val="8"/>
                <c:pt idx="0">
                  <c:v>1.169</c:v>
                </c:pt>
                <c:pt idx="1">
                  <c:v>0.70399999999999996</c:v>
                </c:pt>
                <c:pt idx="2">
                  <c:v>0.376</c:v>
                </c:pt>
                <c:pt idx="3">
                  <c:v>0.23300000000000001</c:v>
                </c:pt>
                <c:pt idx="4">
                  <c:v>0.156</c:v>
                </c:pt>
                <c:pt idx="5">
                  <c:v>1E-3</c:v>
                </c:pt>
                <c:pt idx="6">
                  <c:v>-1.9E-2</c:v>
                </c:pt>
                <c:pt idx="7">
                  <c:v>-5.0999999999999997E-2</c:v>
                </c:pt>
              </c:numCache>
            </c:numRef>
          </c:val>
          <c:extLst>
            <c:ext xmlns:c16="http://schemas.microsoft.com/office/drawing/2014/chart" uri="{C3380CC4-5D6E-409C-BE32-E72D297353CC}">
              <c16:uniqueId val="{00000000-F073-41D8-AE65-B80A2CF5F97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5"/>
          <c:min val="-0.3"/>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|SHAP| moyen</c:v>
                </c:pt>
              </c:strCache>
            </c:strRef>
          </c:tx>
          <c:spPr>
            <a:solidFill>
              <a:srgbClr val="0E8F7E"/>
            </a:solidFill>
            <a:effectLst/>
          </c:spPr>
          <c:invertIfNegative val="0"/>
          <c:dLbls>
            <c:numFmt formatCode="0.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Glycémie</c:v>
                </c:pt>
                <c:pt idx="1">
                  <c:v>IMC</c:v>
                </c:pt>
                <c:pt idx="2">
                  <c:v>Grossesses</c:v>
                </c:pt>
                <c:pt idx="3">
                  <c:v>Âge</c:v>
                </c:pt>
                <c:pt idx="4">
                  <c:v>Antécédents (DPF)</c:v>
                </c:pt>
                <c:pt idx="5">
                  <c:v>Règle R6</c:v>
                </c:pt>
                <c:pt idx="6">
                  <c:v>Pression</c:v>
                </c:pt>
                <c:pt idx="7">
                  <c:v>Pli cutané</c:v>
                </c:pt>
                <c:pt idx="8">
                  <c:v>Insuline</c:v>
                </c:pt>
              </c:strCache>
            </c:strRef>
          </c:cat>
          <c:val>
            <c:numRef>
              <c:f>Sheet1!$B$2:$B$10</c:f>
              <c:numCache>
                <c:formatCode>General</c:formatCode>
                <c:ptCount val="9"/>
                <c:pt idx="0">
                  <c:v>1.0089999999999999</c:v>
                </c:pt>
                <c:pt idx="1">
                  <c:v>0.59</c:v>
                </c:pt>
                <c:pt idx="2">
                  <c:v>0.29399999999999998</c:v>
                </c:pt>
                <c:pt idx="3">
                  <c:v>0.19900000000000001</c:v>
                </c:pt>
                <c:pt idx="4">
                  <c:v>0.17399999999999999</c:v>
                </c:pt>
                <c:pt idx="5">
                  <c:v>8.8999999999999996E-2</c:v>
                </c:pt>
                <c:pt idx="6">
                  <c:v>3.2000000000000001E-2</c:v>
                </c:pt>
                <c:pt idx="7">
                  <c:v>1.0999999999999999E-2</c:v>
                </c:pt>
                <c:pt idx="8">
                  <c:v>3.0000000000000001E-3</c:v>
                </c:pt>
              </c:numCache>
            </c:numRef>
          </c:val>
          <c:extLst>
            <c:ext xmlns:c16="http://schemas.microsoft.com/office/drawing/2014/chart" uri="{C3380CC4-5D6E-409C-BE32-E72D297353CC}">
              <c16:uniqueId val="{00000000-BF08-4EC5-A5DB-46D63DC29DC8}"/>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1.2"/>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Introduites par les règles</c:v>
                </c:pt>
              </c:strCache>
            </c:strRef>
          </c:tx>
          <c:spPr>
            <a:solidFill>
              <a:srgbClr val="D9433B"/>
            </a:solidFill>
            <a:effectLst/>
          </c:spPr>
          <c:invertIfNegative val="0"/>
          <c:dLbls>
            <c:numFmt formatCode="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Régression logistique</c:v>
                </c:pt>
                <c:pt idx="1">
                  <c:v>XGBoost</c:v>
                </c:pt>
              </c:strCache>
            </c:strRef>
          </c:cat>
          <c:val>
            <c:numRef>
              <c:f>Sheet1!$B$2:$B$3</c:f>
              <c:numCache>
                <c:formatCode>General</c:formatCode>
                <c:ptCount val="2"/>
                <c:pt idx="0">
                  <c:v>22.2</c:v>
                </c:pt>
                <c:pt idx="1">
                  <c:v>7.6</c:v>
                </c:pt>
              </c:numCache>
            </c:numRef>
          </c:val>
          <c:extLst>
            <c:ext xmlns:c16="http://schemas.microsoft.com/office/drawing/2014/chart" uri="{C3380CC4-5D6E-409C-BE32-E72D297353CC}">
              <c16:uniqueId val="{00000000-937B-479A-B335-F238DE44E9FB}"/>
            </c:ext>
          </c:extLst>
        </c:ser>
        <c:ser>
          <c:idx val="1"/>
          <c:order val="1"/>
          <c:tx>
            <c:strRef>
              <c:f>Sheet1!$C$1</c:f>
              <c:strCache>
                <c:ptCount val="1"/>
                <c:pt idx="0">
                  <c:v>Corrigées par les règles</c:v>
                </c:pt>
              </c:strCache>
            </c:strRef>
          </c:tx>
          <c:spPr>
            <a:solidFill>
              <a:srgbClr val="0E8F7E"/>
            </a:solidFill>
            <a:effectLst/>
          </c:spPr>
          <c:invertIfNegative val="0"/>
          <c:dLbls>
            <c:numFmt formatCode="0.0" sourceLinked="0"/>
            <c:spPr>
              <a:noFill/>
              <a:ln>
                <a:noFill/>
              </a:ln>
              <a:effectLst/>
            </c:spPr>
            <c:txPr>
              <a:bodyPr/>
              <a:lstStyle/>
              <a:p>
                <a:pPr>
                  <a:defRPr sz="1200" b="0" i="0" u="none" strike="noStrike">
                    <a:solidFill>
                      <a:srgbClr val="101418"/>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Régression logistique</c:v>
                </c:pt>
                <c:pt idx="1">
                  <c:v>XGBoost</c:v>
                </c:pt>
              </c:strCache>
            </c:strRef>
          </c:cat>
          <c:val>
            <c:numRef>
              <c:f>Sheet1!$C$2:$C$3</c:f>
              <c:numCache>
                <c:formatCode>General</c:formatCode>
                <c:ptCount val="2"/>
                <c:pt idx="0">
                  <c:v>18.399999999999999</c:v>
                </c:pt>
                <c:pt idx="1">
                  <c:v>8.4</c:v>
                </c:pt>
              </c:numCache>
            </c:numRef>
          </c:val>
          <c:extLst>
            <c:ext xmlns:c16="http://schemas.microsoft.com/office/drawing/2014/chart" uri="{C3380CC4-5D6E-409C-BE32-E72D297353CC}">
              <c16:uniqueId val="{00000001-937B-479A-B335-F238DE44E9F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0"/>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9525" cap="flat">
              <a:solidFill>
                <a:srgbClr val="E2E5E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B647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5B647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929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Question : peut-on estimer le risque de diabète d'une patiente ET l'expliquer de façon vérifiable ? Chaque point = une patiente du jeu Pima, en vert les 268 diabétiques (35 %). Annoncer les trois messages : rigueur de la méthode, résultat honnête (les règles n'améliorent pas l'AUC), et où se trouve la vraie valeur de l'hybride.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 768 femmes Pima d'au moins 21 ans, 8 mesures, étiquette diabète oui/non définie par les critères de l'OMS. Insister sur la limite : aucune généralisation à d'autres populations. Pas d'hommes dans le jeu : notre question perso est reformulée en déséquilibre par tranche d'âge.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protocole commun de la fiche : référence non hybride, puis on ajoute les briques une à une pour pouvoir les retirer (ablation). Trois garde-fous : tout dans le Pipeline, seuil choisi sur le train, incertitude mesurée. Le seuil choisi sur le test était un défaut de la première version : on l'a corrigé.</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piège : Insuline manquante à 49 %, pli cutané à 30 %. Deuxième piège : remplir les manquants en utilisant l'étiquette donne un AUC flatteur de 0,83 qui retombe à 0,79 en version honnête. On l'a montré pour justifier que tout est dans le Pipeline. Les trois méthodes d'imputation honnêtes sont équivalentes (0,84), on garde KNN.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règle porte sa source (ADA, OMS, USPSTF, ESC/ESH). R1 ne se déclenche jamais car la glycémie maximale du jeu est 199 : elle servira de garde-fou hors distribution. R6 est notre règle dérivée : absence de tout critère de dépistage. Elle est la seule à abaisser un risque, donc risque de fausse rassurance : plafond de 0,1 fixé empiriquement (1 diabétique sur 59 au train). Le graphique montre que R2 à R6 sont bien associées au diabète (R6 : 2 % contre 38 %).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dépistage, rater une malade coûte plus cher qu'une fausse alerte. On cible 80 % de rappel, et on choisit le seuil sur des prédictions hors-pli du train, jamais sur le test (c'était un défaut de la première version). Sur le test : XGBoost passe de 17 à 6 malades ratées pour 16 fausses alertes de plus. Le rappel de 0,89 observé sur le test est plutôt favorable : intervalle [0,78 ; 0,95], c'est 0,80 qu'il faut attendre.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Résultat central, à dire franchement : aucune version hybride n'est démontrablement meilleure. Les intervalles de confiance contiennent zéro pour les règles en entrée. Seules deux briques ont un intervalle au-dessus de zéro : les règles en sortie (+0,001, négligeable) et la contrainte de monotonie sur XGBoost (+0,009, on y vient). À droite : sur le petit test de 154 patientes, les règles en entrée semblaient aider la régression logistique et gêner XGBoost ; en validation croisée, c'est l'inverse. Leçon : ne pas conclure sur un petit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démonstrations de la valeur de l'hybride. Gauche : pour une glycémie de 250, hors du jeu, XGBoost donne 0,56 car il traite 250 comme 199 ; la règle R1 corrige à 0,90 et cite sa source. Droite : cohérence. XGBoost n'est pas monotone : pour 20 % des patientes le risque baisse quand la glycémie monte de 10 mg/dL, 37 % pour l'IMC +3. La régression logistique est quasi parfaite. Une contrainte de monotonie, qui est une connaissance sur la forme du modèle, réduit les violations et améliore l'AUC de 0,009. Prudence : intervalle sur une seule répétition. Notez aussi que les règles en entrée dégradent la monotonie de la régression logistique (2,6 %), probablement à cause de la bande 140-199 de R2.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probabilité est calibrée si 30 % annoncés correspondent à 30 % de malades réels. La régression logistique est bien calibrée (ECE 0,036). XGBoost est trop sûr de lui (0,061) ; la recalibration par température, ajustée en validation croisée pour éviter toute fuite, le ramène à 0,032. Les règles ne changent pas la calibration. Prudence : les intervalles de l'ECE sont larges, c'est une tendance.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brique centrale de la fiche : SHAP et règles présentés ensemble. Modèle expliqué : régression logistique avec règles, car SHAP y est exact. À gauche, les contributions SHAP pour une patiente du test ; à droite, le texte produit par gabarit : déterministe et vérifiable par un médecin, aucun LLM. On regroupe la contribution d'une règle avec celle de sa variable pour éviter des messages contradictoires. Le texte distingue une règle qui corrige la valeur du modèle d'une règle qui la confirme.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Analyse d'erreurs par brique : on suit la décision de la référence aux règles en entrée puis en sortie. Les règles en entrée déplacent des patientes dans les deux sens (22 erreurs introduites, 18 corrigées pour la régression logistique), sans bilan net ; les règles en sortie n'introduisent aucune erreur. Près de la moitié des fausses alertes vient du seuil bas, choisi volontairement. Les faux négatifs les plus sévères sont des femmes jeunes à glycémie normale : l'information manque dans les variables. À droite : le biais selon l'âge, 18 jeunes malades seulement dans le test, donc prudence.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couvre sept dimensions de la grille alors que la fiche en demande au moins quatre. Message principal : l'hybride n'apporte pas de gain de discrimination, mais il protège hors distribution, garantit des comportements cohérents et fournit une explication sourcée. Choix recommandé : régression logistique plus règles pour l'explicabilité ; XGBoost sous contrainte de monotonie si l'on cherche la performance.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Être franc sur les limites : population très particulière, petit test, choix de conception assumés. Insister sur R6 : c'est la seule règle qui abaisse un risque, donc la plus sensible. Les pistes viennent directement des résultats : la bande de R2 casse la monotonie, XGBoost doit être recalibré, les hyperparamètres n'ont pas été optimisés.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les trois messages et ouvrir aux questions. Annexes disponibles : sources complètes, SMOTE contre seuil, peu de données, importance des variables, erreurs corrigées et introduites.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de réserve. L'étiquette Pima suit les critères OMS (glycémie à 2 h ≥ 200 mg/dL) d'après la description du jeu ; Smith et al. 1988 pour le jeu lui-même.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première version comparait SMOTE à 0,5 avec un seuil bas, donc deux rappels différents. À rappel égal : 30,5 % de fausses alertes avec SMOTE contre 32 % sans, soit environ 6 patientes sur 400, et le même Brier.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testée : les règles aident davantage quand il y a peu de données. Non confirmée. Les tirages partagent le même test de 154 patientes : la plage observée mesure la variabilité des tirages, pas une significativité.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lectures concordent. Les contributions SHAP sont regroupées par variable : les colonnes de règles sont additionnées à la variable qu'elles découpent (R1 et R2 avec la glycémie, R3 avec l'IMC, R4 avec l'âge, R5 avec la pression). R6 reste séparée.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patiente de R6 est diabétique avec un risque prédit de 3 % : c'est exactement le risque de fausse rassurance de cette règle, ici sans effet car le modèle la classait déjà négative.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566928"/>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tx2"/>
                </a:solidFill>
              </a:rPr>
              <a:t>DiabetesCheck AI  ·  IA Hybride  ·  ISIS Castres</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0141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566928"/>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5"/>
                </a:solidFill>
              </a:rPr>
              <a:t>DiabetesCheck AI  ·  IA Hybride  ·  ISIS Castres</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10141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5852160" cy="9144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16.xml"/></Relationships>
</file>

<file path=ppt/slides/_rels/slide20.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600200"/>
            <a:ext cx="6035040" cy="320040"/>
          </a:xfrm>
          <a:prstGeom prst="rect">
            <a:avLst/>
          </a:prstGeom>
          <a:noFill/>
          <a:ln/>
        </p:spPr>
        <p:txBody>
          <a:bodyPr wrap="square" lIns="0" tIns="0" rIns="0" bIns="0" rtlCol="0" anchor="ctr"/>
          <a:lstStyle/>
          <a:p>
            <a:pPr marL="0" indent="0">
              <a:buNone/>
            </a:pPr>
            <a:r>
              <a:rPr lang="en-US" sz="1200" b="1" kern="0" spc="200" dirty="0">
                <a:solidFill>
                  <a:schemeClr val="accent1"/>
                </a:solidFill>
              </a:rPr>
              <a:t>IA HYBRIDE  ·  ISIS CASTRES  ·  5E ANNÉE DSIA</a:t>
            </a:r>
            <a:endParaRPr lang="en-US" sz="1200" dirty="0"/>
          </a:p>
        </p:txBody>
      </p:sp>
      <p:sp>
        <p:nvSpPr>
          <p:cNvPr id="3" name="Text 0"/>
          <p:cNvSpPr>
            <a:spLocks noGrp="1"/>
          </p:cNvSpPr>
          <p:nvPr>
            <p:ph type="title" idx="100" hasCustomPrompt="1"/>
          </p:nvPr>
        </p:nvSpPr>
        <p:spPr>
          <a:xfrm>
            <a:off x="548640" y="2148840"/>
            <a:ext cx="5852160" cy="914400"/>
          </a:xfrm>
          <a:prstGeom prst="rect">
            <a:avLst/>
          </a:prstGeom>
          <a:noFill/>
          <a:ln/>
        </p:spPr>
        <p:txBody>
          <a:bodyPr wrap="square" lIns="0" tIns="0" rIns="0" bIns="0" rtlCol="0" anchor="t"/>
          <a:lstStyle/>
          <a:p>
            <a:pPr marL="0" indent="0" algn="l">
              <a:buNone/>
            </a:pPr>
            <a:r>
              <a:rPr lang="en-US" sz="5400" b="1" dirty="0">
                <a:solidFill>
                  <a:schemeClr val="bg1"/>
                </a:solidFill>
              </a:rPr>
              <a:t>DiabetesCheck AI</a:t>
            </a:r>
            <a:endParaRPr lang="en-US" sz="5400" dirty="0"/>
          </a:p>
        </p:txBody>
      </p:sp>
      <p:sp>
        <p:nvSpPr>
          <p:cNvPr id="4" name="Sous-titre"/>
          <p:cNvSpPr txBox="1"/>
          <p:nvPr/>
        </p:nvSpPr>
        <p:spPr>
          <a:xfrm>
            <a:off x="548640" y="3291840"/>
            <a:ext cx="5486400" cy="914400"/>
          </a:xfrm>
          <a:prstGeom prst="rect">
            <a:avLst/>
          </a:prstGeom>
          <a:noFill/>
          <a:ln/>
        </p:spPr>
        <p:txBody>
          <a:bodyPr wrap="square" lIns="0" tIns="0" rIns="0" bIns="0" rtlCol="0" anchor="t"/>
          <a:lstStyle/>
          <a:p>
            <a:pPr marL="0" indent="0">
              <a:buNone/>
            </a:pPr>
            <a:r>
              <a:rPr lang="en-US" sz="2000" dirty="0">
                <a:solidFill>
                  <a:srgbClr val="C9CFD6"/>
                </a:solidFill>
              </a:rPr>
              <a:t>Dépistage du diabète expliqué : règles médicales et apprentissage automatique</a:t>
            </a:r>
            <a:endParaRPr lang="en-US" sz="2000" dirty="0"/>
          </a:p>
        </p:txBody>
      </p:sp>
      <p:sp>
        <p:nvSpPr>
          <p:cNvPr id="5" name="Contexte"/>
          <p:cNvSpPr txBox="1"/>
          <p:nvPr/>
        </p:nvSpPr>
        <p:spPr>
          <a:xfrm>
            <a:off x="548640" y="5943600"/>
            <a:ext cx="5852160" cy="274320"/>
          </a:xfrm>
          <a:prstGeom prst="rect">
            <a:avLst/>
          </a:prstGeom>
          <a:noFill/>
          <a:ln/>
        </p:spPr>
        <p:txBody>
          <a:bodyPr wrap="square" lIns="0" tIns="0" rIns="0" bIns="0" rtlCol="0" anchor="ctr"/>
          <a:lstStyle/>
          <a:p>
            <a:pPr marL="0" indent="0">
              <a:buNone/>
            </a:pPr>
            <a:r>
              <a:rPr lang="en-US" sz="1200" dirty="0">
                <a:solidFill>
                  <a:srgbClr val="7A8794"/>
                </a:solidFill>
              </a:rPr>
              <a:t>Sujet 1  ·  Pima Indians Diabetes  ·  768 patientes</a:t>
            </a:r>
            <a:endParaRPr lang="en-US" sz="1200" dirty="0"/>
          </a:p>
        </p:txBody>
      </p:sp>
      <p:sp>
        <p:nvSpPr>
          <p:cNvPr id="6" name="Patiente"/>
          <p:cNvSpPr/>
          <p:nvPr/>
        </p:nvSpPr>
        <p:spPr>
          <a:xfrm>
            <a:off x="6675120"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7" name="Patiente"/>
          <p:cNvSpPr/>
          <p:nvPr/>
        </p:nvSpPr>
        <p:spPr>
          <a:xfrm>
            <a:off x="6830568"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8" name="Patiente"/>
          <p:cNvSpPr/>
          <p:nvPr/>
        </p:nvSpPr>
        <p:spPr>
          <a:xfrm>
            <a:off x="6986016"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9" name="Patiente"/>
          <p:cNvSpPr/>
          <p:nvPr/>
        </p:nvSpPr>
        <p:spPr>
          <a:xfrm>
            <a:off x="7141464"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10" name="Patiente"/>
          <p:cNvSpPr/>
          <p:nvPr/>
        </p:nvSpPr>
        <p:spPr>
          <a:xfrm>
            <a:off x="7296912"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11" name="Patiente"/>
          <p:cNvSpPr/>
          <p:nvPr/>
        </p:nvSpPr>
        <p:spPr>
          <a:xfrm>
            <a:off x="7452360"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12" name="Patiente"/>
          <p:cNvSpPr/>
          <p:nvPr/>
        </p:nvSpPr>
        <p:spPr>
          <a:xfrm>
            <a:off x="7607808"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13" name="Patiente"/>
          <p:cNvSpPr/>
          <p:nvPr/>
        </p:nvSpPr>
        <p:spPr>
          <a:xfrm>
            <a:off x="7763256"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14" name="Patiente"/>
          <p:cNvSpPr/>
          <p:nvPr/>
        </p:nvSpPr>
        <p:spPr>
          <a:xfrm>
            <a:off x="7918704"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15" name="Patiente"/>
          <p:cNvSpPr/>
          <p:nvPr/>
        </p:nvSpPr>
        <p:spPr>
          <a:xfrm>
            <a:off x="8074152"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16" name="Patiente"/>
          <p:cNvSpPr/>
          <p:nvPr/>
        </p:nvSpPr>
        <p:spPr>
          <a:xfrm>
            <a:off x="8229600"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17" name="Patiente"/>
          <p:cNvSpPr/>
          <p:nvPr/>
        </p:nvSpPr>
        <p:spPr>
          <a:xfrm>
            <a:off x="8385048"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 name="Patiente"/>
          <p:cNvSpPr/>
          <p:nvPr/>
        </p:nvSpPr>
        <p:spPr>
          <a:xfrm>
            <a:off x="8540496"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 name="Patiente"/>
          <p:cNvSpPr/>
          <p:nvPr/>
        </p:nvSpPr>
        <p:spPr>
          <a:xfrm>
            <a:off x="8695944"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20" name="Patiente"/>
          <p:cNvSpPr/>
          <p:nvPr/>
        </p:nvSpPr>
        <p:spPr>
          <a:xfrm>
            <a:off x="8851392"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21" name="Patiente"/>
          <p:cNvSpPr/>
          <p:nvPr/>
        </p:nvSpPr>
        <p:spPr>
          <a:xfrm>
            <a:off x="9006840"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22" name="Patiente"/>
          <p:cNvSpPr/>
          <p:nvPr/>
        </p:nvSpPr>
        <p:spPr>
          <a:xfrm>
            <a:off x="9162288"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23" name="Patiente"/>
          <p:cNvSpPr/>
          <p:nvPr/>
        </p:nvSpPr>
        <p:spPr>
          <a:xfrm>
            <a:off x="9317736"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24" name="Patiente"/>
          <p:cNvSpPr/>
          <p:nvPr/>
        </p:nvSpPr>
        <p:spPr>
          <a:xfrm>
            <a:off x="9473184"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25" name="Patiente"/>
          <p:cNvSpPr/>
          <p:nvPr/>
        </p:nvSpPr>
        <p:spPr>
          <a:xfrm>
            <a:off x="9628632"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26" name="Patiente"/>
          <p:cNvSpPr/>
          <p:nvPr/>
        </p:nvSpPr>
        <p:spPr>
          <a:xfrm>
            <a:off x="9784080"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27" name="Patiente"/>
          <p:cNvSpPr/>
          <p:nvPr/>
        </p:nvSpPr>
        <p:spPr>
          <a:xfrm>
            <a:off x="9939528"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28" name="Patiente"/>
          <p:cNvSpPr/>
          <p:nvPr/>
        </p:nvSpPr>
        <p:spPr>
          <a:xfrm>
            <a:off x="10094976"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29" name="Patiente"/>
          <p:cNvSpPr/>
          <p:nvPr/>
        </p:nvSpPr>
        <p:spPr>
          <a:xfrm>
            <a:off x="10250424"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30" name="Patiente"/>
          <p:cNvSpPr/>
          <p:nvPr/>
        </p:nvSpPr>
        <p:spPr>
          <a:xfrm>
            <a:off x="10405872"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31" name="Patiente"/>
          <p:cNvSpPr/>
          <p:nvPr/>
        </p:nvSpPr>
        <p:spPr>
          <a:xfrm>
            <a:off x="10561320"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32" name="Patiente"/>
          <p:cNvSpPr/>
          <p:nvPr/>
        </p:nvSpPr>
        <p:spPr>
          <a:xfrm>
            <a:off x="10716768"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33" name="Patiente"/>
          <p:cNvSpPr/>
          <p:nvPr/>
        </p:nvSpPr>
        <p:spPr>
          <a:xfrm>
            <a:off x="10872216"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34" name="Patiente"/>
          <p:cNvSpPr/>
          <p:nvPr/>
        </p:nvSpPr>
        <p:spPr>
          <a:xfrm>
            <a:off x="11027664"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 name="Patiente"/>
          <p:cNvSpPr/>
          <p:nvPr/>
        </p:nvSpPr>
        <p:spPr>
          <a:xfrm>
            <a:off x="11183112" y="1600200"/>
            <a:ext cx="100584" cy="100584"/>
          </a:xfrm>
          <a:prstGeom prst="ellipse">
            <a:avLst/>
          </a:prstGeom>
          <a:solidFill>
            <a:srgbClr val="0E8F7E"/>
          </a:solidFill>
          <a:ln w="12700">
            <a:solidFill>
              <a:srgbClr val="0E8F7E"/>
            </a:solidFill>
            <a:prstDash val="solid"/>
          </a:ln>
        </p:spPr>
        <p:txBody>
          <a:bodyPr/>
          <a:lstStyle/>
          <a:p>
            <a:endParaRPr lang="fr-FR"/>
          </a:p>
        </p:txBody>
      </p:sp>
      <p:sp>
        <p:nvSpPr>
          <p:cNvPr id="36" name="Patiente"/>
          <p:cNvSpPr/>
          <p:nvPr/>
        </p:nvSpPr>
        <p:spPr>
          <a:xfrm>
            <a:off x="11338560"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37" name="Patiente"/>
          <p:cNvSpPr/>
          <p:nvPr/>
        </p:nvSpPr>
        <p:spPr>
          <a:xfrm>
            <a:off x="11494008" y="1600200"/>
            <a:ext cx="100584" cy="100584"/>
          </a:xfrm>
          <a:prstGeom prst="ellipse">
            <a:avLst/>
          </a:prstGeom>
          <a:solidFill>
            <a:srgbClr val="2F3842"/>
          </a:solidFill>
          <a:ln w="12700">
            <a:solidFill>
              <a:srgbClr val="2F3842"/>
            </a:solidFill>
            <a:prstDash val="solid"/>
          </a:ln>
        </p:spPr>
        <p:txBody>
          <a:bodyPr/>
          <a:lstStyle/>
          <a:p>
            <a:endParaRPr lang="fr-FR"/>
          </a:p>
        </p:txBody>
      </p:sp>
      <p:sp>
        <p:nvSpPr>
          <p:cNvPr id="38" name="Patiente"/>
          <p:cNvSpPr/>
          <p:nvPr/>
        </p:nvSpPr>
        <p:spPr>
          <a:xfrm>
            <a:off x="6675120"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39" name="Patiente"/>
          <p:cNvSpPr/>
          <p:nvPr/>
        </p:nvSpPr>
        <p:spPr>
          <a:xfrm>
            <a:off x="6830568"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40" name="Patiente"/>
          <p:cNvSpPr/>
          <p:nvPr/>
        </p:nvSpPr>
        <p:spPr>
          <a:xfrm>
            <a:off x="6986016"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41" name="Patiente"/>
          <p:cNvSpPr/>
          <p:nvPr/>
        </p:nvSpPr>
        <p:spPr>
          <a:xfrm>
            <a:off x="7141464"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42" name="Patiente"/>
          <p:cNvSpPr/>
          <p:nvPr/>
        </p:nvSpPr>
        <p:spPr>
          <a:xfrm>
            <a:off x="7296912"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43" name="Patiente"/>
          <p:cNvSpPr/>
          <p:nvPr/>
        </p:nvSpPr>
        <p:spPr>
          <a:xfrm>
            <a:off x="7452360"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44" name="Patiente"/>
          <p:cNvSpPr/>
          <p:nvPr/>
        </p:nvSpPr>
        <p:spPr>
          <a:xfrm>
            <a:off x="7607808"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45" name="Patiente"/>
          <p:cNvSpPr/>
          <p:nvPr/>
        </p:nvSpPr>
        <p:spPr>
          <a:xfrm>
            <a:off x="7763256"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46" name="Patiente"/>
          <p:cNvSpPr/>
          <p:nvPr/>
        </p:nvSpPr>
        <p:spPr>
          <a:xfrm>
            <a:off x="7918704"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47" name="Patiente"/>
          <p:cNvSpPr/>
          <p:nvPr/>
        </p:nvSpPr>
        <p:spPr>
          <a:xfrm>
            <a:off x="8074152"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48" name="Patiente"/>
          <p:cNvSpPr/>
          <p:nvPr/>
        </p:nvSpPr>
        <p:spPr>
          <a:xfrm>
            <a:off x="8229600"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49" name="Patiente"/>
          <p:cNvSpPr/>
          <p:nvPr/>
        </p:nvSpPr>
        <p:spPr>
          <a:xfrm>
            <a:off x="8385048"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0" name="Patiente"/>
          <p:cNvSpPr/>
          <p:nvPr/>
        </p:nvSpPr>
        <p:spPr>
          <a:xfrm>
            <a:off x="8540496"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1" name="Patiente"/>
          <p:cNvSpPr/>
          <p:nvPr/>
        </p:nvSpPr>
        <p:spPr>
          <a:xfrm>
            <a:off x="8695944"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 name="Patiente"/>
          <p:cNvSpPr/>
          <p:nvPr/>
        </p:nvSpPr>
        <p:spPr>
          <a:xfrm>
            <a:off x="8851392"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3" name="Patiente"/>
          <p:cNvSpPr/>
          <p:nvPr/>
        </p:nvSpPr>
        <p:spPr>
          <a:xfrm>
            <a:off x="9006840"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 name="Patiente"/>
          <p:cNvSpPr/>
          <p:nvPr/>
        </p:nvSpPr>
        <p:spPr>
          <a:xfrm>
            <a:off x="9162288"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5" name="Patiente"/>
          <p:cNvSpPr/>
          <p:nvPr/>
        </p:nvSpPr>
        <p:spPr>
          <a:xfrm>
            <a:off x="9317736"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56" name="Patiente"/>
          <p:cNvSpPr/>
          <p:nvPr/>
        </p:nvSpPr>
        <p:spPr>
          <a:xfrm>
            <a:off x="9473184"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7" name="Patiente"/>
          <p:cNvSpPr/>
          <p:nvPr/>
        </p:nvSpPr>
        <p:spPr>
          <a:xfrm>
            <a:off x="9628632"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8" name="Patiente"/>
          <p:cNvSpPr/>
          <p:nvPr/>
        </p:nvSpPr>
        <p:spPr>
          <a:xfrm>
            <a:off x="9784080"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59" name="Patiente"/>
          <p:cNvSpPr/>
          <p:nvPr/>
        </p:nvSpPr>
        <p:spPr>
          <a:xfrm>
            <a:off x="9939528"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60" name="Patiente"/>
          <p:cNvSpPr/>
          <p:nvPr/>
        </p:nvSpPr>
        <p:spPr>
          <a:xfrm>
            <a:off x="10094976"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61" name="Patiente"/>
          <p:cNvSpPr/>
          <p:nvPr/>
        </p:nvSpPr>
        <p:spPr>
          <a:xfrm>
            <a:off x="10250424"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62" name="Patiente"/>
          <p:cNvSpPr/>
          <p:nvPr/>
        </p:nvSpPr>
        <p:spPr>
          <a:xfrm>
            <a:off x="10405872"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63" name="Patiente"/>
          <p:cNvSpPr/>
          <p:nvPr/>
        </p:nvSpPr>
        <p:spPr>
          <a:xfrm>
            <a:off x="10561320"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64" name="Patiente"/>
          <p:cNvSpPr/>
          <p:nvPr/>
        </p:nvSpPr>
        <p:spPr>
          <a:xfrm>
            <a:off x="10716768"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65" name="Patiente"/>
          <p:cNvSpPr/>
          <p:nvPr/>
        </p:nvSpPr>
        <p:spPr>
          <a:xfrm>
            <a:off x="10872216"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66" name="Patiente"/>
          <p:cNvSpPr/>
          <p:nvPr/>
        </p:nvSpPr>
        <p:spPr>
          <a:xfrm>
            <a:off x="11027664"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67" name="Patiente"/>
          <p:cNvSpPr/>
          <p:nvPr/>
        </p:nvSpPr>
        <p:spPr>
          <a:xfrm>
            <a:off x="11183112" y="1755648"/>
            <a:ext cx="100584" cy="100584"/>
          </a:xfrm>
          <a:prstGeom prst="ellipse">
            <a:avLst/>
          </a:prstGeom>
          <a:solidFill>
            <a:srgbClr val="0E8F7E"/>
          </a:solidFill>
          <a:ln w="12700">
            <a:solidFill>
              <a:srgbClr val="0E8F7E"/>
            </a:solidFill>
            <a:prstDash val="solid"/>
          </a:ln>
        </p:spPr>
        <p:txBody>
          <a:bodyPr/>
          <a:lstStyle/>
          <a:p>
            <a:endParaRPr lang="fr-FR"/>
          </a:p>
        </p:txBody>
      </p:sp>
      <p:sp>
        <p:nvSpPr>
          <p:cNvPr id="68" name="Patiente"/>
          <p:cNvSpPr/>
          <p:nvPr/>
        </p:nvSpPr>
        <p:spPr>
          <a:xfrm>
            <a:off x="11338560"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 name="Patiente"/>
          <p:cNvSpPr/>
          <p:nvPr/>
        </p:nvSpPr>
        <p:spPr>
          <a:xfrm>
            <a:off x="11494008" y="175564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 name="Patiente"/>
          <p:cNvSpPr/>
          <p:nvPr/>
        </p:nvSpPr>
        <p:spPr>
          <a:xfrm>
            <a:off x="6675120"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1" name="Patiente"/>
          <p:cNvSpPr/>
          <p:nvPr/>
        </p:nvSpPr>
        <p:spPr>
          <a:xfrm>
            <a:off x="6830568"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 name="Patiente"/>
          <p:cNvSpPr/>
          <p:nvPr/>
        </p:nvSpPr>
        <p:spPr>
          <a:xfrm>
            <a:off x="6986016"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3" name="Patiente"/>
          <p:cNvSpPr/>
          <p:nvPr/>
        </p:nvSpPr>
        <p:spPr>
          <a:xfrm>
            <a:off x="7141464"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4" name="Patiente"/>
          <p:cNvSpPr/>
          <p:nvPr/>
        </p:nvSpPr>
        <p:spPr>
          <a:xfrm>
            <a:off x="7296912"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5" name="Patiente"/>
          <p:cNvSpPr/>
          <p:nvPr/>
        </p:nvSpPr>
        <p:spPr>
          <a:xfrm>
            <a:off x="7452360"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6" name="Patiente"/>
          <p:cNvSpPr/>
          <p:nvPr/>
        </p:nvSpPr>
        <p:spPr>
          <a:xfrm>
            <a:off x="7607808"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7" name="Patiente"/>
          <p:cNvSpPr/>
          <p:nvPr/>
        </p:nvSpPr>
        <p:spPr>
          <a:xfrm>
            <a:off x="7763256"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8" name="Patiente"/>
          <p:cNvSpPr/>
          <p:nvPr/>
        </p:nvSpPr>
        <p:spPr>
          <a:xfrm>
            <a:off x="7918704"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79" name="Patiente"/>
          <p:cNvSpPr/>
          <p:nvPr/>
        </p:nvSpPr>
        <p:spPr>
          <a:xfrm>
            <a:off x="8074152"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80" name="Patiente"/>
          <p:cNvSpPr/>
          <p:nvPr/>
        </p:nvSpPr>
        <p:spPr>
          <a:xfrm>
            <a:off x="8229600"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81" name="Patiente"/>
          <p:cNvSpPr/>
          <p:nvPr/>
        </p:nvSpPr>
        <p:spPr>
          <a:xfrm>
            <a:off x="8385048"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2" name="Patiente"/>
          <p:cNvSpPr/>
          <p:nvPr/>
        </p:nvSpPr>
        <p:spPr>
          <a:xfrm>
            <a:off x="8540496"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3" name="Patiente"/>
          <p:cNvSpPr/>
          <p:nvPr/>
        </p:nvSpPr>
        <p:spPr>
          <a:xfrm>
            <a:off x="8695944"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4" name="Patiente"/>
          <p:cNvSpPr/>
          <p:nvPr/>
        </p:nvSpPr>
        <p:spPr>
          <a:xfrm>
            <a:off x="8851392"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5" name="Patiente"/>
          <p:cNvSpPr/>
          <p:nvPr/>
        </p:nvSpPr>
        <p:spPr>
          <a:xfrm>
            <a:off x="9006840"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6" name="Patiente"/>
          <p:cNvSpPr/>
          <p:nvPr/>
        </p:nvSpPr>
        <p:spPr>
          <a:xfrm>
            <a:off x="9162288"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7" name="Patiente"/>
          <p:cNvSpPr/>
          <p:nvPr/>
        </p:nvSpPr>
        <p:spPr>
          <a:xfrm>
            <a:off x="9317736"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88" name="Patiente"/>
          <p:cNvSpPr/>
          <p:nvPr/>
        </p:nvSpPr>
        <p:spPr>
          <a:xfrm>
            <a:off x="9473184"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89" name="Patiente"/>
          <p:cNvSpPr/>
          <p:nvPr/>
        </p:nvSpPr>
        <p:spPr>
          <a:xfrm>
            <a:off x="9628632"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0" name="Patiente"/>
          <p:cNvSpPr/>
          <p:nvPr/>
        </p:nvSpPr>
        <p:spPr>
          <a:xfrm>
            <a:off x="9784080"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91" name="Patiente"/>
          <p:cNvSpPr/>
          <p:nvPr/>
        </p:nvSpPr>
        <p:spPr>
          <a:xfrm>
            <a:off x="9939528"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92" name="Patiente"/>
          <p:cNvSpPr/>
          <p:nvPr/>
        </p:nvSpPr>
        <p:spPr>
          <a:xfrm>
            <a:off x="10094976"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3" name="Patiente"/>
          <p:cNvSpPr/>
          <p:nvPr/>
        </p:nvSpPr>
        <p:spPr>
          <a:xfrm>
            <a:off x="10250424"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4" name="Patiente"/>
          <p:cNvSpPr/>
          <p:nvPr/>
        </p:nvSpPr>
        <p:spPr>
          <a:xfrm>
            <a:off x="10405872"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5" name="Patiente"/>
          <p:cNvSpPr/>
          <p:nvPr/>
        </p:nvSpPr>
        <p:spPr>
          <a:xfrm>
            <a:off x="10561320"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6" name="Patiente"/>
          <p:cNvSpPr/>
          <p:nvPr/>
        </p:nvSpPr>
        <p:spPr>
          <a:xfrm>
            <a:off x="10716768"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97" name="Patiente"/>
          <p:cNvSpPr/>
          <p:nvPr/>
        </p:nvSpPr>
        <p:spPr>
          <a:xfrm>
            <a:off x="10872216"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8" name="Patiente"/>
          <p:cNvSpPr/>
          <p:nvPr/>
        </p:nvSpPr>
        <p:spPr>
          <a:xfrm>
            <a:off x="11027664"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99" name="Patiente"/>
          <p:cNvSpPr/>
          <p:nvPr/>
        </p:nvSpPr>
        <p:spPr>
          <a:xfrm>
            <a:off x="11183112"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100" name="Patiente"/>
          <p:cNvSpPr/>
          <p:nvPr/>
        </p:nvSpPr>
        <p:spPr>
          <a:xfrm>
            <a:off x="11338560" y="1911096"/>
            <a:ext cx="100584" cy="100584"/>
          </a:xfrm>
          <a:prstGeom prst="ellipse">
            <a:avLst/>
          </a:prstGeom>
          <a:solidFill>
            <a:srgbClr val="0E8F7E"/>
          </a:solidFill>
          <a:ln w="12700">
            <a:solidFill>
              <a:srgbClr val="0E8F7E"/>
            </a:solidFill>
            <a:prstDash val="solid"/>
          </a:ln>
        </p:spPr>
        <p:txBody>
          <a:bodyPr/>
          <a:lstStyle/>
          <a:p>
            <a:endParaRPr lang="fr-FR"/>
          </a:p>
        </p:txBody>
      </p:sp>
      <p:sp>
        <p:nvSpPr>
          <p:cNvPr id="101" name="Patiente"/>
          <p:cNvSpPr/>
          <p:nvPr/>
        </p:nvSpPr>
        <p:spPr>
          <a:xfrm>
            <a:off x="11494008" y="1911096"/>
            <a:ext cx="100584" cy="100584"/>
          </a:xfrm>
          <a:prstGeom prst="ellipse">
            <a:avLst/>
          </a:prstGeom>
          <a:solidFill>
            <a:srgbClr val="2F3842"/>
          </a:solidFill>
          <a:ln w="12700">
            <a:solidFill>
              <a:srgbClr val="2F3842"/>
            </a:solidFill>
            <a:prstDash val="solid"/>
          </a:ln>
        </p:spPr>
        <p:txBody>
          <a:bodyPr/>
          <a:lstStyle/>
          <a:p>
            <a:endParaRPr lang="fr-FR"/>
          </a:p>
        </p:txBody>
      </p:sp>
      <p:sp>
        <p:nvSpPr>
          <p:cNvPr id="102" name="Patiente"/>
          <p:cNvSpPr/>
          <p:nvPr/>
        </p:nvSpPr>
        <p:spPr>
          <a:xfrm>
            <a:off x="6675120"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03" name="Patiente"/>
          <p:cNvSpPr/>
          <p:nvPr/>
        </p:nvSpPr>
        <p:spPr>
          <a:xfrm>
            <a:off x="6830568"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04" name="Patiente"/>
          <p:cNvSpPr/>
          <p:nvPr/>
        </p:nvSpPr>
        <p:spPr>
          <a:xfrm>
            <a:off x="6986016"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05" name="Patiente"/>
          <p:cNvSpPr/>
          <p:nvPr/>
        </p:nvSpPr>
        <p:spPr>
          <a:xfrm>
            <a:off x="7141464"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06" name="Patiente"/>
          <p:cNvSpPr/>
          <p:nvPr/>
        </p:nvSpPr>
        <p:spPr>
          <a:xfrm>
            <a:off x="7296912"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07" name="Patiente"/>
          <p:cNvSpPr/>
          <p:nvPr/>
        </p:nvSpPr>
        <p:spPr>
          <a:xfrm>
            <a:off x="7452360"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08" name="Patiente"/>
          <p:cNvSpPr/>
          <p:nvPr/>
        </p:nvSpPr>
        <p:spPr>
          <a:xfrm>
            <a:off x="7607808"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09" name="Patiente"/>
          <p:cNvSpPr/>
          <p:nvPr/>
        </p:nvSpPr>
        <p:spPr>
          <a:xfrm>
            <a:off x="7763256"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0" name="Patiente"/>
          <p:cNvSpPr/>
          <p:nvPr/>
        </p:nvSpPr>
        <p:spPr>
          <a:xfrm>
            <a:off x="7918704"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1" name="Patiente"/>
          <p:cNvSpPr/>
          <p:nvPr/>
        </p:nvSpPr>
        <p:spPr>
          <a:xfrm>
            <a:off x="8074152"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2" name="Patiente"/>
          <p:cNvSpPr/>
          <p:nvPr/>
        </p:nvSpPr>
        <p:spPr>
          <a:xfrm>
            <a:off x="8229600"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3" name="Patiente"/>
          <p:cNvSpPr/>
          <p:nvPr/>
        </p:nvSpPr>
        <p:spPr>
          <a:xfrm>
            <a:off x="8385048"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14" name="Patiente"/>
          <p:cNvSpPr/>
          <p:nvPr/>
        </p:nvSpPr>
        <p:spPr>
          <a:xfrm>
            <a:off x="8540496"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15" name="Patiente"/>
          <p:cNvSpPr/>
          <p:nvPr/>
        </p:nvSpPr>
        <p:spPr>
          <a:xfrm>
            <a:off x="8695944"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6" name="Patiente"/>
          <p:cNvSpPr/>
          <p:nvPr/>
        </p:nvSpPr>
        <p:spPr>
          <a:xfrm>
            <a:off x="8851392"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7" name="Patiente"/>
          <p:cNvSpPr/>
          <p:nvPr/>
        </p:nvSpPr>
        <p:spPr>
          <a:xfrm>
            <a:off x="9006840"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18" name="Patiente"/>
          <p:cNvSpPr/>
          <p:nvPr/>
        </p:nvSpPr>
        <p:spPr>
          <a:xfrm>
            <a:off x="9162288"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19" name="Patiente"/>
          <p:cNvSpPr/>
          <p:nvPr/>
        </p:nvSpPr>
        <p:spPr>
          <a:xfrm>
            <a:off x="9317736"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0" name="Patiente"/>
          <p:cNvSpPr/>
          <p:nvPr/>
        </p:nvSpPr>
        <p:spPr>
          <a:xfrm>
            <a:off x="9473184"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1" name="Patiente"/>
          <p:cNvSpPr/>
          <p:nvPr/>
        </p:nvSpPr>
        <p:spPr>
          <a:xfrm>
            <a:off x="9628632"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2" name="Patiente"/>
          <p:cNvSpPr/>
          <p:nvPr/>
        </p:nvSpPr>
        <p:spPr>
          <a:xfrm>
            <a:off x="9784080"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3" name="Patiente"/>
          <p:cNvSpPr/>
          <p:nvPr/>
        </p:nvSpPr>
        <p:spPr>
          <a:xfrm>
            <a:off x="9939528"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24" name="Patiente"/>
          <p:cNvSpPr/>
          <p:nvPr/>
        </p:nvSpPr>
        <p:spPr>
          <a:xfrm>
            <a:off x="10094976"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5" name="Patiente"/>
          <p:cNvSpPr/>
          <p:nvPr/>
        </p:nvSpPr>
        <p:spPr>
          <a:xfrm>
            <a:off x="10250424"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6" name="Patiente"/>
          <p:cNvSpPr/>
          <p:nvPr/>
        </p:nvSpPr>
        <p:spPr>
          <a:xfrm>
            <a:off x="10405872"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7" name="Patiente"/>
          <p:cNvSpPr/>
          <p:nvPr/>
        </p:nvSpPr>
        <p:spPr>
          <a:xfrm>
            <a:off x="10561320"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28" name="Patiente"/>
          <p:cNvSpPr/>
          <p:nvPr/>
        </p:nvSpPr>
        <p:spPr>
          <a:xfrm>
            <a:off x="10716768"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29" name="Patiente"/>
          <p:cNvSpPr/>
          <p:nvPr/>
        </p:nvSpPr>
        <p:spPr>
          <a:xfrm>
            <a:off x="10872216"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30" name="Patiente"/>
          <p:cNvSpPr/>
          <p:nvPr/>
        </p:nvSpPr>
        <p:spPr>
          <a:xfrm>
            <a:off x="11027664"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31" name="Patiente"/>
          <p:cNvSpPr/>
          <p:nvPr/>
        </p:nvSpPr>
        <p:spPr>
          <a:xfrm>
            <a:off x="11183112"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32" name="Patiente"/>
          <p:cNvSpPr/>
          <p:nvPr/>
        </p:nvSpPr>
        <p:spPr>
          <a:xfrm>
            <a:off x="11338560" y="2066544"/>
            <a:ext cx="100584" cy="100584"/>
          </a:xfrm>
          <a:prstGeom prst="ellipse">
            <a:avLst/>
          </a:prstGeom>
          <a:solidFill>
            <a:srgbClr val="2F3842"/>
          </a:solidFill>
          <a:ln w="12700">
            <a:solidFill>
              <a:srgbClr val="2F3842"/>
            </a:solidFill>
            <a:prstDash val="solid"/>
          </a:ln>
        </p:spPr>
        <p:txBody>
          <a:bodyPr/>
          <a:lstStyle/>
          <a:p>
            <a:endParaRPr lang="fr-FR"/>
          </a:p>
        </p:txBody>
      </p:sp>
      <p:sp>
        <p:nvSpPr>
          <p:cNvPr id="133" name="Patiente"/>
          <p:cNvSpPr/>
          <p:nvPr/>
        </p:nvSpPr>
        <p:spPr>
          <a:xfrm>
            <a:off x="11494008" y="2066544"/>
            <a:ext cx="100584" cy="100584"/>
          </a:xfrm>
          <a:prstGeom prst="ellipse">
            <a:avLst/>
          </a:prstGeom>
          <a:solidFill>
            <a:srgbClr val="0E8F7E"/>
          </a:solidFill>
          <a:ln w="12700">
            <a:solidFill>
              <a:srgbClr val="0E8F7E"/>
            </a:solidFill>
            <a:prstDash val="solid"/>
          </a:ln>
        </p:spPr>
        <p:txBody>
          <a:bodyPr/>
          <a:lstStyle/>
          <a:p>
            <a:endParaRPr lang="fr-FR"/>
          </a:p>
        </p:txBody>
      </p:sp>
      <p:sp>
        <p:nvSpPr>
          <p:cNvPr id="134" name="Patiente"/>
          <p:cNvSpPr/>
          <p:nvPr/>
        </p:nvSpPr>
        <p:spPr>
          <a:xfrm>
            <a:off x="6675120"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35" name="Patiente"/>
          <p:cNvSpPr/>
          <p:nvPr/>
        </p:nvSpPr>
        <p:spPr>
          <a:xfrm>
            <a:off x="6830568"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36" name="Patiente"/>
          <p:cNvSpPr/>
          <p:nvPr/>
        </p:nvSpPr>
        <p:spPr>
          <a:xfrm>
            <a:off x="6986016"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37" name="Patiente"/>
          <p:cNvSpPr/>
          <p:nvPr/>
        </p:nvSpPr>
        <p:spPr>
          <a:xfrm>
            <a:off x="7141464"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38" name="Patiente"/>
          <p:cNvSpPr/>
          <p:nvPr/>
        </p:nvSpPr>
        <p:spPr>
          <a:xfrm>
            <a:off x="7296912"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39" name="Patiente"/>
          <p:cNvSpPr/>
          <p:nvPr/>
        </p:nvSpPr>
        <p:spPr>
          <a:xfrm>
            <a:off x="7452360"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40" name="Patiente"/>
          <p:cNvSpPr/>
          <p:nvPr/>
        </p:nvSpPr>
        <p:spPr>
          <a:xfrm>
            <a:off x="7607808"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41" name="Patiente"/>
          <p:cNvSpPr/>
          <p:nvPr/>
        </p:nvSpPr>
        <p:spPr>
          <a:xfrm>
            <a:off x="7763256"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42" name="Patiente"/>
          <p:cNvSpPr/>
          <p:nvPr/>
        </p:nvSpPr>
        <p:spPr>
          <a:xfrm>
            <a:off x="7918704"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43" name="Patiente"/>
          <p:cNvSpPr/>
          <p:nvPr/>
        </p:nvSpPr>
        <p:spPr>
          <a:xfrm>
            <a:off x="8074152"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44" name="Patiente"/>
          <p:cNvSpPr/>
          <p:nvPr/>
        </p:nvSpPr>
        <p:spPr>
          <a:xfrm>
            <a:off x="8229600"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45" name="Patiente"/>
          <p:cNvSpPr/>
          <p:nvPr/>
        </p:nvSpPr>
        <p:spPr>
          <a:xfrm>
            <a:off x="8385048"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46" name="Patiente"/>
          <p:cNvSpPr/>
          <p:nvPr/>
        </p:nvSpPr>
        <p:spPr>
          <a:xfrm>
            <a:off x="8540496"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47" name="Patiente"/>
          <p:cNvSpPr/>
          <p:nvPr/>
        </p:nvSpPr>
        <p:spPr>
          <a:xfrm>
            <a:off x="8695944"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48" name="Patiente"/>
          <p:cNvSpPr/>
          <p:nvPr/>
        </p:nvSpPr>
        <p:spPr>
          <a:xfrm>
            <a:off x="8851392"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49" name="Patiente"/>
          <p:cNvSpPr/>
          <p:nvPr/>
        </p:nvSpPr>
        <p:spPr>
          <a:xfrm>
            <a:off x="9006840"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0" name="Patiente"/>
          <p:cNvSpPr/>
          <p:nvPr/>
        </p:nvSpPr>
        <p:spPr>
          <a:xfrm>
            <a:off x="9162288"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51" name="Patiente"/>
          <p:cNvSpPr/>
          <p:nvPr/>
        </p:nvSpPr>
        <p:spPr>
          <a:xfrm>
            <a:off x="9317736"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2" name="Patiente"/>
          <p:cNvSpPr/>
          <p:nvPr/>
        </p:nvSpPr>
        <p:spPr>
          <a:xfrm>
            <a:off x="9473184"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53" name="Patiente"/>
          <p:cNvSpPr/>
          <p:nvPr/>
        </p:nvSpPr>
        <p:spPr>
          <a:xfrm>
            <a:off x="9628632"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4" name="Patiente"/>
          <p:cNvSpPr/>
          <p:nvPr/>
        </p:nvSpPr>
        <p:spPr>
          <a:xfrm>
            <a:off x="9784080"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5" name="Patiente"/>
          <p:cNvSpPr/>
          <p:nvPr/>
        </p:nvSpPr>
        <p:spPr>
          <a:xfrm>
            <a:off x="9939528"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6" name="Patiente"/>
          <p:cNvSpPr/>
          <p:nvPr/>
        </p:nvSpPr>
        <p:spPr>
          <a:xfrm>
            <a:off x="10094976"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7" name="Patiente"/>
          <p:cNvSpPr/>
          <p:nvPr/>
        </p:nvSpPr>
        <p:spPr>
          <a:xfrm>
            <a:off x="10250424"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8" name="Patiente"/>
          <p:cNvSpPr/>
          <p:nvPr/>
        </p:nvSpPr>
        <p:spPr>
          <a:xfrm>
            <a:off x="10405872"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59" name="Patiente"/>
          <p:cNvSpPr/>
          <p:nvPr/>
        </p:nvSpPr>
        <p:spPr>
          <a:xfrm>
            <a:off x="10561320"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60" name="Patiente"/>
          <p:cNvSpPr/>
          <p:nvPr/>
        </p:nvSpPr>
        <p:spPr>
          <a:xfrm>
            <a:off x="10716768"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61" name="Patiente"/>
          <p:cNvSpPr/>
          <p:nvPr/>
        </p:nvSpPr>
        <p:spPr>
          <a:xfrm>
            <a:off x="10872216"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62" name="Patiente"/>
          <p:cNvSpPr/>
          <p:nvPr/>
        </p:nvSpPr>
        <p:spPr>
          <a:xfrm>
            <a:off x="11027664"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63" name="Patiente"/>
          <p:cNvSpPr/>
          <p:nvPr/>
        </p:nvSpPr>
        <p:spPr>
          <a:xfrm>
            <a:off x="11183112"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64" name="Patiente"/>
          <p:cNvSpPr/>
          <p:nvPr/>
        </p:nvSpPr>
        <p:spPr>
          <a:xfrm>
            <a:off x="11338560" y="2221992"/>
            <a:ext cx="100584" cy="100584"/>
          </a:xfrm>
          <a:prstGeom prst="ellipse">
            <a:avLst/>
          </a:prstGeom>
          <a:solidFill>
            <a:srgbClr val="0E8F7E"/>
          </a:solidFill>
          <a:ln w="12700">
            <a:solidFill>
              <a:srgbClr val="0E8F7E"/>
            </a:solidFill>
            <a:prstDash val="solid"/>
          </a:ln>
        </p:spPr>
        <p:txBody>
          <a:bodyPr/>
          <a:lstStyle/>
          <a:p>
            <a:endParaRPr lang="fr-FR"/>
          </a:p>
        </p:txBody>
      </p:sp>
      <p:sp>
        <p:nvSpPr>
          <p:cNvPr id="165" name="Patiente"/>
          <p:cNvSpPr/>
          <p:nvPr/>
        </p:nvSpPr>
        <p:spPr>
          <a:xfrm>
            <a:off x="11494008" y="2221992"/>
            <a:ext cx="100584" cy="100584"/>
          </a:xfrm>
          <a:prstGeom prst="ellipse">
            <a:avLst/>
          </a:prstGeom>
          <a:solidFill>
            <a:srgbClr val="2F3842"/>
          </a:solidFill>
          <a:ln w="12700">
            <a:solidFill>
              <a:srgbClr val="2F3842"/>
            </a:solidFill>
            <a:prstDash val="solid"/>
          </a:ln>
        </p:spPr>
        <p:txBody>
          <a:bodyPr/>
          <a:lstStyle/>
          <a:p>
            <a:endParaRPr lang="fr-FR"/>
          </a:p>
        </p:txBody>
      </p:sp>
      <p:sp>
        <p:nvSpPr>
          <p:cNvPr id="166" name="Patiente"/>
          <p:cNvSpPr/>
          <p:nvPr/>
        </p:nvSpPr>
        <p:spPr>
          <a:xfrm>
            <a:off x="6675120"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67" name="Patiente"/>
          <p:cNvSpPr/>
          <p:nvPr/>
        </p:nvSpPr>
        <p:spPr>
          <a:xfrm>
            <a:off x="6830568"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68" name="Patiente"/>
          <p:cNvSpPr/>
          <p:nvPr/>
        </p:nvSpPr>
        <p:spPr>
          <a:xfrm>
            <a:off x="6986016"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69" name="Patiente"/>
          <p:cNvSpPr/>
          <p:nvPr/>
        </p:nvSpPr>
        <p:spPr>
          <a:xfrm>
            <a:off x="7141464"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70" name="Patiente"/>
          <p:cNvSpPr/>
          <p:nvPr/>
        </p:nvSpPr>
        <p:spPr>
          <a:xfrm>
            <a:off x="7296912"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71" name="Patiente"/>
          <p:cNvSpPr/>
          <p:nvPr/>
        </p:nvSpPr>
        <p:spPr>
          <a:xfrm>
            <a:off x="7452360"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72" name="Patiente"/>
          <p:cNvSpPr/>
          <p:nvPr/>
        </p:nvSpPr>
        <p:spPr>
          <a:xfrm>
            <a:off x="7607808"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73" name="Patiente"/>
          <p:cNvSpPr/>
          <p:nvPr/>
        </p:nvSpPr>
        <p:spPr>
          <a:xfrm>
            <a:off x="7763256"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74" name="Patiente"/>
          <p:cNvSpPr/>
          <p:nvPr/>
        </p:nvSpPr>
        <p:spPr>
          <a:xfrm>
            <a:off x="7918704"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75" name="Patiente"/>
          <p:cNvSpPr/>
          <p:nvPr/>
        </p:nvSpPr>
        <p:spPr>
          <a:xfrm>
            <a:off x="8074152"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76" name="Patiente"/>
          <p:cNvSpPr/>
          <p:nvPr/>
        </p:nvSpPr>
        <p:spPr>
          <a:xfrm>
            <a:off x="8229600"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77" name="Patiente"/>
          <p:cNvSpPr/>
          <p:nvPr/>
        </p:nvSpPr>
        <p:spPr>
          <a:xfrm>
            <a:off x="8385048"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78" name="Patiente"/>
          <p:cNvSpPr/>
          <p:nvPr/>
        </p:nvSpPr>
        <p:spPr>
          <a:xfrm>
            <a:off x="8540496"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79" name="Patiente"/>
          <p:cNvSpPr/>
          <p:nvPr/>
        </p:nvSpPr>
        <p:spPr>
          <a:xfrm>
            <a:off x="8695944"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80" name="Patiente"/>
          <p:cNvSpPr/>
          <p:nvPr/>
        </p:nvSpPr>
        <p:spPr>
          <a:xfrm>
            <a:off x="8851392"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81" name="Patiente"/>
          <p:cNvSpPr/>
          <p:nvPr/>
        </p:nvSpPr>
        <p:spPr>
          <a:xfrm>
            <a:off x="9006840"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2" name="Patiente"/>
          <p:cNvSpPr/>
          <p:nvPr/>
        </p:nvSpPr>
        <p:spPr>
          <a:xfrm>
            <a:off x="9162288"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3" name="Patiente"/>
          <p:cNvSpPr/>
          <p:nvPr/>
        </p:nvSpPr>
        <p:spPr>
          <a:xfrm>
            <a:off x="9317736"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4" name="Patiente"/>
          <p:cNvSpPr/>
          <p:nvPr/>
        </p:nvSpPr>
        <p:spPr>
          <a:xfrm>
            <a:off x="9473184"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5" name="Patiente"/>
          <p:cNvSpPr/>
          <p:nvPr/>
        </p:nvSpPr>
        <p:spPr>
          <a:xfrm>
            <a:off x="9628632"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86" name="Patiente"/>
          <p:cNvSpPr/>
          <p:nvPr/>
        </p:nvSpPr>
        <p:spPr>
          <a:xfrm>
            <a:off x="9784080"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7" name="Patiente"/>
          <p:cNvSpPr/>
          <p:nvPr/>
        </p:nvSpPr>
        <p:spPr>
          <a:xfrm>
            <a:off x="9939528"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88" name="Patiente"/>
          <p:cNvSpPr/>
          <p:nvPr/>
        </p:nvSpPr>
        <p:spPr>
          <a:xfrm>
            <a:off x="10094976"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89" name="Patiente"/>
          <p:cNvSpPr/>
          <p:nvPr/>
        </p:nvSpPr>
        <p:spPr>
          <a:xfrm>
            <a:off x="10250424"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0" name="Patiente"/>
          <p:cNvSpPr/>
          <p:nvPr/>
        </p:nvSpPr>
        <p:spPr>
          <a:xfrm>
            <a:off x="10405872"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1" name="Patiente"/>
          <p:cNvSpPr/>
          <p:nvPr/>
        </p:nvSpPr>
        <p:spPr>
          <a:xfrm>
            <a:off x="10561320"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2" name="Patiente"/>
          <p:cNvSpPr/>
          <p:nvPr/>
        </p:nvSpPr>
        <p:spPr>
          <a:xfrm>
            <a:off x="10716768"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3" name="Patiente"/>
          <p:cNvSpPr/>
          <p:nvPr/>
        </p:nvSpPr>
        <p:spPr>
          <a:xfrm>
            <a:off x="10872216"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4" name="Patiente"/>
          <p:cNvSpPr/>
          <p:nvPr/>
        </p:nvSpPr>
        <p:spPr>
          <a:xfrm>
            <a:off x="11027664"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5" name="Patiente"/>
          <p:cNvSpPr/>
          <p:nvPr/>
        </p:nvSpPr>
        <p:spPr>
          <a:xfrm>
            <a:off x="11183112"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6" name="Patiente"/>
          <p:cNvSpPr/>
          <p:nvPr/>
        </p:nvSpPr>
        <p:spPr>
          <a:xfrm>
            <a:off x="11338560" y="2377440"/>
            <a:ext cx="100584" cy="100584"/>
          </a:xfrm>
          <a:prstGeom prst="ellipse">
            <a:avLst/>
          </a:prstGeom>
          <a:solidFill>
            <a:srgbClr val="0E8F7E"/>
          </a:solidFill>
          <a:ln w="12700">
            <a:solidFill>
              <a:srgbClr val="0E8F7E"/>
            </a:solidFill>
            <a:prstDash val="solid"/>
          </a:ln>
        </p:spPr>
        <p:txBody>
          <a:bodyPr/>
          <a:lstStyle/>
          <a:p>
            <a:endParaRPr lang="fr-FR"/>
          </a:p>
        </p:txBody>
      </p:sp>
      <p:sp>
        <p:nvSpPr>
          <p:cNvPr id="197" name="Patiente"/>
          <p:cNvSpPr/>
          <p:nvPr/>
        </p:nvSpPr>
        <p:spPr>
          <a:xfrm>
            <a:off x="11494008" y="2377440"/>
            <a:ext cx="100584" cy="100584"/>
          </a:xfrm>
          <a:prstGeom prst="ellipse">
            <a:avLst/>
          </a:prstGeom>
          <a:solidFill>
            <a:srgbClr val="2F3842"/>
          </a:solidFill>
          <a:ln w="12700">
            <a:solidFill>
              <a:srgbClr val="2F3842"/>
            </a:solidFill>
            <a:prstDash val="solid"/>
          </a:ln>
        </p:spPr>
        <p:txBody>
          <a:bodyPr/>
          <a:lstStyle/>
          <a:p>
            <a:endParaRPr lang="fr-FR"/>
          </a:p>
        </p:txBody>
      </p:sp>
      <p:sp>
        <p:nvSpPr>
          <p:cNvPr id="198" name="Patiente"/>
          <p:cNvSpPr/>
          <p:nvPr/>
        </p:nvSpPr>
        <p:spPr>
          <a:xfrm>
            <a:off x="667512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199" name="Patiente"/>
          <p:cNvSpPr/>
          <p:nvPr/>
        </p:nvSpPr>
        <p:spPr>
          <a:xfrm>
            <a:off x="6830568"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0" name="Patiente"/>
          <p:cNvSpPr/>
          <p:nvPr/>
        </p:nvSpPr>
        <p:spPr>
          <a:xfrm>
            <a:off x="6986016"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01" name="Patiente"/>
          <p:cNvSpPr/>
          <p:nvPr/>
        </p:nvSpPr>
        <p:spPr>
          <a:xfrm>
            <a:off x="7141464"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2" name="Patiente"/>
          <p:cNvSpPr/>
          <p:nvPr/>
        </p:nvSpPr>
        <p:spPr>
          <a:xfrm>
            <a:off x="7296912"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3" name="Patiente"/>
          <p:cNvSpPr/>
          <p:nvPr/>
        </p:nvSpPr>
        <p:spPr>
          <a:xfrm>
            <a:off x="745236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4" name="Patiente"/>
          <p:cNvSpPr/>
          <p:nvPr/>
        </p:nvSpPr>
        <p:spPr>
          <a:xfrm>
            <a:off x="7607808"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5" name="Patiente"/>
          <p:cNvSpPr/>
          <p:nvPr/>
        </p:nvSpPr>
        <p:spPr>
          <a:xfrm>
            <a:off x="7763256"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06" name="Patiente"/>
          <p:cNvSpPr/>
          <p:nvPr/>
        </p:nvSpPr>
        <p:spPr>
          <a:xfrm>
            <a:off x="7918704"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7" name="Patiente"/>
          <p:cNvSpPr/>
          <p:nvPr/>
        </p:nvSpPr>
        <p:spPr>
          <a:xfrm>
            <a:off x="8074152"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8" name="Patiente"/>
          <p:cNvSpPr/>
          <p:nvPr/>
        </p:nvSpPr>
        <p:spPr>
          <a:xfrm>
            <a:off x="822960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09" name="Patiente"/>
          <p:cNvSpPr/>
          <p:nvPr/>
        </p:nvSpPr>
        <p:spPr>
          <a:xfrm>
            <a:off x="8385048"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10" name="Patiente"/>
          <p:cNvSpPr/>
          <p:nvPr/>
        </p:nvSpPr>
        <p:spPr>
          <a:xfrm>
            <a:off x="8540496"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11" name="Patiente"/>
          <p:cNvSpPr/>
          <p:nvPr/>
        </p:nvSpPr>
        <p:spPr>
          <a:xfrm>
            <a:off x="8695944"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12" name="Patiente"/>
          <p:cNvSpPr/>
          <p:nvPr/>
        </p:nvSpPr>
        <p:spPr>
          <a:xfrm>
            <a:off x="8851392"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13" name="Patiente"/>
          <p:cNvSpPr/>
          <p:nvPr/>
        </p:nvSpPr>
        <p:spPr>
          <a:xfrm>
            <a:off x="900684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14" name="Patiente"/>
          <p:cNvSpPr/>
          <p:nvPr/>
        </p:nvSpPr>
        <p:spPr>
          <a:xfrm>
            <a:off x="9162288"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15" name="Patiente"/>
          <p:cNvSpPr/>
          <p:nvPr/>
        </p:nvSpPr>
        <p:spPr>
          <a:xfrm>
            <a:off x="9317736"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16" name="Patiente"/>
          <p:cNvSpPr/>
          <p:nvPr/>
        </p:nvSpPr>
        <p:spPr>
          <a:xfrm>
            <a:off x="9473184"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17" name="Patiente"/>
          <p:cNvSpPr/>
          <p:nvPr/>
        </p:nvSpPr>
        <p:spPr>
          <a:xfrm>
            <a:off x="9628632"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18" name="Patiente"/>
          <p:cNvSpPr/>
          <p:nvPr/>
        </p:nvSpPr>
        <p:spPr>
          <a:xfrm>
            <a:off x="978408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19" name="Patiente"/>
          <p:cNvSpPr/>
          <p:nvPr/>
        </p:nvSpPr>
        <p:spPr>
          <a:xfrm>
            <a:off x="9939528"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20" name="Patiente"/>
          <p:cNvSpPr/>
          <p:nvPr/>
        </p:nvSpPr>
        <p:spPr>
          <a:xfrm>
            <a:off x="10094976"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1" name="Patiente"/>
          <p:cNvSpPr/>
          <p:nvPr/>
        </p:nvSpPr>
        <p:spPr>
          <a:xfrm>
            <a:off x="10250424"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2" name="Patiente"/>
          <p:cNvSpPr/>
          <p:nvPr/>
        </p:nvSpPr>
        <p:spPr>
          <a:xfrm>
            <a:off x="10405872"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3" name="Patiente"/>
          <p:cNvSpPr/>
          <p:nvPr/>
        </p:nvSpPr>
        <p:spPr>
          <a:xfrm>
            <a:off x="1056132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4" name="Patiente"/>
          <p:cNvSpPr/>
          <p:nvPr/>
        </p:nvSpPr>
        <p:spPr>
          <a:xfrm>
            <a:off x="10716768"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5" name="Patiente"/>
          <p:cNvSpPr/>
          <p:nvPr/>
        </p:nvSpPr>
        <p:spPr>
          <a:xfrm>
            <a:off x="10872216"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6" name="Patiente"/>
          <p:cNvSpPr/>
          <p:nvPr/>
        </p:nvSpPr>
        <p:spPr>
          <a:xfrm>
            <a:off x="11027664"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7" name="Patiente"/>
          <p:cNvSpPr/>
          <p:nvPr/>
        </p:nvSpPr>
        <p:spPr>
          <a:xfrm>
            <a:off x="11183112" y="2532888"/>
            <a:ext cx="100584" cy="100584"/>
          </a:xfrm>
          <a:prstGeom prst="ellipse">
            <a:avLst/>
          </a:prstGeom>
          <a:solidFill>
            <a:srgbClr val="0E8F7E"/>
          </a:solidFill>
          <a:ln w="12700">
            <a:solidFill>
              <a:srgbClr val="0E8F7E"/>
            </a:solidFill>
            <a:prstDash val="solid"/>
          </a:ln>
        </p:spPr>
        <p:txBody>
          <a:bodyPr/>
          <a:lstStyle/>
          <a:p>
            <a:endParaRPr lang="fr-FR"/>
          </a:p>
        </p:txBody>
      </p:sp>
      <p:sp>
        <p:nvSpPr>
          <p:cNvPr id="228" name="Patiente"/>
          <p:cNvSpPr/>
          <p:nvPr/>
        </p:nvSpPr>
        <p:spPr>
          <a:xfrm>
            <a:off x="11338560"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29" name="Patiente"/>
          <p:cNvSpPr/>
          <p:nvPr/>
        </p:nvSpPr>
        <p:spPr>
          <a:xfrm>
            <a:off x="11494008" y="2532888"/>
            <a:ext cx="100584" cy="100584"/>
          </a:xfrm>
          <a:prstGeom prst="ellipse">
            <a:avLst/>
          </a:prstGeom>
          <a:solidFill>
            <a:srgbClr val="2F3842"/>
          </a:solidFill>
          <a:ln w="12700">
            <a:solidFill>
              <a:srgbClr val="2F3842"/>
            </a:solidFill>
            <a:prstDash val="solid"/>
          </a:ln>
        </p:spPr>
        <p:txBody>
          <a:bodyPr/>
          <a:lstStyle/>
          <a:p>
            <a:endParaRPr lang="fr-FR"/>
          </a:p>
        </p:txBody>
      </p:sp>
      <p:sp>
        <p:nvSpPr>
          <p:cNvPr id="230" name="Patiente"/>
          <p:cNvSpPr/>
          <p:nvPr/>
        </p:nvSpPr>
        <p:spPr>
          <a:xfrm>
            <a:off x="6675120"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31" name="Patiente"/>
          <p:cNvSpPr/>
          <p:nvPr/>
        </p:nvSpPr>
        <p:spPr>
          <a:xfrm>
            <a:off x="6830568"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32" name="Patiente"/>
          <p:cNvSpPr/>
          <p:nvPr/>
        </p:nvSpPr>
        <p:spPr>
          <a:xfrm>
            <a:off x="6986016"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33" name="Patiente"/>
          <p:cNvSpPr/>
          <p:nvPr/>
        </p:nvSpPr>
        <p:spPr>
          <a:xfrm>
            <a:off x="7141464"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34" name="Patiente"/>
          <p:cNvSpPr/>
          <p:nvPr/>
        </p:nvSpPr>
        <p:spPr>
          <a:xfrm>
            <a:off x="7296912"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35" name="Patiente"/>
          <p:cNvSpPr/>
          <p:nvPr/>
        </p:nvSpPr>
        <p:spPr>
          <a:xfrm>
            <a:off x="7452360"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36" name="Patiente"/>
          <p:cNvSpPr/>
          <p:nvPr/>
        </p:nvSpPr>
        <p:spPr>
          <a:xfrm>
            <a:off x="7607808"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37" name="Patiente"/>
          <p:cNvSpPr/>
          <p:nvPr/>
        </p:nvSpPr>
        <p:spPr>
          <a:xfrm>
            <a:off x="7763256"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38" name="Patiente"/>
          <p:cNvSpPr/>
          <p:nvPr/>
        </p:nvSpPr>
        <p:spPr>
          <a:xfrm>
            <a:off x="7918704"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39" name="Patiente"/>
          <p:cNvSpPr/>
          <p:nvPr/>
        </p:nvSpPr>
        <p:spPr>
          <a:xfrm>
            <a:off x="8074152"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40" name="Patiente"/>
          <p:cNvSpPr/>
          <p:nvPr/>
        </p:nvSpPr>
        <p:spPr>
          <a:xfrm>
            <a:off x="8229600"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41" name="Patiente"/>
          <p:cNvSpPr/>
          <p:nvPr/>
        </p:nvSpPr>
        <p:spPr>
          <a:xfrm>
            <a:off x="8385048"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42" name="Patiente"/>
          <p:cNvSpPr/>
          <p:nvPr/>
        </p:nvSpPr>
        <p:spPr>
          <a:xfrm>
            <a:off x="8540496"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43" name="Patiente"/>
          <p:cNvSpPr/>
          <p:nvPr/>
        </p:nvSpPr>
        <p:spPr>
          <a:xfrm>
            <a:off x="8695944"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44" name="Patiente"/>
          <p:cNvSpPr/>
          <p:nvPr/>
        </p:nvSpPr>
        <p:spPr>
          <a:xfrm>
            <a:off x="8851392"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45" name="Patiente"/>
          <p:cNvSpPr/>
          <p:nvPr/>
        </p:nvSpPr>
        <p:spPr>
          <a:xfrm>
            <a:off x="9006840"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46" name="Patiente"/>
          <p:cNvSpPr/>
          <p:nvPr/>
        </p:nvSpPr>
        <p:spPr>
          <a:xfrm>
            <a:off x="9162288"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47" name="Patiente"/>
          <p:cNvSpPr/>
          <p:nvPr/>
        </p:nvSpPr>
        <p:spPr>
          <a:xfrm>
            <a:off x="9317736"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48" name="Patiente"/>
          <p:cNvSpPr/>
          <p:nvPr/>
        </p:nvSpPr>
        <p:spPr>
          <a:xfrm>
            <a:off x="9473184"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49" name="Patiente"/>
          <p:cNvSpPr/>
          <p:nvPr/>
        </p:nvSpPr>
        <p:spPr>
          <a:xfrm>
            <a:off x="9628632"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50" name="Patiente"/>
          <p:cNvSpPr/>
          <p:nvPr/>
        </p:nvSpPr>
        <p:spPr>
          <a:xfrm>
            <a:off x="9784080"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51" name="Patiente"/>
          <p:cNvSpPr/>
          <p:nvPr/>
        </p:nvSpPr>
        <p:spPr>
          <a:xfrm>
            <a:off x="9939528"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52" name="Patiente"/>
          <p:cNvSpPr/>
          <p:nvPr/>
        </p:nvSpPr>
        <p:spPr>
          <a:xfrm>
            <a:off x="10094976"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53" name="Patiente"/>
          <p:cNvSpPr/>
          <p:nvPr/>
        </p:nvSpPr>
        <p:spPr>
          <a:xfrm>
            <a:off x="10250424"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54" name="Patiente"/>
          <p:cNvSpPr/>
          <p:nvPr/>
        </p:nvSpPr>
        <p:spPr>
          <a:xfrm>
            <a:off x="10405872"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55" name="Patiente"/>
          <p:cNvSpPr/>
          <p:nvPr/>
        </p:nvSpPr>
        <p:spPr>
          <a:xfrm>
            <a:off x="10561320"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56" name="Patiente"/>
          <p:cNvSpPr/>
          <p:nvPr/>
        </p:nvSpPr>
        <p:spPr>
          <a:xfrm>
            <a:off x="10716768"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57" name="Patiente"/>
          <p:cNvSpPr/>
          <p:nvPr/>
        </p:nvSpPr>
        <p:spPr>
          <a:xfrm>
            <a:off x="10872216"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58" name="Patiente"/>
          <p:cNvSpPr/>
          <p:nvPr/>
        </p:nvSpPr>
        <p:spPr>
          <a:xfrm>
            <a:off x="11027664"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59" name="Patiente"/>
          <p:cNvSpPr/>
          <p:nvPr/>
        </p:nvSpPr>
        <p:spPr>
          <a:xfrm>
            <a:off x="11183112" y="2688336"/>
            <a:ext cx="100584" cy="100584"/>
          </a:xfrm>
          <a:prstGeom prst="ellipse">
            <a:avLst/>
          </a:prstGeom>
          <a:solidFill>
            <a:srgbClr val="0E8F7E"/>
          </a:solidFill>
          <a:ln w="12700">
            <a:solidFill>
              <a:srgbClr val="0E8F7E"/>
            </a:solidFill>
            <a:prstDash val="solid"/>
          </a:ln>
        </p:spPr>
        <p:txBody>
          <a:bodyPr/>
          <a:lstStyle/>
          <a:p>
            <a:endParaRPr lang="fr-FR"/>
          </a:p>
        </p:txBody>
      </p:sp>
      <p:sp>
        <p:nvSpPr>
          <p:cNvPr id="260" name="Patiente"/>
          <p:cNvSpPr/>
          <p:nvPr/>
        </p:nvSpPr>
        <p:spPr>
          <a:xfrm>
            <a:off x="11338560"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61" name="Patiente"/>
          <p:cNvSpPr/>
          <p:nvPr/>
        </p:nvSpPr>
        <p:spPr>
          <a:xfrm>
            <a:off x="11494008" y="2688336"/>
            <a:ext cx="100584" cy="100584"/>
          </a:xfrm>
          <a:prstGeom prst="ellipse">
            <a:avLst/>
          </a:prstGeom>
          <a:solidFill>
            <a:srgbClr val="2F3842"/>
          </a:solidFill>
          <a:ln w="12700">
            <a:solidFill>
              <a:srgbClr val="2F3842"/>
            </a:solidFill>
            <a:prstDash val="solid"/>
          </a:ln>
        </p:spPr>
        <p:txBody>
          <a:bodyPr/>
          <a:lstStyle/>
          <a:p>
            <a:endParaRPr lang="fr-FR"/>
          </a:p>
        </p:txBody>
      </p:sp>
      <p:sp>
        <p:nvSpPr>
          <p:cNvPr id="262" name="Patiente"/>
          <p:cNvSpPr/>
          <p:nvPr/>
        </p:nvSpPr>
        <p:spPr>
          <a:xfrm>
            <a:off x="6675120"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63" name="Patiente"/>
          <p:cNvSpPr/>
          <p:nvPr/>
        </p:nvSpPr>
        <p:spPr>
          <a:xfrm>
            <a:off x="683056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64" name="Patiente"/>
          <p:cNvSpPr/>
          <p:nvPr/>
        </p:nvSpPr>
        <p:spPr>
          <a:xfrm>
            <a:off x="6986016"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65" name="Patiente"/>
          <p:cNvSpPr/>
          <p:nvPr/>
        </p:nvSpPr>
        <p:spPr>
          <a:xfrm>
            <a:off x="7141464"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66" name="Patiente"/>
          <p:cNvSpPr/>
          <p:nvPr/>
        </p:nvSpPr>
        <p:spPr>
          <a:xfrm>
            <a:off x="7296912"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67" name="Patiente"/>
          <p:cNvSpPr/>
          <p:nvPr/>
        </p:nvSpPr>
        <p:spPr>
          <a:xfrm>
            <a:off x="7452360"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68" name="Patiente"/>
          <p:cNvSpPr/>
          <p:nvPr/>
        </p:nvSpPr>
        <p:spPr>
          <a:xfrm>
            <a:off x="760780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69" name="Patiente"/>
          <p:cNvSpPr/>
          <p:nvPr/>
        </p:nvSpPr>
        <p:spPr>
          <a:xfrm>
            <a:off x="7763256"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0" name="Patiente"/>
          <p:cNvSpPr/>
          <p:nvPr/>
        </p:nvSpPr>
        <p:spPr>
          <a:xfrm>
            <a:off x="7918704"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71" name="Patiente"/>
          <p:cNvSpPr/>
          <p:nvPr/>
        </p:nvSpPr>
        <p:spPr>
          <a:xfrm>
            <a:off x="8074152"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2" name="Patiente"/>
          <p:cNvSpPr/>
          <p:nvPr/>
        </p:nvSpPr>
        <p:spPr>
          <a:xfrm>
            <a:off x="8229600"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3" name="Patiente"/>
          <p:cNvSpPr/>
          <p:nvPr/>
        </p:nvSpPr>
        <p:spPr>
          <a:xfrm>
            <a:off x="838504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4" name="Patiente"/>
          <p:cNvSpPr/>
          <p:nvPr/>
        </p:nvSpPr>
        <p:spPr>
          <a:xfrm>
            <a:off x="8540496"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75" name="Patiente"/>
          <p:cNvSpPr/>
          <p:nvPr/>
        </p:nvSpPr>
        <p:spPr>
          <a:xfrm>
            <a:off x="8695944"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6" name="Patiente"/>
          <p:cNvSpPr/>
          <p:nvPr/>
        </p:nvSpPr>
        <p:spPr>
          <a:xfrm>
            <a:off x="8851392"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7" name="Patiente"/>
          <p:cNvSpPr/>
          <p:nvPr/>
        </p:nvSpPr>
        <p:spPr>
          <a:xfrm>
            <a:off x="9006840"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8" name="Patiente"/>
          <p:cNvSpPr/>
          <p:nvPr/>
        </p:nvSpPr>
        <p:spPr>
          <a:xfrm>
            <a:off x="916228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79" name="Patiente"/>
          <p:cNvSpPr/>
          <p:nvPr/>
        </p:nvSpPr>
        <p:spPr>
          <a:xfrm>
            <a:off x="9317736"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80" name="Patiente"/>
          <p:cNvSpPr/>
          <p:nvPr/>
        </p:nvSpPr>
        <p:spPr>
          <a:xfrm>
            <a:off x="9473184"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1" name="Patiente"/>
          <p:cNvSpPr/>
          <p:nvPr/>
        </p:nvSpPr>
        <p:spPr>
          <a:xfrm>
            <a:off x="9628632"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2" name="Patiente"/>
          <p:cNvSpPr/>
          <p:nvPr/>
        </p:nvSpPr>
        <p:spPr>
          <a:xfrm>
            <a:off x="9784080"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83" name="Patiente"/>
          <p:cNvSpPr/>
          <p:nvPr/>
        </p:nvSpPr>
        <p:spPr>
          <a:xfrm>
            <a:off x="993952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4" name="Patiente"/>
          <p:cNvSpPr/>
          <p:nvPr/>
        </p:nvSpPr>
        <p:spPr>
          <a:xfrm>
            <a:off x="10094976"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85" name="Patiente"/>
          <p:cNvSpPr/>
          <p:nvPr/>
        </p:nvSpPr>
        <p:spPr>
          <a:xfrm>
            <a:off x="10250424"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6" name="Patiente"/>
          <p:cNvSpPr/>
          <p:nvPr/>
        </p:nvSpPr>
        <p:spPr>
          <a:xfrm>
            <a:off x="10405872"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7" name="Patiente"/>
          <p:cNvSpPr/>
          <p:nvPr/>
        </p:nvSpPr>
        <p:spPr>
          <a:xfrm>
            <a:off x="10561320"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8" name="Patiente"/>
          <p:cNvSpPr/>
          <p:nvPr/>
        </p:nvSpPr>
        <p:spPr>
          <a:xfrm>
            <a:off x="1071676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89" name="Patiente"/>
          <p:cNvSpPr/>
          <p:nvPr/>
        </p:nvSpPr>
        <p:spPr>
          <a:xfrm>
            <a:off x="10872216"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90" name="Patiente"/>
          <p:cNvSpPr/>
          <p:nvPr/>
        </p:nvSpPr>
        <p:spPr>
          <a:xfrm>
            <a:off x="11027664"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91" name="Patiente"/>
          <p:cNvSpPr/>
          <p:nvPr/>
        </p:nvSpPr>
        <p:spPr>
          <a:xfrm>
            <a:off x="11183112"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92" name="Patiente"/>
          <p:cNvSpPr/>
          <p:nvPr/>
        </p:nvSpPr>
        <p:spPr>
          <a:xfrm>
            <a:off x="11338560" y="2843784"/>
            <a:ext cx="100584" cy="100584"/>
          </a:xfrm>
          <a:prstGeom prst="ellipse">
            <a:avLst/>
          </a:prstGeom>
          <a:solidFill>
            <a:srgbClr val="0E8F7E"/>
          </a:solidFill>
          <a:ln w="12700">
            <a:solidFill>
              <a:srgbClr val="0E8F7E"/>
            </a:solidFill>
            <a:prstDash val="solid"/>
          </a:ln>
        </p:spPr>
        <p:txBody>
          <a:bodyPr/>
          <a:lstStyle/>
          <a:p>
            <a:endParaRPr lang="fr-FR"/>
          </a:p>
        </p:txBody>
      </p:sp>
      <p:sp>
        <p:nvSpPr>
          <p:cNvPr id="293" name="Patiente"/>
          <p:cNvSpPr/>
          <p:nvPr/>
        </p:nvSpPr>
        <p:spPr>
          <a:xfrm>
            <a:off x="11494008" y="2843784"/>
            <a:ext cx="100584" cy="100584"/>
          </a:xfrm>
          <a:prstGeom prst="ellipse">
            <a:avLst/>
          </a:prstGeom>
          <a:solidFill>
            <a:srgbClr val="2F3842"/>
          </a:solidFill>
          <a:ln w="12700">
            <a:solidFill>
              <a:srgbClr val="2F3842"/>
            </a:solidFill>
            <a:prstDash val="solid"/>
          </a:ln>
        </p:spPr>
        <p:txBody>
          <a:bodyPr/>
          <a:lstStyle/>
          <a:p>
            <a:endParaRPr lang="fr-FR"/>
          </a:p>
        </p:txBody>
      </p:sp>
      <p:sp>
        <p:nvSpPr>
          <p:cNvPr id="294" name="Patiente"/>
          <p:cNvSpPr/>
          <p:nvPr/>
        </p:nvSpPr>
        <p:spPr>
          <a:xfrm>
            <a:off x="6675120"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295" name="Patiente"/>
          <p:cNvSpPr/>
          <p:nvPr/>
        </p:nvSpPr>
        <p:spPr>
          <a:xfrm>
            <a:off x="6830568"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296" name="Patiente"/>
          <p:cNvSpPr/>
          <p:nvPr/>
        </p:nvSpPr>
        <p:spPr>
          <a:xfrm>
            <a:off x="6986016"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297" name="Patiente"/>
          <p:cNvSpPr/>
          <p:nvPr/>
        </p:nvSpPr>
        <p:spPr>
          <a:xfrm>
            <a:off x="7141464"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298" name="Patiente"/>
          <p:cNvSpPr/>
          <p:nvPr/>
        </p:nvSpPr>
        <p:spPr>
          <a:xfrm>
            <a:off x="7296912"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299" name="Patiente"/>
          <p:cNvSpPr/>
          <p:nvPr/>
        </p:nvSpPr>
        <p:spPr>
          <a:xfrm>
            <a:off x="7452360"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0" name="Patiente"/>
          <p:cNvSpPr/>
          <p:nvPr/>
        </p:nvSpPr>
        <p:spPr>
          <a:xfrm>
            <a:off x="7607808"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01" name="Patiente"/>
          <p:cNvSpPr/>
          <p:nvPr/>
        </p:nvSpPr>
        <p:spPr>
          <a:xfrm>
            <a:off x="7763256"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02" name="Patiente"/>
          <p:cNvSpPr/>
          <p:nvPr/>
        </p:nvSpPr>
        <p:spPr>
          <a:xfrm>
            <a:off x="7918704"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3" name="Patiente"/>
          <p:cNvSpPr/>
          <p:nvPr/>
        </p:nvSpPr>
        <p:spPr>
          <a:xfrm>
            <a:off x="8074152"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4" name="Patiente"/>
          <p:cNvSpPr/>
          <p:nvPr/>
        </p:nvSpPr>
        <p:spPr>
          <a:xfrm>
            <a:off x="8229600"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05" name="Patiente"/>
          <p:cNvSpPr/>
          <p:nvPr/>
        </p:nvSpPr>
        <p:spPr>
          <a:xfrm>
            <a:off x="8385048"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6" name="Patiente"/>
          <p:cNvSpPr/>
          <p:nvPr/>
        </p:nvSpPr>
        <p:spPr>
          <a:xfrm>
            <a:off x="8540496"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7" name="Patiente"/>
          <p:cNvSpPr/>
          <p:nvPr/>
        </p:nvSpPr>
        <p:spPr>
          <a:xfrm>
            <a:off x="8695944"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8" name="Patiente"/>
          <p:cNvSpPr/>
          <p:nvPr/>
        </p:nvSpPr>
        <p:spPr>
          <a:xfrm>
            <a:off x="8851392"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09" name="Patiente"/>
          <p:cNvSpPr/>
          <p:nvPr/>
        </p:nvSpPr>
        <p:spPr>
          <a:xfrm>
            <a:off x="9006840"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0" name="Patiente"/>
          <p:cNvSpPr/>
          <p:nvPr/>
        </p:nvSpPr>
        <p:spPr>
          <a:xfrm>
            <a:off x="9162288"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11" name="Patiente"/>
          <p:cNvSpPr/>
          <p:nvPr/>
        </p:nvSpPr>
        <p:spPr>
          <a:xfrm>
            <a:off x="9317736"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2" name="Patiente"/>
          <p:cNvSpPr/>
          <p:nvPr/>
        </p:nvSpPr>
        <p:spPr>
          <a:xfrm>
            <a:off x="9473184"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3" name="Patiente"/>
          <p:cNvSpPr/>
          <p:nvPr/>
        </p:nvSpPr>
        <p:spPr>
          <a:xfrm>
            <a:off x="9628632"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4" name="Patiente"/>
          <p:cNvSpPr/>
          <p:nvPr/>
        </p:nvSpPr>
        <p:spPr>
          <a:xfrm>
            <a:off x="9784080"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5" name="Patiente"/>
          <p:cNvSpPr/>
          <p:nvPr/>
        </p:nvSpPr>
        <p:spPr>
          <a:xfrm>
            <a:off x="9939528"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16" name="Patiente"/>
          <p:cNvSpPr/>
          <p:nvPr/>
        </p:nvSpPr>
        <p:spPr>
          <a:xfrm>
            <a:off x="10094976"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17" name="Patiente"/>
          <p:cNvSpPr/>
          <p:nvPr/>
        </p:nvSpPr>
        <p:spPr>
          <a:xfrm>
            <a:off x="10250424"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8" name="Patiente"/>
          <p:cNvSpPr/>
          <p:nvPr/>
        </p:nvSpPr>
        <p:spPr>
          <a:xfrm>
            <a:off x="10405872"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19" name="Patiente"/>
          <p:cNvSpPr/>
          <p:nvPr/>
        </p:nvSpPr>
        <p:spPr>
          <a:xfrm>
            <a:off x="10561320"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20" name="Patiente"/>
          <p:cNvSpPr/>
          <p:nvPr/>
        </p:nvSpPr>
        <p:spPr>
          <a:xfrm>
            <a:off x="10716768"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21" name="Patiente"/>
          <p:cNvSpPr/>
          <p:nvPr/>
        </p:nvSpPr>
        <p:spPr>
          <a:xfrm>
            <a:off x="10872216"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22" name="Patiente"/>
          <p:cNvSpPr/>
          <p:nvPr/>
        </p:nvSpPr>
        <p:spPr>
          <a:xfrm>
            <a:off x="11027664"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23" name="Patiente"/>
          <p:cNvSpPr/>
          <p:nvPr/>
        </p:nvSpPr>
        <p:spPr>
          <a:xfrm>
            <a:off x="11183112" y="2999232"/>
            <a:ext cx="100584" cy="100584"/>
          </a:xfrm>
          <a:prstGeom prst="ellipse">
            <a:avLst/>
          </a:prstGeom>
          <a:solidFill>
            <a:srgbClr val="2F3842"/>
          </a:solidFill>
          <a:ln w="12700">
            <a:solidFill>
              <a:srgbClr val="2F3842"/>
            </a:solidFill>
            <a:prstDash val="solid"/>
          </a:ln>
        </p:spPr>
        <p:txBody>
          <a:bodyPr/>
          <a:lstStyle/>
          <a:p>
            <a:endParaRPr lang="fr-FR"/>
          </a:p>
        </p:txBody>
      </p:sp>
      <p:sp>
        <p:nvSpPr>
          <p:cNvPr id="324" name="Patiente"/>
          <p:cNvSpPr/>
          <p:nvPr/>
        </p:nvSpPr>
        <p:spPr>
          <a:xfrm>
            <a:off x="11338560"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25" name="Patiente"/>
          <p:cNvSpPr/>
          <p:nvPr/>
        </p:nvSpPr>
        <p:spPr>
          <a:xfrm>
            <a:off x="11494008" y="2999232"/>
            <a:ext cx="100584" cy="100584"/>
          </a:xfrm>
          <a:prstGeom prst="ellipse">
            <a:avLst/>
          </a:prstGeom>
          <a:solidFill>
            <a:srgbClr val="0E8F7E"/>
          </a:solidFill>
          <a:ln w="12700">
            <a:solidFill>
              <a:srgbClr val="0E8F7E"/>
            </a:solidFill>
            <a:prstDash val="solid"/>
          </a:ln>
        </p:spPr>
        <p:txBody>
          <a:bodyPr/>
          <a:lstStyle/>
          <a:p>
            <a:endParaRPr lang="fr-FR"/>
          </a:p>
        </p:txBody>
      </p:sp>
      <p:sp>
        <p:nvSpPr>
          <p:cNvPr id="326" name="Patiente"/>
          <p:cNvSpPr/>
          <p:nvPr/>
        </p:nvSpPr>
        <p:spPr>
          <a:xfrm>
            <a:off x="6675120"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27" name="Patiente"/>
          <p:cNvSpPr/>
          <p:nvPr/>
        </p:nvSpPr>
        <p:spPr>
          <a:xfrm>
            <a:off x="6830568"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28" name="Patiente"/>
          <p:cNvSpPr/>
          <p:nvPr/>
        </p:nvSpPr>
        <p:spPr>
          <a:xfrm>
            <a:off x="6986016"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29" name="Patiente"/>
          <p:cNvSpPr/>
          <p:nvPr/>
        </p:nvSpPr>
        <p:spPr>
          <a:xfrm>
            <a:off x="7141464"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0" name="Patiente"/>
          <p:cNvSpPr/>
          <p:nvPr/>
        </p:nvSpPr>
        <p:spPr>
          <a:xfrm>
            <a:off x="7296912"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1" name="Patiente"/>
          <p:cNvSpPr/>
          <p:nvPr/>
        </p:nvSpPr>
        <p:spPr>
          <a:xfrm>
            <a:off x="7452360"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2" name="Patiente"/>
          <p:cNvSpPr/>
          <p:nvPr/>
        </p:nvSpPr>
        <p:spPr>
          <a:xfrm>
            <a:off x="7607808"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3" name="Patiente"/>
          <p:cNvSpPr/>
          <p:nvPr/>
        </p:nvSpPr>
        <p:spPr>
          <a:xfrm>
            <a:off x="7763256"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34" name="Patiente"/>
          <p:cNvSpPr/>
          <p:nvPr/>
        </p:nvSpPr>
        <p:spPr>
          <a:xfrm>
            <a:off x="7918704"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35" name="Patiente"/>
          <p:cNvSpPr/>
          <p:nvPr/>
        </p:nvSpPr>
        <p:spPr>
          <a:xfrm>
            <a:off x="8074152"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6" name="Patiente"/>
          <p:cNvSpPr/>
          <p:nvPr/>
        </p:nvSpPr>
        <p:spPr>
          <a:xfrm>
            <a:off x="8229600"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7" name="Patiente"/>
          <p:cNvSpPr/>
          <p:nvPr/>
        </p:nvSpPr>
        <p:spPr>
          <a:xfrm>
            <a:off x="8385048"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8" name="Patiente"/>
          <p:cNvSpPr/>
          <p:nvPr/>
        </p:nvSpPr>
        <p:spPr>
          <a:xfrm>
            <a:off x="8540496"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39" name="Patiente"/>
          <p:cNvSpPr/>
          <p:nvPr/>
        </p:nvSpPr>
        <p:spPr>
          <a:xfrm>
            <a:off x="8695944"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40" name="Patiente"/>
          <p:cNvSpPr/>
          <p:nvPr/>
        </p:nvSpPr>
        <p:spPr>
          <a:xfrm>
            <a:off x="8851392"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41" name="Patiente"/>
          <p:cNvSpPr/>
          <p:nvPr/>
        </p:nvSpPr>
        <p:spPr>
          <a:xfrm>
            <a:off x="9006840"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42" name="Patiente"/>
          <p:cNvSpPr/>
          <p:nvPr/>
        </p:nvSpPr>
        <p:spPr>
          <a:xfrm>
            <a:off x="9162288"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43" name="Patiente"/>
          <p:cNvSpPr/>
          <p:nvPr/>
        </p:nvSpPr>
        <p:spPr>
          <a:xfrm>
            <a:off x="9317736"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44" name="Patiente"/>
          <p:cNvSpPr/>
          <p:nvPr/>
        </p:nvSpPr>
        <p:spPr>
          <a:xfrm>
            <a:off x="9473184"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45" name="Patiente"/>
          <p:cNvSpPr/>
          <p:nvPr/>
        </p:nvSpPr>
        <p:spPr>
          <a:xfrm>
            <a:off x="9628632"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46" name="Patiente"/>
          <p:cNvSpPr/>
          <p:nvPr/>
        </p:nvSpPr>
        <p:spPr>
          <a:xfrm>
            <a:off x="9784080"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47" name="Patiente"/>
          <p:cNvSpPr/>
          <p:nvPr/>
        </p:nvSpPr>
        <p:spPr>
          <a:xfrm>
            <a:off x="9939528"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48" name="Patiente"/>
          <p:cNvSpPr/>
          <p:nvPr/>
        </p:nvSpPr>
        <p:spPr>
          <a:xfrm>
            <a:off x="10094976"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49" name="Patiente"/>
          <p:cNvSpPr/>
          <p:nvPr/>
        </p:nvSpPr>
        <p:spPr>
          <a:xfrm>
            <a:off x="10250424"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50" name="Patiente"/>
          <p:cNvSpPr/>
          <p:nvPr/>
        </p:nvSpPr>
        <p:spPr>
          <a:xfrm>
            <a:off x="10405872"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51" name="Patiente"/>
          <p:cNvSpPr/>
          <p:nvPr/>
        </p:nvSpPr>
        <p:spPr>
          <a:xfrm>
            <a:off x="10561320"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2" name="Patiente"/>
          <p:cNvSpPr/>
          <p:nvPr/>
        </p:nvSpPr>
        <p:spPr>
          <a:xfrm>
            <a:off x="10716768"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3" name="Patiente"/>
          <p:cNvSpPr/>
          <p:nvPr/>
        </p:nvSpPr>
        <p:spPr>
          <a:xfrm>
            <a:off x="10872216"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4" name="Patiente"/>
          <p:cNvSpPr/>
          <p:nvPr/>
        </p:nvSpPr>
        <p:spPr>
          <a:xfrm>
            <a:off x="11027664" y="3154680"/>
            <a:ext cx="100584" cy="100584"/>
          </a:xfrm>
          <a:prstGeom prst="ellipse">
            <a:avLst/>
          </a:prstGeom>
          <a:solidFill>
            <a:srgbClr val="0E8F7E"/>
          </a:solidFill>
          <a:ln w="12700">
            <a:solidFill>
              <a:srgbClr val="0E8F7E"/>
            </a:solidFill>
            <a:prstDash val="solid"/>
          </a:ln>
        </p:spPr>
        <p:txBody>
          <a:bodyPr/>
          <a:lstStyle/>
          <a:p>
            <a:endParaRPr lang="fr-FR"/>
          </a:p>
        </p:txBody>
      </p:sp>
      <p:sp>
        <p:nvSpPr>
          <p:cNvPr id="355" name="Patiente"/>
          <p:cNvSpPr/>
          <p:nvPr/>
        </p:nvSpPr>
        <p:spPr>
          <a:xfrm>
            <a:off x="11183112"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6" name="Patiente"/>
          <p:cNvSpPr/>
          <p:nvPr/>
        </p:nvSpPr>
        <p:spPr>
          <a:xfrm>
            <a:off x="11338560"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7" name="Patiente"/>
          <p:cNvSpPr/>
          <p:nvPr/>
        </p:nvSpPr>
        <p:spPr>
          <a:xfrm>
            <a:off x="11494008" y="3154680"/>
            <a:ext cx="100584" cy="100584"/>
          </a:xfrm>
          <a:prstGeom prst="ellipse">
            <a:avLst/>
          </a:prstGeom>
          <a:solidFill>
            <a:srgbClr val="2F3842"/>
          </a:solidFill>
          <a:ln w="12700">
            <a:solidFill>
              <a:srgbClr val="2F3842"/>
            </a:solidFill>
            <a:prstDash val="solid"/>
          </a:ln>
        </p:spPr>
        <p:txBody>
          <a:bodyPr/>
          <a:lstStyle/>
          <a:p>
            <a:endParaRPr lang="fr-FR"/>
          </a:p>
        </p:txBody>
      </p:sp>
      <p:sp>
        <p:nvSpPr>
          <p:cNvPr id="358" name="Patiente"/>
          <p:cNvSpPr/>
          <p:nvPr/>
        </p:nvSpPr>
        <p:spPr>
          <a:xfrm>
            <a:off x="6675120"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59" name="Patiente"/>
          <p:cNvSpPr/>
          <p:nvPr/>
        </p:nvSpPr>
        <p:spPr>
          <a:xfrm>
            <a:off x="6830568"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60" name="Patiente"/>
          <p:cNvSpPr/>
          <p:nvPr/>
        </p:nvSpPr>
        <p:spPr>
          <a:xfrm>
            <a:off x="6986016"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61" name="Patiente"/>
          <p:cNvSpPr/>
          <p:nvPr/>
        </p:nvSpPr>
        <p:spPr>
          <a:xfrm>
            <a:off x="7141464"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62" name="Patiente"/>
          <p:cNvSpPr/>
          <p:nvPr/>
        </p:nvSpPr>
        <p:spPr>
          <a:xfrm>
            <a:off x="7296912"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63" name="Patiente"/>
          <p:cNvSpPr/>
          <p:nvPr/>
        </p:nvSpPr>
        <p:spPr>
          <a:xfrm>
            <a:off x="7452360"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64" name="Patiente"/>
          <p:cNvSpPr/>
          <p:nvPr/>
        </p:nvSpPr>
        <p:spPr>
          <a:xfrm>
            <a:off x="7607808"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65" name="Patiente"/>
          <p:cNvSpPr/>
          <p:nvPr/>
        </p:nvSpPr>
        <p:spPr>
          <a:xfrm>
            <a:off x="7763256"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66" name="Patiente"/>
          <p:cNvSpPr/>
          <p:nvPr/>
        </p:nvSpPr>
        <p:spPr>
          <a:xfrm>
            <a:off x="7918704"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67" name="Patiente"/>
          <p:cNvSpPr/>
          <p:nvPr/>
        </p:nvSpPr>
        <p:spPr>
          <a:xfrm>
            <a:off x="8074152"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68" name="Patiente"/>
          <p:cNvSpPr/>
          <p:nvPr/>
        </p:nvSpPr>
        <p:spPr>
          <a:xfrm>
            <a:off x="8229600"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69" name="Patiente"/>
          <p:cNvSpPr/>
          <p:nvPr/>
        </p:nvSpPr>
        <p:spPr>
          <a:xfrm>
            <a:off x="8385048"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70" name="Patiente"/>
          <p:cNvSpPr/>
          <p:nvPr/>
        </p:nvSpPr>
        <p:spPr>
          <a:xfrm>
            <a:off x="8540496"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71" name="Patiente"/>
          <p:cNvSpPr/>
          <p:nvPr/>
        </p:nvSpPr>
        <p:spPr>
          <a:xfrm>
            <a:off x="8695944"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72" name="Patiente"/>
          <p:cNvSpPr/>
          <p:nvPr/>
        </p:nvSpPr>
        <p:spPr>
          <a:xfrm>
            <a:off x="8851392"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73" name="Patiente"/>
          <p:cNvSpPr/>
          <p:nvPr/>
        </p:nvSpPr>
        <p:spPr>
          <a:xfrm>
            <a:off x="9006840"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74" name="Patiente"/>
          <p:cNvSpPr/>
          <p:nvPr/>
        </p:nvSpPr>
        <p:spPr>
          <a:xfrm>
            <a:off x="9162288"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75" name="Patiente"/>
          <p:cNvSpPr/>
          <p:nvPr/>
        </p:nvSpPr>
        <p:spPr>
          <a:xfrm>
            <a:off x="9317736"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76" name="Patiente"/>
          <p:cNvSpPr/>
          <p:nvPr/>
        </p:nvSpPr>
        <p:spPr>
          <a:xfrm>
            <a:off x="9473184"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77" name="Patiente"/>
          <p:cNvSpPr/>
          <p:nvPr/>
        </p:nvSpPr>
        <p:spPr>
          <a:xfrm>
            <a:off x="9628632"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78" name="Patiente"/>
          <p:cNvSpPr/>
          <p:nvPr/>
        </p:nvSpPr>
        <p:spPr>
          <a:xfrm>
            <a:off x="9784080"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79" name="Patiente"/>
          <p:cNvSpPr/>
          <p:nvPr/>
        </p:nvSpPr>
        <p:spPr>
          <a:xfrm>
            <a:off x="9939528"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0" name="Patiente"/>
          <p:cNvSpPr/>
          <p:nvPr/>
        </p:nvSpPr>
        <p:spPr>
          <a:xfrm>
            <a:off x="10094976"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1" name="Patiente"/>
          <p:cNvSpPr/>
          <p:nvPr/>
        </p:nvSpPr>
        <p:spPr>
          <a:xfrm>
            <a:off x="10250424"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82" name="Patiente"/>
          <p:cNvSpPr/>
          <p:nvPr/>
        </p:nvSpPr>
        <p:spPr>
          <a:xfrm>
            <a:off x="10405872"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3" name="Patiente"/>
          <p:cNvSpPr/>
          <p:nvPr/>
        </p:nvSpPr>
        <p:spPr>
          <a:xfrm>
            <a:off x="10561320"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4" name="Patiente"/>
          <p:cNvSpPr/>
          <p:nvPr/>
        </p:nvSpPr>
        <p:spPr>
          <a:xfrm>
            <a:off x="10716768"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5" name="Patiente"/>
          <p:cNvSpPr/>
          <p:nvPr/>
        </p:nvSpPr>
        <p:spPr>
          <a:xfrm>
            <a:off x="10872216"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6" name="Patiente"/>
          <p:cNvSpPr/>
          <p:nvPr/>
        </p:nvSpPr>
        <p:spPr>
          <a:xfrm>
            <a:off x="11027664"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87" name="Patiente"/>
          <p:cNvSpPr/>
          <p:nvPr/>
        </p:nvSpPr>
        <p:spPr>
          <a:xfrm>
            <a:off x="11183112"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88" name="Patiente"/>
          <p:cNvSpPr/>
          <p:nvPr/>
        </p:nvSpPr>
        <p:spPr>
          <a:xfrm>
            <a:off x="11338560" y="3310128"/>
            <a:ext cx="100584" cy="100584"/>
          </a:xfrm>
          <a:prstGeom prst="ellipse">
            <a:avLst/>
          </a:prstGeom>
          <a:solidFill>
            <a:srgbClr val="0E8F7E"/>
          </a:solidFill>
          <a:ln w="12700">
            <a:solidFill>
              <a:srgbClr val="0E8F7E"/>
            </a:solidFill>
            <a:prstDash val="solid"/>
          </a:ln>
        </p:spPr>
        <p:txBody>
          <a:bodyPr/>
          <a:lstStyle/>
          <a:p>
            <a:endParaRPr lang="fr-FR"/>
          </a:p>
        </p:txBody>
      </p:sp>
      <p:sp>
        <p:nvSpPr>
          <p:cNvPr id="389" name="Patiente"/>
          <p:cNvSpPr/>
          <p:nvPr/>
        </p:nvSpPr>
        <p:spPr>
          <a:xfrm>
            <a:off x="11494008" y="3310128"/>
            <a:ext cx="100584" cy="100584"/>
          </a:xfrm>
          <a:prstGeom prst="ellipse">
            <a:avLst/>
          </a:prstGeom>
          <a:solidFill>
            <a:srgbClr val="2F3842"/>
          </a:solidFill>
          <a:ln w="12700">
            <a:solidFill>
              <a:srgbClr val="2F3842"/>
            </a:solidFill>
            <a:prstDash val="solid"/>
          </a:ln>
        </p:spPr>
        <p:txBody>
          <a:bodyPr/>
          <a:lstStyle/>
          <a:p>
            <a:endParaRPr lang="fr-FR"/>
          </a:p>
        </p:txBody>
      </p:sp>
      <p:sp>
        <p:nvSpPr>
          <p:cNvPr id="390" name="Patiente"/>
          <p:cNvSpPr/>
          <p:nvPr/>
        </p:nvSpPr>
        <p:spPr>
          <a:xfrm>
            <a:off x="6675120"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391" name="Patiente"/>
          <p:cNvSpPr/>
          <p:nvPr/>
        </p:nvSpPr>
        <p:spPr>
          <a:xfrm>
            <a:off x="6830568"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392" name="Patiente"/>
          <p:cNvSpPr/>
          <p:nvPr/>
        </p:nvSpPr>
        <p:spPr>
          <a:xfrm>
            <a:off x="6986016"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393" name="Patiente"/>
          <p:cNvSpPr/>
          <p:nvPr/>
        </p:nvSpPr>
        <p:spPr>
          <a:xfrm>
            <a:off x="7141464"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394" name="Patiente"/>
          <p:cNvSpPr/>
          <p:nvPr/>
        </p:nvSpPr>
        <p:spPr>
          <a:xfrm>
            <a:off x="7296912"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395" name="Patiente"/>
          <p:cNvSpPr/>
          <p:nvPr/>
        </p:nvSpPr>
        <p:spPr>
          <a:xfrm>
            <a:off x="7452360"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396" name="Patiente"/>
          <p:cNvSpPr/>
          <p:nvPr/>
        </p:nvSpPr>
        <p:spPr>
          <a:xfrm>
            <a:off x="7607808"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397" name="Patiente"/>
          <p:cNvSpPr/>
          <p:nvPr/>
        </p:nvSpPr>
        <p:spPr>
          <a:xfrm>
            <a:off x="7763256"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398" name="Patiente"/>
          <p:cNvSpPr/>
          <p:nvPr/>
        </p:nvSpPr>
        <p:spPr>
          <a:xfrm>
            <a:off x="7918704"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399" name="Patiente"/>
          <p:cNvSpPr/>
          <p:nvPr/>
        </p:nvSpPr>
        <p:spPr>
          <a:xfrm>
            <a:off x="8074152"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0" name="Patiente"/>
          <p:cNvSpPr/>
          <p:nvPr/>
        </p:nvSpPr>
        <p:spPr>
          <a:xfrm>
            <a:off x="8229600"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1" name="Patiente"/>
          <p:cNvSpPr/>
          <p:nvPr/>
        </p:nvSpPr>
        <p:spPr>
          <a:xfrm>
            <a:off x="8385048"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2" name="Patiente"/>
          <p:cNvSpPr/>
          <p:nvPr/>
        </p:nvSpPr>
        <p:spPr>
          <a:xfrm>
            <a:off x="8540496"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3" name="Patiente"/>
          <p:cNvSpPr/>
          <p:nvPr/>
        </p:nvSpPr>
        <p:spPr>
          <a:xfrm>
            <a:off x="8695944"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04" name="Patiente"/>
          <p:cNvSpPr/>
          <p:nvPr/>
        </p:nvSpPr>
        <p:spPr>
          <a:xfrm>
            <a:off x="8851392"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5" name="Patiente"/>
          <p:cNvSpPr/>
          <p:nvPr/>
        </p:nvSpPr>
        <p:spPr>
          <a:xfrm>
            <a:off x="9006840"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06" name="Patiente"/>
          <p:cNvSpPr/>
          <p:nvPr/>
        </p:nvSpPr>
        <p:spPr>
          <a:xfrm>
            <a:off x="9162288"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07" name="Patiente"/>
          <p:cNvSpPr/>
          <p:nvPr/>
        </p:nvSpPr>
        <p:spPr>
          <a:xfrm>
            <a:off x="9317736"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8" name="Patiente"/>
          <p:cNvSpPr/>
          <p:nvPr/>
        </p:nvSpPr>
        <p:spPr>
          <a:xfrm>
            <a:off x="9473184"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09" name="Patiente"/>
          <p:cNvSpPr/>
          <p:nvPr/>
        </p:nvSpPr>
        <p:spPr>
          <a:xfrm>
            <a:off x="9628632"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10" name="Patiente"/>
          <p:cNvSpPr/>
          <p:nvPr/>
        </p:nvSpPr>
        <p:spPr>
          <a:xfrm>
            <a:off x="9784080"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11" name="Patiente"/>
          <p:cNvSpPr/>
          <p:nvPr/>
        </p:nvSpPr>
        <p:spPr>
          <a:xfrm>
            <a:off x="9939528"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12" name="Patiente"/>
          <p:cNvSpPr/>
          <p:nvPr/>
        </p:nvSpPr>
        <p:spPr>
          <a:xfrm>
            <a:off x="10094976"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13" name="Patiente"/>
          <p:cNvSpPr/>
          <p:nvPr/>
        </p:nvSpPr>
        <p:spPr>
          <a:xfrm>
            <a:off x="10250424"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14" name="Patiente"/>
          <p:cNvSpPr/>
          <p:nvPr/>
        </p:nvSpPr>
        <p:spPr>
          <a:xfrm>
            <a:off x="10405872"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15" name="Patiente"/>
          <p:cNvSpPr/>
          <p:nvPr/>
        </p:nvSpPr>
        <p:spPr>
          <a:xfrm>
            <a:off x="10561320"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16" name="Patiente"/>
          <p:cNvSpPr/>
          <p:nvPr/>
        </p:nvSpPr>
        <p:spPr>
          <a:xfrm>
            <a:off x="10716768"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17" name="Patiente"/>
          <p:cNvSpPr/>
          <p:nvPr/>
        </p:nvSpPr>
        <p:spPr>
          <a:xfrm>
            <a:off x="10872216"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18" name="Patiente"/>
          <p:cNvSpPr/>
          <p:nvPr/>
        </p:nvSpPr>
        <p:spPr>
          <a:xfrm>
            <a:off x="11027664" y="3465576"/>
            <a:ext cx="100584" cy="100584"/>
          </a:xfrm>
          <a:prstGeom prst="ellipse">
            <a:avLst/>
          </a:prstGeom>
          <a:solidFill>
            <a:srgbClr val="0E8F7E"/>
          </a:solidFill>
          <a:ln w="12700">
            <a:solidFill>
              <a:srgbClr val="0E8F7E"/>
            </a:solidFill>
            <a:prstDash val="solid"/>
          </a:ln>
        </p:spPr>
        <p:txBody>
          <a:bodyPr/>
          <a:lstStyle/>
          <a:p>
            <a:endParaRPr lang="fr-FR"/>
          </a:p>
        </p:txBody>
      </p:sp>
      <p:sp>
        <p:nvSpPr>
          <p:cNvPr id="419" name="Patiente"/>
          <p:cNvSpPr/>
          <p:nvPr/>
        </p:nvSpPr>
        <p:spPr>
          <a:xfrm>
            <a:off x="11183112"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20" name="Patiente"/>
          <p:cNvSpPr/>
          <p:nvPr/>
        </p:nvSpPr>
        <p:spPr>
          <a:xfrm>
            <a:off x="11338560"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21" name="Patiente"/>
          <p:cNvSpPr/>
          <p:nvPr/>
        </p:nvSpPr>
        <p:spPr>
          <a:xfrm>
            <a:off x="11494008" y="3465576"/>
            <a:ext cx="100584" cy="100584"/>
          </a:xfrm>
          <a:prstGeom prst="ellipse">
            <a:avLst/>
          </a:prstGeom>
          <a:solidFill>
            <a:srgbClr val="2F3842"/>
          </a:solidFill>
          <a:ln w="12700">
            <a:solidFill>
              <a:srgbClr val="2F3842"/>
            </a:solidFill>
            <a:prstDash val="solid"/>
          </a:ln>
        </p:spPr>
        <p:txBody>
          <a:bodyPr/>
          <a:lstStyle/>
          <a:p>
            <a:endParaRPr lang="fr-FR"/>
          </a:p>
        </p:txBody>
      </p:sp>
      <p:sp>
        <p:nvSpPr>
          <p:cNvPr id="422" name="Patiente"/>
          <p:cNvSpPr/>
          <p:nvPr/>
        </p:nvSpPr>
        <p:spPr>
          <a:xfrm>
            <a:off x="6675120"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23" name="Patiente"/>
          <p:cNvSpPr/>
          <p:nvPr/>
        </p:nvSpPr>
        <p:spPr>
          <a:xfrm>
            <a:off x="6830568"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24" name="Patiente"/>
          <p:cNvSpPr/>
          <p:nvPr/>
        </p:nvSpPr>
        <p:spPr>
          <a:xfrm>
            <a:off x="6986016"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25" name="Patiente"/>
          <p:cNvSpPr/>
          <p:nvPr/>
        </p:nvSpPr>
        <p:spPr>
          <a:xfrm>
            <a:off x="7141464"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26" name="Patiente"/>
          <p:cNvSpPr/>
          <p:nvPr/>
        </p:nvSpPr>
        <p:spPr>
          <a:xfrm>
            <a:off x="7296912"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27" name="Patiente"/>
          <p:cNvSpPr/>
          <p:nvPr/>
        </p:nvSpPr>
        <p:spPr>
          <a:xfrm>
            <a:off x="7452360"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28" name="Patiente"/>
          <p:cNvSpPr/>
          <p:nvPr/>
        </p:nvSpPr>
        <p:spPr>
          <a:xfrm>
            <a:off x="7607808"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29" name="Patiente"/>
          <p:cNvSpPr/>
          <p:nvPr/>
        </p:nvSpPr>
        <p:spPr>
          <a:xfrm>
            <a:off x="7763256"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30" name="Patiente"/>
          <p:cNvSpPr/>
          <p:nvPr/>
        </p:nvSpPr>
        <p:spPr>
          <a:xfrm>
            <a:off x="7918704"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31" name="Patiente"/>
          <p:cNvSpPr/>
          <p:nvPr/>
        </p:nvSpPr>
        <p:spPr>
          <a:xfrm>
            <a:off x="8074152"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32" name="Patiente"/>
          <p:cNvSpPr/>
          <p:nvPr/>
        </p:nvSpPr>
        <p:spPr>
          <a:xfrm>
            <a:off x="8229600"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33" name="Patiente"/>
          <p:cNvSpPr/>
          <p:nvPr/>
        </p:nvSpPr>
        <p:spPr>
          <a:xfrm>
            <a:off x="8385048"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34" name="Patiente"/>
          <p:cNvSpPr/>
          <p:nvPr/>
        </p:nvSpPr>
        <p:spPr>
          <a:xfrm>
            <a:off x="8540496"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35" name="Patiente"/>
          <p:cNvSpPr/>
          <p:nvPr/>
        </p:nvSpPr>
        <p:spPr>
          <a:xfrm>
            <a:off x="8695944"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36" name="Patiente"/>
          <p:cNvSpPr/>
          <p:nvPr/>
        </p:nvSpPr>
        <p:spPr>
          <a:xfrm>
            <a:off x="8851392"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37" name="Patiente"/>
          <p:cNvSpPr/>
          <p:nvPr/>
        </p:nvSpPr>
        <p:spPr>
          <a:xfrm>
            <a:off x="9006840"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38" name="Patiente"/>
          <p:cNvSpPr/>
          <p:nvPr/>
        </p:nvSpPr>
        <p:spPr>
          <a:xfrm>
            <a:off x="9162288"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39" name="Patiente"/>
          <p:cNvSpPr/>
          <p:nvPr/>
        </p:nvSpPr>
        <p:spPr>
          <a:xfrm>
            <a:off x="9317736"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0" name="Patiente"/>
          <p:cNvSpPr/>
          <p:nvPr/>
        </p:nvSpPr>
        <p:spPr>
          <a:xfrm>
            <a:off x="9473184"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1" name="Patiente"/>
          <p:cNvSpPr/>
          <p:nvPr/>
        </p:nvSpPr>
        <p:spPr>
          <a:xfrm>
            <a:off x="9628632"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42" name="Patiente"/>
          <p:cNvSpPr/>
          <p:nvPr/>
        </p:nvSpPr>
        <p:spPr>
          <a:xfrm>
            <a:off x="9784080"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3" name="Patiente"/>
          <p:cNvSpPr/>
          <p:nvPr/>
        </p:nvSpPr>
        <p:spPr>
          <a:xfrm>
            <a:off x="9939528"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4" name="Patiente"/>
          <p:cNvSpPr/>
          <p:nvPr/>
        </p:nvSpPr>
        <p:spPr>
          <a:xfrm>
            <a:off x="10094976"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5" name="Patiente"/>
          <p:cNvSpPr/>
          <p:nvPr/>
        </p:nvSpPr>
        <p:spPr>
          <a:xfrm>
            <a:off x="10250424"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6" name="Patiente"/>
          <p:cNvSpPr/>
          <p:nvPr/>
        </p:nvSpPr>
        <p:spPr>
          <a:xfrm>
            <a:off x="10405872"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7" name="Patiente"/>
          <p:cNvSpPr/>
          <p:nvPr/>
        </p:nvSpPr>
        <p:spPr>
          <a:xfrm>
            <a:off x="10561320"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48" name="Patiente"/>
          <p:cNvSpPr/>
          <p:nvPr/>
        </p:nvSpPr>
        <p:spPr>
          <a:xfrm>
            <a:off x="10716768"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49" name="Patiente"/>
          <p:cNvSpPr/>
          <p:nvPr/>
        </p:nvSpPr>
        <p:spPr>
          <a:xfrm>
            <a:off x="10872216"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50" name="Patiente"/>
          <p:cNvSpPr/>
          <p:nvPr/>
        </p:nvSpPr>
        <p:spPr>
          <a:xfrm>
            <a:off x="11027664" y="3621024"/>
            <a:ext cx="100584" cy="100584"/>
          </a:xfrm>
          <a:prstGeom prst="ellipse">
            <a:avLst/>
          </a:prstGeom>
          <a:solidFill>
            <a:srgbClr val="0E8F7E"/>
          </a:solidFill>
          <a:ln w="12700">
            <a:solidFill>
              <a:srgbClr val="0E8F7E"/>
            </a:solidFill>
            <a:prstDash val="solid"/>
          </a:ln>
        </p:spPr>
        <p:txBody>
          <a:bodyPr/>
          <a:lstStyle/>
          <a:p>
            <a:endParaRPr lang="fr-FR"/>
          </a:p>
        </p:txBody>
      </p:sp>
      <p:sp>
        <p:nvSpPr>
          <p:cNvPr id="451" name="Patiente"/>
          <p:cNvSpPr/>
          <p:nvPr/>
        </p:nvSpPr>
        <p:spPr>
          <a:xfrm>
            <a:off x="11183112"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52" name="Patiente"/>
          <p:cNvSpPr/>
          <p:nvPr/>
        </p:nvSpPr>
        <p:spPr>
          <a:xfrm>
            <a:off x="11338560"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53" name="Patiente"/>
          <p:cNvSpPr/>
          <p:nvPr/>
        </p:nvSpPr>
        <p:spPr>
          <a:xfrm>
            <a:off x="11494008" y="3621024"/>
            <a:ext cx="100584" cy="100584"/>
          </a:xfrm>
          <a:prstGeom prst="ellipse">
            <a:avLst/>
          </a:prstGeom>
          <a:solidFill>
            <a:srgbClr val="2F3842"/>
          </a:solidFill>
          <a:ln w="12700">
            <a:solidFill>
              <a:srgbClr val="2F3842"/>
            </a:solidFill>
            <a:prstDash val="solid"/>
          </a:ln>
        </p:spPr>
        <p:txBody>
          <a:bodyPr/>
          <a:lstStyle/>
          <a:p>
            <a:endParaRPr lang="fr-FR"/>
          </a:p>
        </p:txBody>
      </p:sp>
      <p:sp>
        <p:nvSpPr>
          <p:cNvPr id="454" name="Patiente"/>
          <p:cNvSpPr/>
          <p:nvPr/>
        </p:nvSpPr>
        <p:spPr>
          <a:xfrm>
            <a:off x="6675120"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55" name="Patiente"/>
          <p:cNvSpPr/>
          <p:nvPr/>
        </p:nvSpPr>
        <p:spPr>
          <a:xfrm>
            <a:off x="6830568"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56" name="Patiente"/>
          <p:cNvSpPr/>
          <p:nvPr/>
        </p:nvSpPr>
        <p:spPr>
          <a:xfrm>
            <a:off x="6986016"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57" name="Patiente"/>
          <p:cNvSpPr/>
          <p:nvPr/>
        </p:nvSpPr>
        <p:spPr>
          <a:xfrm>
            <a:off x="7141464"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58" name="Patiente"/>
          <p:cNvSpPr/>
          <p:nvPr/>
        </p:nvSpPr>
        <p:spPr>
          <a:xfrm>
            <a:off x="7296912"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59" name="Patiente"/>
          <p:cNvSpPr/>
          <p:nvPr/>
        </p:nvSpPr>
        <p:spPr>
          <a:xfrm>
            <a:off x="7452360"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60" name="Patiente"/>
          <p:cNvSpPr/>
          <p:nvPr/>
        </p:nvSpPr>
        <p:spPr>
          <a:xfrm>
            <a:off x="7607808"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1" name="Patiente"/>
          <p:cNvSpPr/>
          <p:nvPr/>
        </p:nvSpPr>
        <p:spPr>
          <a:xfrm>
            <a:off x="7763256"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62" name="Patiente"/>
          <p:cNvSpPr/>
          <p:nvPr/>
        </p:nvSpPr>
        <p:spPr>
          <a:xfrm>
            <a:off x="7918704"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3" name="Patiente"/>
          <p:cNvSpPr/>
          <p:nvPr/>
        </p:nvSpPr>
        <p:spPr>
          <a:xfrm>
            <a:off x="8074152"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4" name="Patiente"/>
          <p:cNvSpPr/>
          <p:nvPr/>
        </p:nvSpPr>
        <p:spPr>
          <a:xfrm>
            <a:off x="8229600"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5" name="Patiente"/>
          <p:cNvSpPr/>
          <p:nvPr/>
        </p:nvSpPr>
        <p:spPr>
          <a:xfrm>
            <a:off x="8385048"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66" name="Patiente"/>
          <p:cNvSpPr/>
          <p:nvPr/>
        </p:nvSpPr>
        <p:spPr>
          <a:xfrm>
            <a:off x="8540496"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7" name="Patiente"/>
          <p:cNvSpPr/>
          <p:nvPr/>
        </p:nvSpPr>
        <p:spPr>
          <a:xfrm>
            <a:off x="8695944"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8" name="Patiente"/>
          <p:cNvSpPr/>
          <p:nvPr/>
        </p:nvSpPr>
        <p:spPr>
          <a:xfrm>
            <a:off x="8851392"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69" name="Patiente"/>
          <p:cNvSpPr/>
          <p:nvPr/>
        </p:nvSpPr>
        <p:spPr>
          <a:xfrm>
            <a:off x="9006840"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70" name="Patiente"/>
          <p:cNvSpPr/>
          <p:nvPr/>
        </p:nvSpPr>
        <p:spPr>
          <a:xfrm>
            <a:off x="9162288"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71" name="Patiente"/>
          <p:cNvSpPr/>
          <p:nvPr/>
        </p:nvSpPr>
        <p:spPr>
          <a:xfrm>
            <a:off x="9317736"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2" name="Patiente"/>
          <p:cNvSpPr/>
          <p:nvPr/>
        </p:nvSpPr>
        <p:spPr>
          <a:xfrm>
            <a:off x="9473184"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3" name="Patiente"/>
          <p:cNvSpPr/>
          <p:nvPr/>
        </p:nvSpPr>
        <p:spPr>
          <a:xfrm>
            <a:off x="9628632"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4" name="Patiente"/>
          <p:cNvSpPr/>
          <p:nvPr/>
        </p:nvSpPr>
        <p:spPr>
          <a:xfrm>
            <a:off x="9784080"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5" name="Patiente"/>
          <p:cNvSpPr/>
          <p:nvPr/>
        </p:nvSpPr>
        <p:spPr>
          <a:xfrm>
            <a:off x="9939528"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76" name="Patiente"/>
          <p:cNvSpPr/>
          <p:nvPr/>
        </p:nvSpPr>
        <p:spPr>
          <a:xfrm>
            <a:off x="10094976"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7" name="Patiente"/>
          <p:cNvSpPr/>
          <p:nvPr/>
        </p:nvSpPr>
        <p:spPr>
          <a:xfrm>
            <a:off x="10250424"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8" name="Patiente"/>
          <p:cNvSpPr/>
          <p:nvPr/>
        </p:nvSpPr>
        <p:spPr>
          <a:xfrm>
            <a:off x="10405872"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79" name="Patiente"/>
          <p:cNvSpPr/>
          <p:nvPr/>
        </p:nvSpPr>
        <p:spPr>
          <a:xfrm>
            <a:off x="10561320"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80" name="Patiente"/>
          <p:cNvSpPr/>
          <p:nvPr/>
        </p:nvSpPr>
        <p:spPr>
          <a:xfrm>
            <a:off x="10716768"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81" name="Patiente"/>
          <p:cNvSpPr/>
          <p:nvPr/>
        </p:nvSpPr>
        <p:spPr>
          <a:xfrm>
            <a:off x="10872216"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82" name="Patiente"/>
          <p:cNvSpPr/>
          <p:nvPr/>
        </p:nvSpPr>
        <p:spPr>
          <a:xfrm>
            <a:off x="11027664"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83" name="Patiente"/>
          <p:cNvSpPr/>
          <p:nvPr/>
        </p:nvSpPr>
        <p:spPr>
          <a:xfrm>
            <a:off x="11183112"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84" name="Patiente"/>
          <p:cNvSpPr/>
          <p:nvPr/>
        </p:nvSpPr>
        <p:spPr>
          <a:xfrm>
            <a:off x="11338560" y="3776472"/>
            <a:ext cx="100584" cy="100584"/>
          </a:xfrm>
          <a:prstGeom prst="ellipse">
            <a:avLst/>
          </a:prstGeom>
          <a:solidFill>
            <a:srgbClr val="2F3842"/>
          </a:solidFill>
          <a:ln w="12700">
            <a:solidFill>
              <a:srgbClr val="2F3842"/>
            </a:solidFill>
            <a:prstDash val="solid"/>
          </a:ln>
        </p:spPr>
        <p:txBody>
          <a:bodyPr/>
          <a:lstStyle/>
          <a:p>
            <a:endParaRPr lang="fr-FR"/>
          </a:p>
        </p:txBody>
      </p:sp>
      <p:sp>
        <p:nvSpPr>
          <p:cNvPr id="485" name="Patiente"/>
          <p:cNvSpPr/>
          <p:nvPr/>
        </p:nvSpPr>
        <p:spPr>
          <a:xfrm>
            <a:off x="11494008" y="3776472"/>
            <a:ext cx="100584" cy="100584"/>
          </a:xfrm>
          <a:prstGeom prst="ellipse">
            <a:avLst/>
          </a:prstGeom>
          <a:solidFill>
            <a:srgbClr val="0E8F7E"/>
          </a:solidFill>
          <a:ln w="12700">
            <a:solidFill>
              <a:srgbClr val="0E8F7E"/>
            </a:solidFill>
            <a:prstDash val="solid"/>
          </a:ln>
        </p:spPr>
        <p:txBody>
          <a:bodyPr/>
          <a:lstStyle/>
          <a:p>
            <a:endParaRPr lang="fr-FR"/>
          </a:p>
        </p:txBody>
      </p:sp>
      <p:sp>
        <p:nvSpPr>
          <p:cNvPr id="486" name="Patiente"/>
          <p:cNvSpPr/>
          <p:nvPr/>
        </p:nvSpPr>
        <p:spPr>
          <a:xfrm>
            <a:off x="6675120"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487" name="Patiente"/>
          <p:cNvSpPr/>
          <p:nvPr/>
        </p:nvSpPr>
        <p:spPr>
          <a:xfrm>
            <a:off x="6830568"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88" name="Patiente"/>
          <p:cNvSpPr/>
          <p:nvPr/>
        </p:nvSpPr>
        <p:spPr>
          <a:xfrm>
            <a:off x="6986016"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89" name="Patiente"/>
          <p:cNvSpPr/>
          <p:nvPr/>
        </p:nvSpPr>
        <p:spPr>
          <a:xfrm>
            <a:off x="7141464"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490" name="Patiente"/>
          <p:cNvSpPr/>
          <p:nvPr/>
        </p:nvSpPr>
        <p:spPr>
          <a:xfrm>
            <a:off x="7296912"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491" name="Patiente"/>
          <p:cNvSpPr/>
          <p:nvPr/>
        </p:nvSpPr>
        <p:spPr>
          <a:xfrm>
            <a:off x="7452360"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492" name="Patiente"/>
          <p:cNvSpPr/>
          <p:nvPr/>
        </p:nvSpPr>
        <p:spPr>
          <a:xfrm>
            <a:off x="7607808"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93" name="Patiente"/>
          <p:cNvSpPr/>
          <p:nvPr/>
        </p:nvSpPr>
        <p:spPr>
          <a:xfrm>
            <a:off x="7763256"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94" name="Patiente"/>
          <p:cNvSpPr/>
          <p:nvPr/>
        </p:nvSpPr>
        <p:spPr>
          <a:xfrm>
            <a:off x="7918704"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95" name="Patiente"/>
          <p:cNvSpPr/>
          <p:nvPr/>
        </p:nvSpPr>
        <p:spPr>
          <a:xfrm>
            <a:off x="8074152"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96" name="Patiente"/>
          <p:cNvSpPr/>
          <p:nvPr/>
        </p:nvSpPr>
        <p:spPr>
          <a:xfrm>
            <a:off x="8229600"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497" name="Patiente"/>
          <p:cNvSpPr/>
          <p:nvPr/>
        </p:nvSpPr>
        <p:spPr>
          <a:xfrm>
            <a:off x="8385048"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498" name="Patiente"/>
          <p:cNvSpPr/>
          <p:nvPr/>
        </p:nvSpPr>
        <p:spPr>
          <a:xfrm>
            <a:off x="8540496"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499" name="Patiente"/>
          <p:cNvSpPr/>
          <p:nvPr/>
        </p:nvSpPr>
        <p:spPr>
          <a:xfrm>
            <a:off x="8695944"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0" name="Patiente"/>
          <p:cNvSpPr/>
          <p:nvPr/>
        </p:nvSpPr>
        <p:spPr>
          <a:xfrm>
            <a:off x="8851392"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501" name="Patiente"/>
          <p:cNvSpPr/>
          <p:nvPr/>
        </p:nvSpPr>
        <p:spPr>
          <a:xfrm>
            <a:off x="9006840"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502" name="Patiente"/>
          <p:cNvSpPr/>
          <p:nvPr/>
        </p:nvSpPr>
        <p:spPr>
          <a:xfrm>
            <a:off x="9162288"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3" name="Patiente"/>
          <p:cNvSpPr/>
          <p:nvPr/>
        </p:nvSpPr>
        <p:spPr>
          <a:xfrm>
            <a:off x="9317736"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4" name="Patiente"/>
          <p:cNvSpPr/>
          <p:nvPr/>
        </p:nvSpPr>
        <p:spPr>
          <a:xfrm>
            <a:off x="9473184"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5" name="Patiente"/>
          <p:cNvSpPr/>
          <p:nvPr/>
        </p:nvSpPr>
        <p:spPr>
          <a:xfrm>
            <a:off x="9628632"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6" name="Patiente"/>
          <p:cNvSpPr/>
          <p:nvPr/>
        </p:nvSpPr>
        <p:spPr>
          <a:xfrm>
            <a:off x="9784080"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7" name="Patiente"/>
          <p:cNvSpPr/>
          <p:nvPr/>
        </p:nvSpPr>
        <p:spPr>
          <a:xfrm>
            <a:off x="9939528"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8" name="Patiente"/>
          <p:cNvSpPr/>
          <p:nvPr/>
        </p:nvSpPr>
        <p:spPr>
          <a:xfrm>
            <a:off x="10094976"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09" name="Patiente"/>
          <p:cNvSpPr/>
          <p:nvPr/>
        </p:nvSpPr>
        <p:spPr>
          <a:xfrm>
            <a:off x="10250424"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10" name="Patiente"/>
          <p:cNvSpPr/>
          <p:nvPr/>
        </p:nvSpPr>
        <p:spPr>
          <a:xfrm>
            <a:off x="10405872"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11" name="Patiente"/>
          <p:cNvSpPr/>
          <p:nvPr/>
        </p:nvSpPr>
        <p:spPr>
          <a:xfrm>
            <a:off x="10561320"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512" name="Patiente"/>
          <p:cNvSpPr/>
          <p:nvPr/>
        </p:nvSpPr>
        <p:spPr>
          <a:xfrm>
            <a:off x="10716768"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513" name="Patiente"/>
          <p:cNvSpPr/>
          <p:nvPr/>
        </p:nvSpPr>
        <p:spPr>
          <a:xfrm>
            <a:off x="10872216"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514" name="Patiente"/>
          <p:cNvSpPr/>
          <p:nvPr/>
        </p:nvSpPr>
        <p:spPr>
          <a:xfrm>
            <a:off x="11027664"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15" name="Patiente"/>
          <p:cNvSpPr/>
          <p:nvPr/>
        </p:nvSpPr>
        <p:spPr>
          <a:xfrm>
            <a:off x="11183112" y="3931920"/>
            <a:ext cx="100584" cy="100584"/>
          </a:xfrm>
          <a:prstGeom prst="ellipse">
            <a:avLst/>
          </a:prstGeom>
          <a:solidFill>
            <a:srgbClr val="0E8F7E"/>
          </a:solidFill>
          <a:ln w="12700">
            <a:solidFill>
              <a:srgbClr val="0E8F7E"/>
            </a:solidFill>
            <a:prstDash val="solid"/>
          </a:ln>
        </p:spPr>
        <p:txBody>
          <a:bodyPr/>
          <a:lstStyle/>
          <a:p>
            <a:endParaRPr lang="fr-FR"/>
          </a:p>
        </p:txBody>
      </p:sp>
      <p:sp>
        <p:nvSpPr>
          <p:cNvPr id="516" name="Patiente"/>
          <p:cNvSpPr/>
          <p:nvPr/>
        </p:nvSpPr>
        <p:spPr>
          <a:xfrm>
            <a:off x="11338560"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17" name="Patiente"/>
          <p:cNvSpPr/>
          <p:nvPr/>
        </p:nvSpPr>
        <p:spPr>
          <a:xfrm>
            <a:off x="11494008" y="3931920"/>
            <a:ext cx="100584" cy="100584"/>
          </a:xfrm>
          <a:prstGeom prst="ellipse">
            <a:avLst/>
          </a:prstGeom>
          <a:solidFill>
            <a:srgbClr val="2F3842"/>
          </a:solidFill>
          <a:ln w="12700">
            <a:solidFill>
              <a:srgbClr val="2F3842"/>
            </a:solidFill>
            <a:prstDash val="solid"/>
          </a:ln>
        </p:spPr>
        <p:txBody>
          <a:bodyPr/>
          <a:lstStyle/>
          <a:p>
            <a:endParaRPr lang="fr-FR"/>
          </a:p>
        </p:txBody>
      </p:sp>
      <p:sp>
        <p:nvSpPr>
          <p:cNvPr id="518" name="Patiente"/>
          <p:cNvSpPr/>
          <p:nvPr/>
        </p:nvSpPr>
        <p:spPr>
          <a:xfrm>
            <a:off x="6675120"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19" name="Patiente"/>
          <p:cNvSpPr/>
          <p:nvPr/>
        </p:nvSpPr>
        <p:spPr>
          <a:xfrm>
            <a:off x="6830568"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20" name="Patiente"/>
          <p:cNvSpPr/>
          <p:nvPr/>
        </p:nvSpPr>
        <p:spPr>
          <a:xfrm>
            <a:off x="6986016"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1" name="Patiente"/>
          <p:cNvSpPr/>
          <p:nvPr/>
        </p:nvSpPr>
        <p:spPr>
          <a:xfrm>
            <a:off x="7141464"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22" name="Patiente"/>
          <p:cNvSpPr/>
          <p:nvPr/>
        </p:nvSpPr>
        <p:spPr>
          <a:xfrm>
            <a:off x="7296912"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23" name="Patiente"/>
          <p:cNvSpPr/>
          <p:nvPr/>
        </p:nvSpPr>
        <p:spPr>
          <a:xfrm>
            <a:off x="7452360"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24" name="Patiente"/>
          <p:cNvSpPr/>
          <p:nvPr/>
        </p:nvSpPr>
        <p:spPr>
          <a:xfrm>
            <a:off x="7607808"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5" name="Patiente"/>
          <p:cNvSpPr/>
          <p:nvPr/>
        </p:nvSpPr>
        <p:spPr>
          <a:xfrm>
            <a:off x="7763256"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6" name="Patiente"/>
          <p:cNvSpPr/>
          <p:nvPr/>
        </p:nvSpPr>
        <p:spPr>
          <a:xfrm>
            <a:off x="7918704"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7" name="Patiente"/>
          <p:cNvSpPr/>
          <p:nvPr/>
        </p:nvSpPr>
        <p:spPr>
          <a:xfrm>
            <a:off x="8074152"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8" name="Patiente"/>
          <p:cNvSpPr/>
          <p:nvPr/>
        </p:nvSpPr>
        <p:spPr>
          <a:xfrm>
            <a:off x="8229600"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29" name="Patiente"/>
          <p:cNvSpPr/>
          <p:nvPr/>
        </p:nvSpPr>
        <p:spPr>
          <a:xfrm>
            <a:off x="8385048"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30" name="Patiente"/>
          <p:cNvSpPr/>
          <p:nvPr/>
        </p:nvSpPr>
        <p:spPr>
          <a:xfrm>
            <a:off x="8540496"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31" name="Patiente"/>
          <p:cNvSpPr/>
          <p:nvPr/>
        </p:nvSpPr>
        <p:spPr>
          <a:xfrm>
            <a:off x="8695944"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32" name="Patiente"/>
          <p:cNvSpPr/>
          <p:nvPr/>
        </p:nvSpPr>
        <p:spPr>
          <a:xfrm>
            <a:off x="8851392"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33" name="Patiente"/>
          <p:cNvSpPr/>
          <p:nvPr/>
        </p:nvSpPr>
        <p:spPr>
          <a:xfrm>
            <a:off x="9006840"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34" name="Patiente"/>
          <p:cNvSpPr/>
          <p:nvPr/>
        </p:nvSpPr>
        <p:spPr>
          <a:xfrm>
            <a:off x="9162288"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35" name="Patiente"/>
          <p:cNvSpPr/>
          <p:nvPr/>
        </p:nvSpPr>
        <p:spPr>
          <a:xfrm>
            <a:off x="9317736"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36" name="Patiente"/>
          <p:cNvSpPr/>
          <p:nvPr/>
        </p:nvSpPr>
        <p:spPr>
          <a:xfrm>
            <a:off x="9473184"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37" name="Patiente"/>
          <p:cNvSpPr/>
          <p:nvPr/>
        </p:nvSpPr>
        <p:spPr>
          <a:xfrm>
            <a:off x="9628632"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38" name="Patiente"/>
          <p:cNvSpPr/>
          <p:nvPr/>
        </p:nvSpPr>
        <p:spPr>
          <a:xfrm>
            <a:off x="9784080"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39" name="Patiente"/>
          <p:cNvSpPr/>
          <p:nvPr/>
        </p:nvSpPr>
        <p:spPr>
          <a:xfrm>
            <a:off x="9939528"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40" name="Patiente"/>
          <p:cNvSpPr/>
          <p:nvPr/>
        </p:nvSpPr>
        <p:spPr>
          <a:xfrm>
            <a:off x="10094976"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1" name="Patiente"/>
          <p:cNvSpPr/>
          <p:nvPr/>
        </p:nvSpPr>
        <p:spPr>
          <a:xfrm>
            <a:off x="10250424"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2" name="Patiente"/>
          <p:cNvSpPr/>
          <p:nvPr/>
        </p:nvSpPr>
        <p:spPr>
          <a:xfrm>
            <a:off x="10405872"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3" name="Patiente"/>
          <p:cNvSpPr/>
          <p:nvPr/>
        </p:nvSpPr>
        <p:spPr>
          <a:xfrm>
            <a:off x="10561320"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4" name="Patiente"/>
          <p:cNvSpPr/>
          <p:nvPr/>
        </p:nvSpPr>
        <p:spPr>
          <a:xfrm>
            <a:off x="10716768"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45" name="Patiente"/>
          <p:cNvSpPr/>
          <p:nvPr/>
        </p:nvSpPr>
        <p:spPr>
          <a:xfrm>
            <a:off x="10872216" y="4087368"/>
            <a:ext cx="100584" cy="100584"/>
          </a:xfrm>
          <a:prstGeom prst="ellipse">
            <a:avLst/>
          </a:prstGeom>
          <a:solidFill>
            <a:srgbClr val="0E8F7E"/>
          </a:solidFill>
          <a:ln w="12700">
            <a:solidFill>
              <a:srgbClr val="0E8F7E"/>
            </a:solidFill>
            <a:prstDash val="solid"/>
          </a:ln>
        </p:spPr>
        <p:txBody>
          <a:bodyPr/>
          <a:lstStyle/>
          <a:p>
            <a:endParaRPr lang="fr-FR"/>
          </a:p>
        </p:txBody>
      </p:sp>
      <p:sp>
        <p:nvSpPr>
          <p:cNvPr id="546" name="Patiente"/>
          <p:cNvSpPr/>
          <p:nvPr/>
        </p:nvSpPr>
        <p:spPr>
          <a:xfrm>
            <a:off x="11027664"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7" name="Patiente"/>
          <p:cNvSpPr/>
          <p:nvPr/>
        </p:nvSpPr>
        <p:spPr>
          <a:xfrm>
            <a:off x="11183112"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8" name="Patiente"/>
          <p:cNvSpPr/>
          <p:nvPr/>
        </p:nvSpPr>
        <p:spPr>
          <a:xfrm>
            <a:off x="11338560"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49" name="Patiente"/>
          <p:cNvSpPr/>
          <p:nvPr/>
        </p:nvSpPr>
        <p:spPr>
          <a:xfrm>
            <a:off x="11494008" y="4087368"/>
            <a:ext cx="100584" cy="100584"/>
          </a:xfrm>
          <a:prstGeom prst="ellipse">
            <a:avLst/>
          </a:prstGeom>
          <a:solidFill>
            <a:srgbClr val="2F3842"/>
          </a:solidFill>
          <a:ln w="12700">
            <a:solidFill>
              <a:srgbClr val="2F3842"/>
            </a:solidFill>
            <a:prstDash val="solid"/>
          </a:ln>
        </p:spPr>
        <p:txBody>
          <a:bodyPr/>
          <a:lstStyle/>
          <a:p>
            <a:endParaRPr lang="fr-FR"/>
          </a:p>
        </p:txBody>
      </p:sp>
      <p:sp>
        <p:nvSpPr>
          <p:cNvPr id="550" name="Patiente"/>
          <p:cNvSpPr/>
          <p:nvPr/>
        </p:nvSpPr>
        <p:spPr>
          <a:xfrm>
            <a:off x="667512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1" name="Patiente"/>
          <p:cNvSpPr/>
          <p:nvPr/>
        </p:nvSpPr>
        <p:spPr>
          <a:xfrm>
            <a:off x="6830568"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2" name="Patiente"/>
          <p:cNvSpPr/>
          <p:nvPr/>
        </p:nvSpPr>
        <p:spPr>
          <a:xfrm>
            <a:off x="6986016"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3" name="Patiente"/>
          <p:cNvSpPr/>
          <p:nvPr/>
        </p:nvSpPr>
        <p:spPr>
          <a:xfrm>
            <a:off x="7141464"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4" name="Patiente"/>
          <p:cNvSpPr/>
          <p:nvPr/>
        </p:nvSpPr>
        <p:spPr>
          <a:xfrm>
            <a:off x="7296912"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5" name="Patiente"/>
          <p:cNvSpPr/>
          <p:nvPr/>
        </p:nvSpPr>
        <p:spPr>
          <a:xfrm>
            <a:off x="745236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6" name="Patiente"/>
          <p:cNvSpPr/>
          <p:nvPr/>
        </p:nvSpPr>
        <p:spPr>
          <a:xfrm>
            <a:off x="7607808" y="4242816"/>
            <a:ext cx="100584" cy="100584"/>
          </a:xfrm>
          <a:prstGeom prst="ellipse">
            <a:avLst/>
          </a:prstGeom>
          <a:solidFill>
            <a:srgbClr val="0E8F7E"/>
          </a:solidFill>
          <a:ln w="12700">
            <a:solidFill>
              <a:srgbClr val="0E8F7E"/>
            </a:solidFill>
            <a:prstDash val="solid"/>
          </a:ln>
        </p:spPr>
        <p:txBody>
          <a:bodyPr/>
          <a:lstStyle/>
          <a:p>
            <a:endParaRPr lang="fr-FR"/>
          </a:p>
        </p:txBody>
      </p:sp>
      <p:sp>
        <p:nvSpPr>
          <p:cNvPr id="557" name="Patiente"/>
          <p:cNvSpPr/>
          <p:nvPr/>
        </p:nvSpPr>
        <p:spPr>
          <a:xfrm>
            <a:off x="7763256"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58" name="Patiente"/>
          <p:cNvSpPr/>
          <p:nvPr/>
        </p:nvSpPr>
        <p:spPr>
          <a:xfrm>
            <a:off x="7918704" y="4242816"/>
            <a:ext cx="100584" cy="100584"/>
          </a:xfrm>
          <a:prstGeom prst="ellipse">
            <a:avLst/>
          </a:prstGeom>
          <a:solidFill>
            <a:srgbClr val="0E8F7E"/>
          </a:solidFill>
          <a:ln w="12700">
            <a:solidFill>
              <a:srgbClr val="0E8F7E"/>
            </a:solidFill>
            <a:prstDash val="solid"/>
          </a:ln>
        </p:spPr>
        <p:txBody>
          <a:bodyPr/>
          <a:lstStyle/>
          <a:p>
            <a:endParaRPr lang="fr-FR"/>
          </a:p>
        </p:txBody>
      </p:sp>
      <p:sp>
        <p:nvSpPr>
          <p:cNvPr id="559" name="Patiente"/>
          <p:cNvSpPr/>
          <p:nvPr/>
        </p:nvSpPr>
        <p:spPr>
          <a:xfrm>
            <a:off x="8074152"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0" name="Patiente"/>
          <p:cNvSpPr/>
          <p:nvPr/>
        </p:nvSpPr>
        <p:spPr>
          <a:xfrm>
            <a:off x="822960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1" name="Patiente"/>
          <p:cNvSpPr/>
          <p:nvPr/>
        </p:nvSpPr>
        <p:spPr>
          <a:xfrm>
            <a:off x="8385048" y="4242816"/>
            <a:ext cx="100584" cy="100584"/>
          </a:xfrm>
          <a:prstGeom prst="ellipse">
            <a:avLst/>
          </a:prstGeom>
          <a:solidFill>
            <a:srgbClr val="0E8F7E"/>
          </a:solidFill>
          <a:ln w="12700">
            <a:solidFill>
              <a:srgbClr val="0E8F7E"/>
            </a:solidFill>
            <a:prstDash val="solid"/>
          </a:ln>
        </p:spPr>
        <p:txBody>
          <a:bodyPr/>
          <a:lstStyle/>
          <a:p>
            <a:endParaRPr lang="fr-FR"/>
          </a:p>
        </p:txBody>
      </p:sp>
      <p:sp>
        <p:nvSpPr>
          <p:cNvPr id="562" name="Patiente"/>
          <p:cNvSpPr/>
          <p:nvPr/>
        </p:nvSpPr>
        <p:spPr>
          <a:xfrm>
            <a:off x="8540496"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3" name="Patiente"/>
          <p:cNvSpPr/>
          <p:nvPr/>
        </p:nvSpPr>
        <p:spPr>
          <a:xfrm>
            <a:off x="8695944"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4" name="Patiente"/>
          <p:cNvSpPr/>
          <p:nvPr/>
        </p:nvSpPr>
        <p:spPr>
          <a:xfrm>
            <a:off x="8851392"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5" name="Patiente"/>
          <p:cNvSpPr/>
          <p:nvPr/>
        </p:nvSpPr>
        <p:spPr>
          <a:xfrm>
            <a:off x="900684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6" name="Patiente"/>
          <p:cNvSpPr/>
          <p:nvPr/>
        </p:nvSpPr>
        <p:spPr>
          <a:xfrm>
            <a:off x="9162288"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67" name="Patiente"/>
          <p:cNvSpPr/>
          <p:nvPr/>
        </p:nvSpPr>
        <p:spPr>
          <a:xfrm>
            <a:off x="9317736" y="4242816"/>
            <a:ext cx="100584" cy="100584"/>
          </a:xfrm>
          <a:prstGeom prst="ellipse">
            <a:avLst/>
          </a:prstGeom>
          <a:solidFill>
            <a:srgbClr val="0E8F7E"/>
          </a:solidFill>
          <a:ln w="12700">
            <a:solidFill>
              <a:srgbClr val="0E8F7E"/>
            </a:solidFill>
            <a:prstDash val="solid"/>
          </a:ln>
        </p:spPr>
        <p:txBody>
          <a:bodyPr/>
          <a:lstStyle/>
          <a:p>
            <a:endParaRPr lang="fr-FR"/>
          </a:p>
        </p:txBody>
      </p:sp>
      <p:sp>
        <p:nvSpPr>
          <p:cNvPr id="568" name="Patiente"/>
          <p:cNvSpPr/>
          <p:nvPr/>
        </p:nvSpPr>
        <p:spPr>
          <a:xfrm>
            <a:off x="9473184" y="4242816"/>
            <a:ext cx="100584" cy="100584"/>
          </a:xfrm>
          <a:prstGeom prst="ellipse">
            <a:avLst/>
          </a:prstGeom>
          <a:solidFill>
            <a:srgbClr val="0E8F7E"/>
          </a:solidFill>
          <a:ln w="12700">
            <a:solidFill>
              <a:srgbClr val="0E8F7E"/>
            </a:solidFill>
            <a:prstDash val="solid"/>
          </a:ln>
        </p:spPr>
        <p:txBody>
          <a:bodyPr/>
          <a:lstStyle/>
          <a:p>
            <a:endParaRPr lang="fr-FR"/>
          </a:p>
        </p:txBody>
      </p:sp>
      <p:sp>
        <p:nvSpPr>
          <p:cNvPr id="569" name="Patiente"/>
          <p:cNvSpPr/>
          <p:nvPr/>
        </p:nvSpPr>
        <p:spPr>
          <a:xfrm>
            <a:off x="9628632"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0" name="Patiente"/>
          <p:cNvSpPr/>
          <p:nvPr/>
        </p:nvSpPr>
        <p:spPr>
          <a:xfrm>
            <a:off x="978408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1" name="Patiente"/>
          <p:cNvSpPr/>
          <p:nvPr/>
        </p:nvSpPr>
        <p:spPr>
          <a:xfrm>
            <a:off x="9939528"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2" name="Patiente"/>
          <p:cNvSpPr/>
          <p:nvPr/>
        </p:nvSpPr>
        <p:spPr>
          <a:xfrm>
            <a:off x="10094976"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3" name="Patiente"/>
          <p:cNvSpPr/>
          <p:nvPr/>
        </p:nvSpPr>
        <p:spPr>
          <a:xfrm>
            <a:off x="10250424"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4" name="Patiente"/>
          <p:cNvSpPr/>
          <p:nvPr/>
        </p:nvSpPr>
        <p:spPr>
          <a:xfrm>
            <a:off x="10405872"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5" name="Patiente"/>
          <p:cNvSpPr/>
          <p:nvPr/>
        </p:nvSpPr>
        <p:spPr>
          <a:xfrm>
            <a:off x="1056132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6" name="Patiente"/>
          <p:cNvSpPr/>
          <p:nvPr/>
        </p:nvSpPr>
        <p:spPr>
          <a:xfrm>
            <a:off x="10716768"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7" name="Patiente"/>
          <p:cNvSpPr/>
          <p:nvPr/>
        </p:nvSpPr>
        <p:spPr>
          <a:xfrm>
            <a:off x="10872216"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8" name="Patiente"/>
          <p:cNvSpPr/>
          <p:nvPr/>
        </p:nvSpPr>
        <p:spPr>
          <a:xfrm>
            <a:off x="11027664"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79" name="Patiente"/>
          <p:cNvSpPr/>
          <p:nvPr/>
        </p:nvSpPr>
        <p:spPr>
          <a:xfrm>
            <a:off x="11183112" y="4242816"/>
            <a:ext cx="100584" cy="100584"/>
          </a:xfrm>
          <a:prstGeom prst="ellipse">
            <a:avLst/>
          </a:prstGeom>
          <a:solidFill>
            <a:srgbClr val="0E8F7E"/>
          </a:solidFill>
          <a:ln w="12700">
            <a:solidFill>
              <a:srgbClr val="0E8F7E"/>
            </a:solidFill>
            <a:prstDash val="solid"/>
          </a:ln>
        </p:spPr>
        <p:txBody>
          <a:bodyPr/>
          <a:lstStyle/>
          <a:p>
            <a:endParaRPr lang="fr-FR"/>
          </a:p>
        </p:txBody>
      </p:sp>
      <p:sp>
        <p:nvSpPr>
          <p:cNvPr id="580" name="Patiente"/>
          <p:cNvSpPr/>
          <p:nvPr/>
        </p:nvSpPr>
        <p:spPr>
          <a:xfrm>
            <a:off x="11338560"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81" name="Patiente"/>
          <p:cNvSpPr/>
          <p:nvPr/>
        </p:nvSpPr>
        <p:spPr>
          <a:xfrm>
            <a:off x="11494008" y="4242816"/>
            <a:ext cx="100584" cy="100584"/>
          </a:xfrm>
          <a:prstGeom prst="ellipse">
            <a:avLst/>
          </a:prstGeom>
          <a:solidFill>
            <a:srgbClr val="2F3842"/>
          </a:solidFill>
          <a:ln w="12700">
            <a:solidFill>
              <a:srgbClr val="2F3842"/>
            </a:solidFill>
            <a:prstDash val="solid"/>
          </a:ln>
        </p:spPr>
        <p:txBody>
          <a:bodyPr/>
          <a:lstStyle/>
          <a:p>
            <a:endParaRPr lang="fr-FR"/>
          </a:p>
        </p:txBody>
      </p:sp>
      <p:sp>
        <p:nvSpPr>
          <p:cNvPr id="582" name="Patiente"/>
          <p:cNvSpPr/>
          <p:nvPr/>
        </p:nvSpPr>
        <p:spPr>
          <a:xfrm>
            <a:off x="6675120"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83" name="Patiente"/>
          <p:cNvSpPr/>
          <p:nvPr/>
        </p:nvSpPr>
        <p:spPr>
          <a:xfrm>
            <a:off x="6830568"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84" name="Patiente"/>
          <p:cNvSpPr/>
          <p:nvPr/>
        </p:nvSpPr>
        <p:spPr>
          <a:xfrm>
            <a:off x="6986016"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85" name="Patiente"/>
          <p:cNvSpPr/>
          <p:nvPr/>
        </p:nvSpPr>
        <p:spPr>
          <a:xfrm>
            <a:off x="7141464"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86" name="Patiente"/>
          <p:cNvSpPr/>
          <p:nvPr/>
        </p:nvSpPr>
        <p:spPr>
          <a:xfrm>
            <a:off x="7296912"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87" name="Patiente"/>
          <p:cNvSpPr/>
          <p:nvPr/>
        </p:nvSpPr>
        <p:spPr>
          <a:xfrm>
            <a:off x="7452360"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88" name="Patiente"/>
          <p:cNvSpPr/>
          <p:nvPr/>
        </p:nvSpPr>
        <p:spPr>
          <a:xfrm>
            <a:off x="7607808"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589" name="Patiente"/>
          <p:cNvSpPr/>
          <p:nvPr/>
        </p:nvSpPr>
        <p:spPr>
          <a:xfrm>
            <a:off x="7763256"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0" name="Patiente"/>
          <p:cNvSpPr/>
          <p:nvPr/>
        </p:nvSpPr>
        <p:spPr>
          <a:xfrm>
            <a:off x="7918704"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1" name="Patiente"/>
          <p:cNvSpPr/>
          <p:nvPr/>
        </p:nvSpPr>
        <p:spPr>
          <a:xfrm>
            <a:off x="8074152"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2" name="Patiente"/>
          <p:cNvSpPr/>
          <p:nvPr/>
        </p:nvSpPr>
        <p:spPr>
          <a:xfrm>
            <a:off x="8229600"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593" name="Patiente"/>
          <p:cNvSpPr/>
          <p:nvPr/>
        </p:nvSpPr>
        <p:spPr>
          <a:xfrm>
            <a:off x="8385048"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4" name="Patiente"/>
          <p:cNvSpPr/>
          <p:nvPr/>
        </p:nvSpPr>
        <p:spPr>
          <a:xfrm>
            <a:off x="8540496"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5" name="Patiente"/>
          <p:cNvSpPr/>
          <p:nvPr/>
        </p:nvSpPr>
        <p:spPr>
          <a:xfrm>
            <a:off x="8695944"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6" name="Patiente"/>
          <p:cNvSpPr/>
          <p:nvPr/>
        </p:nvSpPr>
        <p:spPr>
          <a:xfrm>
            <a:off x="8851392"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7" name="Patiente"/>
          <p:cNvSpPr/>
          <p:nvPr/>
        </p:nvSpPr>
        <p:spPr>
          <a:xfrm>
            <a:off x="9006840"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598" name="Patiente"/>
          <p:cNvSpPr/>
          <p:nvPr/>
        </p:nvSpPr>
        <p:spPr>
          <a:xfrm>
            <a:off x="9162288"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599" name="Patiente"/>
          <p:cNvSpPr/>
          <p:nvPr/>
        </p:nvSpPr>
        <p:spPr>
          <a:xfrm>
            <a:off x="9317736"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00" name="Patiente"/>
          <p:cNvSpPr/>
          <p:nvPr/>
        </p:nvSpPr>
        <p:spPr>
          <a:xfrm>
            <a:off x="9473184"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01" name="Patiente"/>
          <p:cNvSpPr/>
          <p:nvPr/>
        </p:nvSpPr>
        <p:spPr>
          <a:xfrm>
            <a:off x="9628632"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02" name="Patiente"/>
          <p:cNvSpPr/>
          <p:nvPr/>
        </p:nvSpPr>
        <p:spPr>
          <a:xfrm>
            <a:off x="9784080"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603" name="Patiente"/>
          <p:cNvSpPr/>
          <p:nvPr/>
        </p:nvSpPr>
        <p:spPr>
          <a:xfrm>
            <a:off x="9939528"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04" name="Patiente"/>
          <p:cNvSpPr/>
          <p:nvPr/>
        </p:nvSpPr>
        <p:spPr>
          <a:xfrm>
            <a:off x="10094976"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605" name="Patiente"/>
          <p:cNvSpPr/>
          <p:nvPr/>
        </p:nvSpPr>
        <p:spPr>
          <a:xfrm>
            <a:off x="10250424"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06" name="Patiente"/>
          <p:cNvSpPr/>
          <p:nvPr/>
        </p:nvSpPr>
        <p:spPr>
          <a:xfrm>
            <a:off x="10405872"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607" name="Patiente"/>
          <p:cNvSpPr/>
          <p:nvPr/>
        </p:nvSpPr>
        <p:spPr>
          <a:xfrm>
            <a:off x="10561320"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608" name="Patiente"/>
          <p:cNvSpPr/>
          <p:nvPr/>
        </p:nvSpPr>
        <p:spPr>
          <a:xfrm>
            <a:off x="10716768" y="4398264"/>
            <a:ext cx="100584" cy="100584"/>
          </a:xfrm>
          <a:prstGeom prst="ellipse">
            <a:avLst/>
          </a:prstGeom>
          <a:solidFill>
            <a:srgbClr val="0E8F7E"/>
          </a:solidFill>
          <a:ln w="12700">
            <a:solidFill>
              <a:srgbClr val="0E8F7E"/>
            </a:solidFill>
            <a:prstDash val="solid"/>
          </a:ln>
        </p:spPr>
        <p:txBody>
          <a:bodyPr/>
          <a:lstStyle/>
          <a:p>
            <a:endParaRPr lang="fr-FR"/>
          </a:p>
        </p:txBody>
      </p:sp>
      <p:sp>
        <p:nvSpPr>
          <p:cNvPr id="609" name="Patiente"/>
          <p:cNvSpPr/>
          <p:nvPr/>
        </p:nvSpPr>
        <p:spPr>
          <a:xfrm>
            <a:off x="10872216"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10" name="Patiente"/>
          <p:cNvSpPr/>
          <p:nvPr/>
        </p:nvSpPr>
        <p:spPr>
          <a:xfrm>
            <a:off x="11027664"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11" name="Patiente"/>
          <p:cNvSpPr/>
          <p:nvPr/>
        </p:nvSpPr>
        <p:spPr>
          <a:xfrm>
            <a:off x="11183112"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12" name="Patiente"/>
          <p:cNvSpPr/>
          <p:nvPr/>
        </p:nvSpPr>
        <p:spPr>
          <a:xfrm>
            <a:off x="11338560"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13" name="Patiente"/>
          <p:cNvSpPr/>
          <p:nvPr/>
        </p:nvSpPr>
        <p:spPr>
          <a:xfrm>
            <a:off x="11494008" y="4398264"/>
            <a:ext cx="100584" cy="100584"/>
          </a:xfrm>
          <a:prstGeom prst="ellipse">
            <a:avLst/>
          </a:prstGeom>
          <a:solidFill>
            <a:srgbClr val="2F3842"/>
          </a:solidFill>
          <a:ln w="12700">
            <a:solidFill>
              <a:srgbClr val="2F3842"/>
            </a:solidFill>
            <a:prstDash val="solid"/>
          </a:ln>
        </p:spPr>
        <p:txBody>
          <a:bodyPr/>
          <a:lstStyle/>
          <a:p>
            <a:endParaRPr lang="fr-FR"/>
          </a:p>
        </p:txBody>
      </p:sp>
      <p:sp>
        <p:nvSpPr>
          <p:cNvPr id="614" name="Patiente"/>
          <p:cNvSpPr/>
          <p:nvPr/>
        </p:nvSpPr>
        <p:spPr>
          <a:xfrm>
            <a:off x="6675120"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15" name="Patiente"/>
          <p:cNvSpPr/>
          <p:nvPr/>
        </p:nvSpPr>
        <p:spPr>
          <a:xfrm>
            <a:off x="6830568"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16" name="Patiente"/>
          <p:cNvSpPr/>
          <p:nvPr/>
        </p:nvSpPr>
        <p:spPr>
          <a:xfrm>
            <a:off x="6986016"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17" name="Patiente"/>
          <p:cNvSpPr/>
          <p:nvPr/>
        </p:nvSpPr>
        <p:spPr>
          <a:xfrm>
            <a:off x="7141464"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18" name="Patiente"/>
          <p:cNvSpPr/>
          <p:nvPr/>
        </p:nvSpPr>
        <p:spPr>
          <a:xfrm>
            <a:off x="7296912"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19" name="Patiente"/>
          <p:cNvSpPr/>
          <p:nvPr/>
        </p:nvSpPr>
        <p:spPr>
          <a:xfrm>
            <a:off x="7452360"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0" name="Patiente"/>
          <p:cNvSpPr/>
          <p:nvPr/>
        </p:nvSpPr>
        <p:spPr>
          <a:xfrm>
            <a:off x="7607808"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1" name="Patiente"/>
          <p:cNvSpPr/>
          <p:nvPr/>
        </p:nvSpPr>
        <p:spPr>
          <a:xfrm>
            <a:off x="7763256"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2" name="Patiente"/>
          <p:cNvSpPr/>
          <p:nvPr/>
        </p:nvSpPr>
        <p:spPr>
          <a:xfrm>
            <a:off x="7918704"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3" name="Patiente"/>
          <p:cNvSpPr/>
          <p:nvPr/>
        </p:nvSpPr>
        <p:spPr>
          <a:xfrm>
            <a:off x="8074152"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4" name="Patiente"/>
          <p:cNvSpPr/>
          <p:nvPr/>
        </p:nvSpPr>
        <p:spPr>
          <a:xfrm>
            <a:off x="8229600"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5" name="Patiente"/>
          <p:cNvSpPr/>
          <p:nvPr/>
        </p:nvSpPr>
        <p:spPr>
          <a:xfrm>
            <a:off x="8385048"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26" name="Patiente"/>
          <p:cNvSpPr/>
          <p:nvPr/>
        </p:nvSpPr>
        <p:spPr>
          <a:xfrm>
            <a:off x="8540496"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7" name="Patiente"/>
          <p:cNvSpPr/>
          <p:nvPr/>
        </p:nvSpPr>
        <p:spPr>
          <a:xfrm>
            <a:off x="8695944"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28" name="Patiente"/>
          <p:cNvSpPr/>
          <p:nvPr/>
        </p:nvSpPr>
        <p:spPr>
          <a:xfrm>
            <a:off x="8851392"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29" name="Patiente"/>
          <p:cNvSpPr/>
          <p:nvPr/>
        </p:nvSpPr>
        <p:spPr>
          <a:xfrm>
            <a:off x="9006840"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30" name="Patiente"/>
          <p:cNvSpPr/>
          <p:nvPr/>
        </p:nvSpPr>
        <p:spPr>
          <a:xfrm>
            <a:off x="9162288"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31" name="Patiente"/>
          <p:cNvSpPr/>
          <p:nvPr/>
        </p:nvSpPr>
        <p:spPr>
          <a:xfrm>
            <a:off x="9317736"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32" name="Patiente"/>
          <p:cNvSpPr/>
          <p:nvPr/>
        </p:nvSpPr>
        <p:spPr>
          <a:xfrm>
            <a:off x="9473184"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33" name="Patiente"/>
          <p:cNvSpPr/>
          <p:nvPr/>
        </p:nvSpPr>
        <p:spPr>
          <a:xfrm>
            <a:off x="9628632"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34" name="Patiente"/>
          <p:cNvSpPr/>
          <p:nvPr/>
        </p:nvSpPr>
        <p:spPr>
          <a:xfrm>
            <a:off x="9784080"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35" name="Patiente"/>
          <p:cNvSpPr/>
          <p:nvPr/>
        </p:nvSpPr>
        <p:spPr>
          <a:xfrm>
            <a:off x="9939528"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36" name="Patiente"/>
          <p:cNvSpPr/>
          <p:nvPr/>
        </p:nvSpPr>
        <p:spPr>
          <a:xfrm>
            <a:off x="10094976"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37" name="Patiente"/>
          <p:cNvSpPr/>
          <p:nvPr/>
        </p:nvSpPr>
        <p:spPr>
          <a:xfrm>
            <a:off x="10250424"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38" name="Patiente"/>
          <p:cNvSpPr/>
          <p:nvPr/>
        </p:nvSpPr>
        <p:spPr>
          <a:xfrm>
            <a:off x="10405872"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39" name="Patiente"/>
          <p:cNvSpPr/>
          <p:nvPr/>
        </p:nvSpPr>
        <p:spPr>
          <a:xfrm>
            <a:off x="10561320"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40" name="Patiente"/>
          <p:cNvSpPr/>
          <p:nvPr/>
        </p:nvSpPr>
        <p:spPr>
          <a:xfrm>
            <a:off x="10716768"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41" name="Patiente"/>
          <p:cNvSpPr/>
          <p:nvPr/>
        </p:nvSpPr>
        <p:spPr>
          <a:xfrm>
            <a:off x="10872216"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42" name="Patiente"/>
          <p:cNvSpPr/>
          <p:nvPr/>
        </p:nvSpPr>
        <p:spPr>
          <a:xfrm>
            <a:off x="11027664"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43" name="Patiente"/>
          <p:cNvSpPr/>
          <p:nvPr/>
        </p:nvSpPr>
        <p:spPr>
          <a:xfrm>
            <a:off x="11183112" y="4553712"/>
            <a:ext cx="100584" cy="100584"/>
          </a:xfrm>
          <a:prstGeom prst="ellipse">
            <a:avLst/>
          </a:prstGeom>
          <a:solidFill>
            <a:srgbClr val="2F3842"/>
          </a:solidFill>
          <a:ln w="12700">
            <a:solidFill>
              <a:srgbClr val="2F3842"/>
            </a:solidFill>
            <a:prstDash val="solid"/>
          </a:ln>
        </p:spPr>
        <p:txBody>
          <a:bodyPr/>
          <a:lstStyle/>
          <a:p>
            <a:endParaRPr lang="fr-FR"/>
          </a:p>
        </p:txBody>
      </p:sp>
      <p:sp>
        <p:nvSpPr>
          <p:cNvPr id="644" name="Patiente"/>
          <p:cNvSpPr/>
          <p:nvPr/>
        </p:nvSpPr>
        <p:spPr>
          <a:xfrm>
            <a:off x="11338560"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45" name="Patiente"/>
          <p:cNvSpPr/>
          <p:nvPr/>
        </p:nvSpPr>
        <p:spPr>
          <a:xfrm>
            <a:off x="11494008" y="4553712"/>
            <a:ext cx="100584" cy="100584"/>
          </a:xfrm>
          <a:prstGeom prst="ellipse">
            <a:avLst/>
          </a:prstGeom>
          <a:solidFill>
            <a:srgbClr val="0E8F7E"/>
          </a:solidFill>
          <a:ln w="12700">
            <a:solidFill>
              <a:srgbClr val="0E8F7E"/>
            </a:solidFill>
            <a:prstDash val="solid"/>
          </a:ln>
        </p:spPr>
        <p:txBody>
          <a:bodyPr/>
          <a:lstStyle/>
          <a:p>
            <a:endParaRPr lang="fr-FR"/>
          </a:p>
        </p:txBody>
      </p:sp>
      <p:sp>
        <p:nvSpPr>
          <p:cNvPr id="646" name="Patiente"/>
          <p:cNvSpPr/>
          <p:nvPr/>
        </p:nvSpPr>
        <p:spPr>
          <a:xfrm>
            <a:off x="6675120"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47" name="Patiente"/>
          <p:cNvSpPr/>
          <p:nvPr/>
        </p:nvSpPr>
        <p:spPr>
          <a:xfrm>
            <a:off x="6830568"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48" name="Patiente"/>
          <p:cNvSpPr/>
          <p:nvPr/>
        </p:nvSpPr>
        <p:spPr>
          <a:xfrm>
            <a:off x="6986016"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49" name="Patiente"/>
          <p:cNvSpPr/>
          <p:nvPr/>
        </p:nvSpPr>
        <p:spPr>
          <a:xfrm>
            <a:off x="7141464"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50" name="Patiente"/>
          <p:cNvSpPr/>
          <p:nvPr/>
        </p:nvSpPr>
        <p:spPr>
          <a:xfrm>
            <a:off x="7296912"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51" name="Patiente"/>
          <p:cNvSpPr/>
          <p:nvPr/>
        </p:nvSpPr>
        <p:spPr>
          <a:xfrm>
            <a:off x="7452360"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52" name="Patiente"/>
          <p:cNvSpPr/>
          <p:nvPr/>
        </p:nvSpPr>
        <p:spPr>
          <a:xfrm>
            <a:off x="7607808"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53" name="Patiente"/>
          <p:cNvSpPr/>
          <p:nvPr/>
        </p:nvSpPr>
        <p:spPr>
          <a:xfrm>
            <a:off x="7763256"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54" name="Patiente"/>
          <p:cNvSpPr/>
          <p:nvPr/>
        </p:nvSpPr>
        <p:spPr>
          <a:xfrm>
            <a:off x="7918704"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55" name="Patiente"/>
          <p:cNvSpPr/>
          <p:nvPr/>
        </p:nvSpPr>
        <p:spPr>
          <a:xfrm>
            <a:off x="8074152"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56" name="Patiente"/>
          <p:cNvSpPr/>
          <p:nvPr/>
        </p:nvSpPr>
        <p:spPr>
          <a:xfrm>
            <a:off x="8229600"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57" name="Patiente"/>
          <p:cNvSpPr/>
          <p:nvPr/>
        </p:nvSpPr>
        <p:spPr>
          <a:xfrm>
            <a:off x="8385048"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58" name="Patiente"/>
          <p:cNvSpPr/>
          <p:nvPr/>
        </p:nvSpPr>
        <p:spPr>
          <a:xfrm>
            <a:off x="8540496"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59" name="Patiente"/>
          <p:cNvSpPr/>
          <p:nvPr/>
        </p:nvSpPr>
        <p:spPr>
          <a:xfrm>
            <a:off x="8695944"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60" name="Patiente"/>
          <p:cNvSpPr/>
          <p:nvPr/>
        </p:nvSpPr>
        <p:spPr>
          <a:xfrm>
            <a:off x="8851392"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1" name="Patiente"/>
          <p:cNvSpPr/>
          <p:nvPr/>
        </p:nvSpPr>
        <p:spPr>
          <a:xfrm>
            <a:off x="9006840"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2" name="Patiente"/>
          <p:cNvSpPr/>
          <p:nvPr/>
        </p:nvSpPr>
        <p:spPr>
          <a:xfrm>
            <a:off x="9162288"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63" name="Patiente"/>
          <p:cNvSpPr/>
          <p:nvPr/>
        </p:nvSpPr>
        <p:spPr>
          <a:xfrm>
            <a:off x="9317736"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4" name="Patiente"/>
          <p:cNvSpPr/>
          <p:nvPr/>
        </p:nvSpPr>
        <p:spPr>
          <a:xfrm>
            <a:off x="9473184"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5" name="Patiente"/>
          <p:cNvSpPr/>
          <p:nvPr/>
        </p:nvSpPr>
        <p:spPr>
          <a:xfrm>
            <a:off x="9628632"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66" name="Patiente"/>
          <p:cNvSpPr/>
          <p:nvPr/>
        </p:nvSpPr>
        <p:spPr>
          <a:xfrm>
            <a:off x="9784080"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7" name="Patiente"/>
          <p:cNvSpPr/>
          <p:nvPr/>
        </p:nvSpPr>
        <p:spPr>
          <a:xfrm>
            <a:off x="9939528"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8" name="Patiente"/>
          <p:cNvSpPr/>
          <p:nvPr/>
        </p:nvSpPr>
        <p:spPr>
          <a:xfrm>
            <a:off x="10094976"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69" name="Patiente"/>
          <p:cNvSpPr/>
          <p:nvPr/>
        </p:nvSpPr>
        <p:spPr>
          <a:xfrm>
            <a:off x="10250424"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0" name="Patiente"/>
          <p:cNvSpPr/>
          <p:nvPr/>
        </p:nvSpPr>
        <p:spPr>
          <a:xfrm>
            <a:off x="10405872"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71" name="Patiente"/>
          <p:cNvSpPr/>
          <p:nvPr/>
        </p:nvSpPr>
        <p:spPr>
          <a:xfrm>
            <a:off x="10561320"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2" name="Patiente"/>
          <p:cNvSpPr/>
          <p:nvPr/>
        </p:nvSpPr>
        <p:spPr>
          <a:xfrm>
            <a:off x="10716768" y="4709160"/>
            <a:ext cx="100584" cy="100584"/>
          </a:xfrm>
          <a:prstGeom prst="ellipse">
            <a:avLst/>
          </a:prstGeom>
          <a:solidFill>
            <a:srgbClr val="0E8F7E"/>
          </a:solidFill>
          <a:ln w="12700">
            <a:solidFill>
              <a:srgbClr val="0E8F7E"/>
            </a:solidFill>
            <a:prstDash val="solid"/>
          </a:ln>
        </p:spPr>
        <p:txBody>
          <a:bodyPr/>
          <a:lstStyle/>
          <a:p>
            <a:endParaRPr lang="fr-FR"/>
          </a:p>
        </p:txBody>
      </p:sp>
      <p:sp>
        <p:nvSpPr>
          <p:cNvPr id="673" name="Patiente"/>
          <p:cNvSpPr/>
          <p:nvPr/>
        </p:nvSpPr>
        <p:spPr>
          <a:xfrm>
            <a:off x="10872216"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4" name="Patiente"/>
          <p:cNvSpPr/>
          <p:nvPr/>
        </p:nvSpPr>
        <p:spPr>
          <a:xfrm>
            <a:off x="11027664"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5" name="Patiente"/>
          <p:cNvSpPr/>
          <p:nvPr/>
        </p:nvSpPr>
        <p:spPr>
          <a:xfrm>
            <a:off x="11183112"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6" name="Patiente"/>
          <p:cNvSpPr/>
          <p:nvPr/>
        </p:nvSpPr>
        <p:spPr>
          <a:xfrm>
            <a:off x="11338560"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7" name="Patiente"/>
          <p:cNvSpPr/>
          <p:nvPr/>
        </p:nvSpPr>
        <p:spPr>
          <a:xfrm>
            <a:off x="11494008" y="4709160"/>
            <a:ext cx="100584" cy="100584"/>
          </a:xfrm>
          <a:prstGeom prst="ellipse">
            <a:avLst/>
          </a:prstGeom>
          <a:solidFill>
            <a:srgbClr val="2F3842"/>
          </a:solidFill>
          <a:ln w="12700">
            <a:solidFill>
              <a:srgbClr val="2F3842"/>
            </a:solidFill>
            <a:prstDash val="solid"/>
          </a:ln>
        </p:spPr>
        <p:txBody>
          <a:bodyPr/>
          <a:lstStyle/>
          <a:p>
            <a:endParaRPr lang="fr-FR"/>
          </a:p>
        </p:txBody>
      </p:sp>
      <p:sp>
        <p:nvSpPr>
          <p:cNvPr id="678" name="Patiente"/>
          <p:cNvSpPr/>
          <p:nvPr/>
        </p:nvSpPr>
        <p:spPr>
          <a:xfrm>
            <a:off x="667512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79" name="Patiente"/>
          <p:cNvSpPr/>
          <p:nvPr/>
        </p:nvSpPr>
        <p:spPr>
          <a:xfrm>
            <a:off x="6830568"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0" name="Patiente"/>
          <p:cNvSpPr/>
          <p:nvPr/>
        </p:nvSpPr>
        <p:spPr>
          <a:xfrm>
            <a:off x="6986016"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681" name="Patiente"/>
          <p:cNvSpPr/>
          <p:nvPr/>
        </p:nvSpPr>
        <p:spPr>
          <a:xfrm>
            <a:off x="7141464"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682" name="Patiente"/>
          <p:cNvSpPr/>
          <p:nvPr/>
        </p:nvSpPr>
        <p:spPr>
          <a:xfrm>
            <a:off x="7296912"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3" name="Patiente"/>
          <p:cNvSpPr/>
          <p:nvPr/>
        </p:nvSpPr>
        <p:spPr>
          <a:xfrm>
            <a:off x="745236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4" name="Patiente"/>
          <p:cNvSpPr/>
          <p:nvPr/>
        </p:nvSpPr>
        <p:spPr>
          <a:xfrm>
            <a:off x="7607808"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5" name="Patiente"/>
          <p:cNvSpPr/>
          <p:nvPr/>
        </p:nvSpPr>
        <p:spPr>
          <a:xfrm>
            <a:off x="7763256"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6" name="Patiente"/>
          <p:cNvSpPr/>
          <p:nvPr/>
        </p:nvSpPr>
        <p:spPr>
          <a:xfrm>
            <a:off x="7918704"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7" name="Patiente"/>
          <p:cNvSpPr/>
          <p:nvPr/>
        </p:nvSpPr>
        <p:spPr>
          <a:xfrm>
            <a:off x="8074152"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8" name="Patiente"/>
          <p:cNvSpPr/>
          <p:nvPr/>
        </p:nvSpPr>
        <p:spPr>
          <a:xfrm>
            <a:off x="822960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89" name="Patiente"/>
          <p:cNvSpPr/>
          <p:nvPr/>
        </p:nvSpPr>
        <p:spPr>
          <a:xfrm>
            <a:off x="8385048"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690" name="Patiente"/>
          <p:cNvSpPr/>
          <p:nvPr/>
        </p:nvSpPr>
        <p:spPr>
          <a:xfrm>
            <a:off x="8540496"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1" name="Patiente"/>
          <p:cNvSpPr/>
          <p:nvPr/>
        </p:nvSpPr>
        <p:spPr>
          <a:xfrm>
            <a:off x="8695944"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692" name="Patiente"/>
          <p:cNvSpPr/>
          <p:nvPr/>
        </p:nvSpPr>
        <p:spPr>
          <a:xfrm>
            <a:off x="8851392"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3" name="Patiente"/>
          <p:cNvSpPr/>
          <p:nvPr/>
        </p:nvSpPr>
        <p:spPr>
          <a:xfrm>
            <a:off x="900684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4" name="Patiente"/>
          <p:cNvSpPr/>
          <p:nvPr/>
        </p:nvSpPr>
        <p:spPr>
          <a:xfrm>
            <a:off x="9162288"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5" name="Patiente"/>
          <p:cNvSpPr/>
          <p:nvPr/>
        </p:nvSpPr>
        <p:spPr>
          <a:xfrm>
            <a:off x="9317736"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6" name="Patiente"/>
          <p:cNvSpPr/>
          <p:nvPr/>
        </p:nvSpPr>
        <p:spPr>
          <a:xfrm>
            <a:off x="9473184"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7" name="Patiente"/>
          <p:cNvSpPr/>
          <p:nvPr/>
        </p:nvSpPr>
        <p:spPr>
          <a:xfrm>
            <a:off x="9628632"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8" name="Patiente"/>
          <p:cNvSpPr/>
          <p:nvPr/>
        </p:nvSpPr>
        <p:spPr>
          <a:xfrm>
            <a:off x="978408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699" name="Patiente"/>
          <p:cNvSpPr/>
          <p:nvPr/>
        </p:nvSpPr>
        <p:spPr>
          <a:xfrm>
            <a:off x="9939528"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700" name="Patiente"/>
          <p:cNvSpPr/>
          <p:nvPr/>
        </p:nvSpPr>
        <p:spPr>
          <a:xfrm>
            <a:off x="10094976"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1" name="Patiente"/>
          <p:cNvSpPr/>
          <p:nvPr/>
        </p:nvSpPr>
        <p:spPr>
          <a:xfrm>
            <a:off x="10250424"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2" name="Patiente"/>
          <p:cNvSpPr/>
          <p:nvPr/>
        </p:nvSpPr>
        <p:spPr>
          <a:xfrm>
            <a:off x="10405872"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703" name="Patiente"/>
          <p:cNvSpPr/>
          <p:nvPr/>
        </p:nvSpPr>
        <p:spPr>
          <a:xfrm>
            <a:off x="1056132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4" name="Patiente"/>
          <p:cNvSpPr/>
          <p:nvPr/>
        </p:nvSpPr>
        <p:spPr>
          <a:xfrm>
            <a:off x="10716768"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705" name="Patiente"/>
          <p:cNvSpPr/>
          <p:nvPr/>
        </p:nvSpPr>
        <p:spPr>
          <a:xfrm>
            <a:off x="10872216"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6" name="Patiente"/>
          <p:cNvSpPr/>
          <p:nvPr/>
        </p:nvSpPr>
        <p:spPr>
          <a:xfrm>
            <a:off x="11027664"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7" name="Patiente"/>
          <p:cNvSpPr/>
          <p:nvPr/>
        </p:nvSpPr>
        <p:spPr>
          <a:xfrm>
            <a:off x="11183112" y="4864608"/>
            <a:ext cx="100584" cy="100584"/>
          </a:xfrm>
          <a:prstGeom prst="ellipse">
            <a:avLst/>
          </a:prstGeom>
          <a:solidFill>
            <a:srgbClr val="0E8F7E"/>
          </a:solidFill>
          <a:ln w="12700">
            <a:solidFill>
              <a:srgbClr val="0E8F7E"/>
            </a:solidFill>
            <a:prstDash val="solid"/>
          </a:ln>
        </p:spPr>
        <p:txBody>
          <a:bodyPr/>
          <a:lstStyle/>
          <a:p>
            <a:endParaRPr lang="fr-FR"/>
          </a:p>
        </p:txBody>
      </p:sp>
      <p:sp>
        <p:nvSpPr>
          <p:cNvPr id="708" name="Patiente"/>
          <p:cNvSpPr/>
          <p:nvPr/>
        </p:nvSpPr>
        <p:spPr>
          <a:xfrm>
            <a:off x="11338560"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09" name="Patiente"/>
          <p:cNvSpPr/>
          <p:nvPr/>
        </p:nvSpPr>
        <p:spPr>
          <a:xfrm>
            <a:off x="11494008" y="4864608"/>
            <a:ext cx="100584" cy="100584"/>
          </a:xfrm>
          <a:prstGeom prst="ellipse">
            <a:avLst/>
          </a:prstGeom>
          <a:solidFill>
            <a:srgbClr val="2F3842"/>
          </a:solidFill>
          <a:ln w="12700">
            <a:solidFill>
              <a:srgbClr val="2F3842"/>
            </a:solidFill>
            <a:prstDash val="solid"/>
          </a:ln>
        </p:spPr>
        <p:txBody>
          <a:bodyPr/>
          <a:lstStyle/>
          <a:p>
            <a:endParaRPr lang="fr-FR"/>
          </a:p>
        </p:txBody>
      </p:sp>
      <p:sp>
        <p:nvSpPr>
          <p:cNvPr id="710" name="Patiente"/>
          <p:cNvSpPr/>
          <p:nvPr/>
        </p:nvSpPr>
        <p:spPr>
          <a:xfrm>
            <a:off x="6675120"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11" name="Patiente"/>
          <p:cNvSpPr/>
          <p:nvPr/>
        </p:nvSpPr>
        <p:spPr>
          <a:xfrm>
            <a:off x="6830568"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12" name="Patiente"/>
          <p:cNvSpPr/>
          <p:nvPr/>
        </p:nvSpPr>
        <p:spPr>
          <a:xfrm>
            <a:off x="6986016"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13" name="Patiente"/>
          <p:cNvSpPr/>
          <p:nvPr/>
        </p:nvSpPr>
        <p:spPr>
          <a:xfrm>
            <a:off x="7141464"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14" name="Patiente"/>
          <p:cNvSpPr/>
          <p:nvPr/>
        </p:nvSpPr>
        <p:spPr>
          <a:xfrm>
            <a:off x="7296912"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15" name="Patiente"/>
          <p:cNvSpPr/>
          <p:nvPr/>
        </p:nvSpPr>
        <p:spPr>
          <a:xfrm>
            <a:off x="7452360"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16" name="Patiente"/>
          <p:cNvSpPr/>
          <p:nvPr/>
        </p:nvSpPr>
        <p:spPr>
          <a:xfrm>
            <a:off x="7607808"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17" name="Patiente"/>
          <p:cNvSpPr/>
          <p:nvPr/>
        </p:nvSpPr>
        <p:spPr>
          <a:xfrm>
            <a:off x="7763256"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18" name="Patiente"/>
          <p:cNvSpPr/>
          <p:nvPr/>
        </p:nvSpPr>
        <p:spPr>
          <a:xfrm>
            <a:off x="7918704"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19" name="Patiente"/>
          <p:cNvSpPr/>
          <p:nvPr/>
        </p:nvSpPr>
        <p:spPr>
          <a:xfrm>
            <a:off x="8074152"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0" name="Patiente"/>
          <p:cNvSpPr/>
          <p:nvPr/>
        </p:nvSpPr>
        <p:spPr>
          <a:xfrm>
            <a:off x="8229600"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1" name="Patiente"/>
          <p:cNvSpPr/>
          <p:nvPr/>
        </p:nvSpPr>
        <p:spPr>
          <a:xfrm>
            <a:off x="8385048"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2" name="Patiente"/>
          <p:cNvSpPr/>
          <p:nvPr/>
        </p:nvSpPr>
        <p:spPr>
          <a:xfrm>
            <a:off x="8540496"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3" name="Patiente"/>
          <p:cNvSpPr/>
          <p:nvPr/>
        </p:nvSpPr>
        <p:spPr>
          <a:xfrm>
            <a:off x="8695944"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24" name="Patiente"/>
          <p:cNvSpPr/>
          <p:nvPr/>
        </p:nvSpPr>
        <p:spPr>
          <a:xfrm>
            <a:off x="8851392"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25" name="Patiente"/>
          <p:cNvSpPr/>
          <p:nvPr/>
        </p:nvSpPr>
        <p:spPr>
          <a:xfrm>
            <a:off x="9006840"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26" name="Patiente"/>
          <p:cNvSpPr/>
          <p:nvPr/>
        </p:nvSpPr>
        <p:spPr>
          <a:xfrm>
            <a:off x="9162288"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27" name="Patiente"/>
          <p:cNvSpPr/>
          <p:nvPr/>
        </p:nvSpPr>
        <p:spPr>
          <a:xfrm>
            <a:off x="9317736"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8" name="Patiente"/>
          <p:cNvSpPr/>
          <p:nvPr/>
        </p:nvSpPr>
        <p:spPr>
          <a:xfrm>
            <a:off x="9473184"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29" name="Patiente"/>
          <p:cNvSpPr/>
          <p:nvPr/>
        </p:nvSpPr>
        <p:spPr>
          <a:xfrm>
            <a:off x="9628632"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30" name="Patiente"/>
          <p:cNvSpPr/>
          <p:nvPr/>
        </p:nvSpPr>
        <p:spPr>
          <a:xfrm>
            <a:off x="9784080"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31" name="Patiente"/>
          <p:cNvSpPr/>
          <p:nvPr/>
        </p:nvSpPr>
        <p:spPr>
          <a:xfrm>
            <a:off x="9939528"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32" name="Patiente"/>
          <p:cNvSpPr/>
          <p:nvPr/>
        </p:nvSpPr>
        <p:spPr>
          <a:xfrm>
            <a:off x="10094976"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33" name="Patiente"/>
          <p:cNvSpPr/>
          <p:nvPr/>
        </p:nvSpPr>
        <p:spPr>
          <a:xfrm>
            <a:off x="10250424"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34" name="Patiente"/>
          <p:cNvSpPr/>
          <p:nvPr/>
        </p:nvSpPr>
        <p:spPr>
          <a:xfrm>
            <a:off x="10405872"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35" name="Patiente"/>
          <p:cNvSpPr/>
          <p:nvPr/>
        </p:nvSpPr>
        <p:spPr>
          <a:xfrm>
            <a:off x="10561320"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36" name="Patiente"/>
          <p:cNvSpPr/>
          <p:nvPr/>
        </p:nvSpPr>
        <p:spPr>
          <a:xfrm>
            <a:off x="10716768"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37" name="Patiente"/>
          <p:cNvSpPr/>
          <p:nvPr/>
        </p:nvSpPr>
        <p:spPr>
          <a:xfrm>
            <a:off x="10872216"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38" name="Patiente"/>
          <p:cNvSpPr/>
          <p:nvPr/>
        </p:nvSpPr>
        <p:spPr>
          <a:xfrm>
            <a:off x="11027664"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39" name="Patiente"/>
          <p:cNvSpPr/>
          <p:nvPr/>
        </p:nvSpPr>
        <p:spPr>
          <a:xfrm>
            <a:off x="11183112" y="5020056"/>
            <a:ext cx="100584" cy="100584"/>
          </a:xfrm>
          <a:prstGeom prst="ellipse">
            <a:avLst/>
          </a:prstGeom>
          <a:solidFill>
            <a:srgbClr val="0E8F7E"/>
          </a:solidFill>
          <a:ln w="12700">
            <a:solidFill>
              <a:srgbClr val="0E8F7E"/>
            </a:solidFill>
            <a:prstDash val="solid"/>
          </a:ln>
        </p:spPr>
        <p:txBody>
          <a:bodyPr/>
          <a:lstStyle/>
          <a:p>
            <a:endParaRPr lang="fr-FR"/>
          </a:p>
        </p:txBody>
      </p:sp>
      <p:sp>
        <p:nvSpPr>
          <p:cNvPr id="740" name="Patiente"/>
          <p:cNvSpPr/>
          <p:nvPr/>
        </p:nvSpPr>
        <p:spPr>
          <a:xfrm>
            <a:off x="11338560"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41" name="Patiente"/>
          <p:cNvSpPr/>
          <p:nvPr/>
        </p:nvSpPr>
        <p:spPr>
          <a:xfrm>
            <a:off x="11494008" y="5020056"/>
            <a:ext cx="100584" cy="100584"/>
          </a:xfrm>
          <a:prstGeom prst="ellipse">
            <a:avLst/>
          </a:prstGeom>
          <a:solidFill>
            <a:srgbClr val="2F3842"/>
          </a:solidFill>
          <a:ln w="12700">
            <a:solidFill>
              <a:srgbClr val="2F3842"/>
            </a:solidFill>
            <a:prstDash val="solid"/>
          </a:ln>
        </p:spPr>
        <p:txBody>
          <a:bodyPr/>
          <a:lstStyle/>
          <a:p>
            <a:endParaRPr lang="fr-FR"/>
          </a:p>
        </p:txBody>
      </p:sp>
      <p:sp>
        <p:nvSpPr>
          <p:cNvPr id="742" name="Patiente"/>
          <p:cNvSpPr/>
          <p:nvPr/>
        </p:nvSpPr>
        <p:spPr>
          <a:xfrm>
            <a:off x="6675120"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43" name="Patiente"/>
          <p:cNvSpPr/>
          <p:nvPr/>
        </p:nvSpPr>
        <p:spPr>
          <a:xfrm>
            <a:off x="6830568"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44" name="Patiente"/>
          <p:cNvSpPr/>
          <p:nvPr/>
        </p:nvSpPr>
        <p:spPr>
          <a:xfrm>
            <a:off x="6986016"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45" name="Patiente"/>
          <p:cNvSpPr/>
          <p:nvPr/>
        </p:nvSpPr>
        <p:spPr>
          <a:xfrm>
            <a:off x="7141464"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46" name="Patiente"/>
          <p:cNvSpPr/>
          <p:nvPr/>
        </p:nvSpPr>
        <p:spPr>
          <a:xfrm>
            <a:off x="7296912"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47" name="Patiente"/>
          <p:cNvSpPr/>
          <p:nvPr/>
        </p:nvSpPr>
        <p:spPr>
          <a:xfrm>
            <a:off x="7452360"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48" name="Patiente"/>
          <p:cNvSpPr/>
          <p:nvPr/>
        </p:nvSpPr>
        <p:spPr>
          <a:xfrm>
            <a:off x="7607808"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49" name="Patiente"/>
          <p:cNvSpPr/>
          <p:nvPr/>
        </p:nvSpPr>
        <p:spPr>
          <a:xfrm>
            <a:off x="7763256"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50" name="Patiente"/>
          <p:cNvSpPr/>
          <p:nvPr/>
        </p:nvSpPr>
        <p:spPr>
          <a:xfrm>
            <a:off x="7918704"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51" name="Patiente"/>
          <p:cNvSpPr/>
          <p:nvPr/>
        </p:nvSpPr>
        <p:spPr>
          <a:xfrm>
            <a:off x="8074152"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52" name="Patiente"/>
          <p:cNvSpPr/>
          <p:nvPr/>
        </p:nvSpPr>
        <p:spPr>
          <a:xfrm>
            <a:off x="8229600"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53" name="Patiente"/>
          <p:cNvSpPr/>
          <p:nvPr/>
        </p:nvSpPr>
        <p:spPr>
          <a:xfrm>
            <a:off x="8385048"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54" name="Patiente"/>
          <p:cNvSpPr/>
          <p:nvPr/>
        </p:nvSpPr>
        <p:spPr>
          <a:xfrm>
            <a:off x="8540496"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55" name="Patiente"/>
          <p:cNvSpPr/>
          <p:nvPr/>
        </p:nvSpPr>
        <p:spPr>
          <a:xfrm>
            <a:off x="8695944"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56" name="Patiente"/>
          <p:cNvSpPr/>
          <p:nvPr/>
        </p:nvSpPr>
        <p:spPr>
          <a:xfrm>
            <a:off x="8851392"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57" name="Patiente"/>
          <p:cNvSpPr/>
          <p:nvPr/>
        </p:nvSpPr>
        <p:spPr>
          <a:xfrm>
            <a:off x="9006840"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58" name="Patiente"/>
          <p:cNvSpPr/>
          <p:nvPr/>
        </p:nvSpPr>
        <p:spPr>
          <a:xfrm>
            <a:off x="9162288"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59" name="Patiente"/>
          <p:cNvSpPr/>
          <p:nvPr/>
        </p:nvSpPr>
        <p:spPr>
          <a:xfrm>
            <a:off x="9317736"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60" name="Patiente"/>
          <p:cNvSpPr/>
          <p:nvPr/>
        </p:nvSpPr>
        <p:spPr>
          <a:xfrm>
            <a:off x="9473184"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61" name="Patiente"/>
          <p:cNvSpPr/>
          <p:nvPr/>
        </p:nvSpPr>
        <p:spPr>
          <a:xfrm>
            <a:off x="9628632"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62" name="Patiente"/>
          <p:cNvSpPr/>
          <p:nvPr/>
        </p:nvSpPr>
        <p:spPr>
          <a:xfrm>
            <a:off x="9784080"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63" name="Patiente"/>
          <p:cNvSpPr/>
          <p:nvPr/>
        </p:nvSpPr>
        <p:spPr>
          <a:xfrm>
            <a:off x="9939528"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64" name="Patiente"/>
          <p:cNvSpPr/>
          <p:nvPr/>
        </p:nvSpPr>
        <p:spPr>
          <a:xfrm>
            <a:off x="10094976"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65" name="Patiente"/>
          <p:cNvSpPr/>
          <p:nvPr/>
        </p:nvSpPr>
        <p:spPr>
          <a:xfrm>
            <a:off x="10250424"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66" name="Patiente"/>
          <p:cNvSpPr/>
          <p:nvPr/>
        </p:nvSpPr>
        <p:spPr>
          <a:xfrm>
            <a:off x="10405872"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67" name="Patiente"/>
          <p:cNvSpPr/>
          <p:nvPr/>
        </p:nvSpPr>
        <p:spPr>
          <a:xfrm>
            <a:off x="10561320"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68" name="Patiente"/>
          <p:cNvSpPr/>
          <p:nvPr/>
        </p:nvSpPr>
        <p:spPr>
          <a:xfrm>
            <a:off x="10716768"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69" name="Patiente"/>
          <p:cNvSpPr/>
          <p:nvPr/>
        </p:nvSpPr>
        <p:spPr>
          <a:xfrm>
            <a:off x="10872216" y="5175504"/>
            <a:ext cx="100584" cy="100584"/>
          </a:xfrm>
          <a:prstGeom prst="ellipse">
            <a:avLst/>
          </a:prstGeom>
          <a:solidFill>
            <a:srgbClr val="0E8F7E"/>
          </a:solidFill>
          <a:ln w="12700">
            <a:solidFill>
              <a:srgbClr val="0E8F7E"/>
            </a:solidFill>
            <a:prstDash val="solid"/>
          </a:ln>
        </p:spPr>
        <p:txBody>
          <a:bodyPr/>
          <a:lstStyle/>
          <a:p>
            <a:endParaRPr lang="fr-FR"/>
          </a:p>
        </p:txBody>
      </p:sp>
      <p:sp>
        <p:nvSpPr>
          <p:cNvPr id="770" name="Patiente"/>
          <p:cNvSpPr/>
          <p:nvPr/>
        </p:nvSpPr>
        <p:spPr>
          <a:xfrm>
            <a:off x="11027664"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71" name="Patiente"/>
          <p:cNvSpPr/>
          <p:nvPr/>
        </p:nvSpPr>
        <p:spPr>
          <a:xfrm>
            <a:off x="11183112"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72" name="Patiente"/>
          <p:cNvSpPr/>
          <p:nvPr/>
        </p:nvSpPr>
        <p:spPr>
          <a:xfrm>
            <a:off x="11338560"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73" name="Patiente"/>
          <p:cNvSpPr/>
          <p:nvPr/>
        </p:nvSpPr>
        <p:spPr>
          <a:xfrm>
            <a:off x="11494008" y="5175504"/>
            <a:ext cx="100584" cy="100584"/>
          </a:xfrm>
          <a:prstGeom prst="ellipse">
            <a:avLst/>
          </a:prstGeom>
          <a:solidFill>
            <a:srgbClr val="2F3842"/>
          </a:solidFill>
          <a:ln w="12700">
            <a:solidFill>
              <a:srgbClr val="2F3842"/>
            </a:solidFill>
            <a:prstDash val="solid"/>
          </a:ln>
        </p:spPr>
        <p:txBody>
          <a:bodyPr/>
          <a:lstStyle/>
          <a:p>
            <a:endParaRPr lang="fr-FR"/>
          </a:p>
        </p:txBody>
      </p:sp>
      <p:sp>
        <p:nvSpPr>
          <p:cNvPr id="774" name="Légende"/>
          <p:cNvSpPr txBox="1"/>
          <p:nvPr/>
        </p:nvSpPr>
        <p:spPr>
          <a:xfrm>
            <a:off x="6675120" y="5486400"/>
            <a:ext cx="4937760" cy="274320"/>
          </a:xfrm>
          <a:prstGeom prst="rect">
            <a:avLst/>
          </a:prstGeom>
          <a:noFill/>
          <a:ln/>
        </p:spPr>
        <p:txBody>
          <a:bodyPr wrap="square" lIns="0" tIns="0" rIns="0" bIns="0" rtlCol="0" anchor="ctr"/>
          <a:lstStyle/>
          <a:p>
            <a:pPr marL="0" indent="0">
              <a:buNone/>
            </a:pPr>
            <a:r>
              <a:rPr lang="en-US" sz="1200" dirty="0">
                <a:solidFill>
                  <a:srgbClr val="7A8794"/>
                </a:solidFill>
              </a:rPr>
              <a:t>1 point = 1 patiente  ·  en vert, les 268 diabétiques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CONTEXTE</a:t>
            </a:r>
            <a:endParaRPr lang="en-US" sz="1200" dirty="0"/>
          </a:p>
        </p:txBody>
      </p:sp>
      <p:sp>
        <p:nvSpPr>
          <p:cNvPr id="4"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Dépister le diabète, et pouvoir l'expliquer</a:t>
            </a:r>
            <a:endParaRPr lang="en-US" sz="3400" dirty="0"/>
          </a:p>
        </p:txBody>
      </p:sp>
      <p:sp>
        <p:nvSpPr>
          <p:cNvPr id="5" name="Question clinique"/>
          <p:cNvSpPr txBox="1"/>
          <p:nvPr/>
        </p:nvSpPr>
        <p:spPr>
          <a:xfrm>
            <a:off x="548640" y="1600200"/>
            <a:ext cx="5577840" cy="1737360"/>
          </a:xfrm>
          <a:prstGeom prst="rect">
            <a:avLst/>
          </a:prstGeom>
          <a:noFill/>
          <a:ln/>
        </p:spPr>
        <p:txBody>
          <a:bodyPr wrap="square" lIns="0" tIns="0" rIns="0" bIns="0" rtlCol="0" anchor="t"/>
          <a:lstStyle/>
          <a:p>
            <a:pPr marL="0" indent="0">
              <a:buNone/>
            </a:pPr>
            <a:r>
              <a:rPr lang="en-US" sz="2200" dirty="0">
                <a:solidFill>
                  <a:schemeClr val="tx1"/>
                </a:solidFill>
              </a:rPr>
              <a:t>Estimer le risque de diabète d'une patiente à partir de quelques mesures simples, et l'expliquer d'une façon qu'un médecin puisse vérifier.</a:t>
            </a:r>
            <a:endParaRPr lang="en-US" sz="2200" dirty="0"/>
          </a:p>
        </p:txBody>
      </p:sp>
      <p:sp>
        <p:nvSpPr>
          <p:cNvPr id="6" name="Patiente"/>
          <p:cNvSpPr/>
          <p:nvPr/>
        </p:nvSpPr>
        <p:spPr>
          <a:xfrm>
            <a:off x="5486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7" name="Patiente"/>
          <p:cNvSpPr/>
          <p:nvPr/>
        </p:nvSpPr>
        <p:spPr>
          <a:xfrm>
            <a:off x="6629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8" name="Patiente"/>
          <p:cNvSpPr/>
          <p:nvPr/>
        </p:nvSpPr>
        <p:spPr>
          <a:xfrm>
            <a:off x="7772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9" name="Patiente"/>
          <p:cNvSpPr/>
          <p:nvPr/>
        </p:nvSpPr>
        <p:spPr>
          <a:xfrm>
            <a:off x="8915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10" name="Patiente"/>
          <p:cNvSpPr/>
          <p:nvPr/>
        </p:nvSpPr>
        <p:spPr>
          <a:xfrm>
            <a:off x="10058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11" name="Patiente"/>
          <p:cNvSpPr/>
          <p:nvPr/>
        </p:nvSpPr>
        <p:spPr>
          <a:xfrm>
            <a:off x="11201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12" name="Patiente"/>
          <p:cNvSpPr/>
          <p:nvPr/>
        </p:nvSpPr>
        <p:spPr>
          <a:xfrm>
            <a:off x="12344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13" name="Patiente"/>
          <p:cNvSpPr/>
          <p:nvPr/>
        </p:nvSpPr>
        <p:spPr>
          <a:xfrm>
            <a:off x="13487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14" name="Patiente"/>
          <p:cNvSpPr/>
          <p:nvPr/>
        </p:nvSpPr>
        <p:spPr>
          <a:xfrm>
            <a:off x="14630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15" name="Patiente"/>
          <p:cNvSpPr/>
          <p:nvPr/>
        </p:nvSpPr>
        <p:spPr>
          <a:xfrm>
            <a:off x="15773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16" name="Patiente"/>
          <p:cNvSpPr/>
          <p:nvPr/>
        </p:nvSpPr>
        <p:spPr>
          <a:xfrm>
            <a:off x="16916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17" name="Patiente"/>
          <p:cNvSpPr/>
          <p:nvPr/>
        </p:nvSpPr>
        <p:spPr>
          <a:xfrm>
            <a:off x="18059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18" name="Patiente"/>
          <p:cNvSpPr/>
          <p:nvPr/>
        </p:nvSpPr>
        <p:spPr>
          <a:xfrm>
            <a:off x="19202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19" name="Patiente"/>
          <p:cNvSpPr/>
          <p:nvPr/>
        </p:nvSpPr>
        <p:spPr>
          <a:xfrm>
            <a:off x="20345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20" name="Patiente"/>
          <p:cNvSpPr/>
          <p:nvPr/>
        </p:nvSpPr>
        <p:spPr>
          <a:xfrm>
            <a:off x="21488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21" name="Patiente"/>
          <p:cNvSpPr/>
          <p:nvPr/>
        </p:nvSpPr>
        <p:spPr>
          <a:xfrm>
            <a:off x="22631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22" name="Patiente"/>
          <p:cNvSpPr/>
          <p:nvPr/>
        </p:nvSpPr>
        <p:spPr>
          <a:xfrm>
            <a:off x="23774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23" name="Patiente"/>
          <p:cNvSpPr/>
          <p:nvPr/>
        </p:nvSpPr>
        <p:spPr>
          <a:xfrm>
            <a:off x="24917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24" name="Patiente"/>
          <p:cNvSpPr/>
          <p:nvPr/>
        </p:nvSpPr>
        <p:spPr>
          <a:xfrm>
            <a:off x="26060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25" name="Patiente"/>
          <p:cNvSpPr/>
          <p:nvPr/>
        </p:nvSpPr>
        <p:spPr>
          <a:xfrm>
            <a:off x="27203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26" name="Patiente"/>
          <p:cNvSpPr/>
          <p:nvPr/>
        </p:nvSpPr>
        <p:spPr>
          <a:xfrm>
            <a:off x="28346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27" name="Patiente"/>
          <p:cNvSpPr/>
          <p:nvPr/>
        </p:nvSpPr>
        <p:spPr>
          <a:xfrm>
            <a:off x="29489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28" name="Patiente"/>
          <p:cNvSpPr/>
          <p:nvPr/>
        </p:nvSpPr>
        <p:spPr>
          <a:xfrm>
            <a:off x="30632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29" name="Patiente"/>
          <p:cNvSpPr/>
          <p:nvPr/>
        </p:nvSpPr>
        <p:spPr>
          <a:xfrm>
            <a:off x="31775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0" name="Patiente"/>
          <p:cNvSpPr/>
          <p:nvPr/>
        </p:nvSpPr>
        <p:spPr>
          <a:xfrm>
            <a:off x="32918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1" name="Patiente"/>
          <p:cNvSpPr/>
          <p:nvPr/>
        </p:nvSpPr>
        <p:spPr>
          <a:xfrm>
            <a:off x="34061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32" name="Patiente"/>
          <p:cNvSpPr/>
          <p:nvPr/>
        </p:nvSpPr>
        <p:spPr>
          <a:xfrm>
            <a:off x="35204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33" name="Patiente"/>
          <p:cNvSpPr/>
          <p:nvPr/>
        </p:nvSpPr>
        <p:spPr>
          <a:xfrm>
            <a:off x="36347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4" name="Patiente"/>
          <p:cNvSpPr/>
          <p:nvPr/>
        </p:nvSpPr>
        <p:spPr>
          <a:xfrm>
            <a:off x="37490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5" name="Patiente"/>
          <p:cNvSpPr/>
          <p:nvPr/>
        </p:nvSpPr>
        <p:spPr>
          <a:xfrm>
            <a:off x="38633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6" name="Patiente"/>
          <p:cNvSpPr/>
          <p:nvPr/>
        </p:nvSpPr>
        <p:spPr>
          <a:xfrm>
            <a:off x="39776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37" name="Patiente"/>
          <p:cNvSpPr/>
          <p:nvPr/>
        </p:nvSpPr>
        <p:spPr>
          <a:xfrm>
            <a:off x="40919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8" name="Patiente"/>
          <p:cNvSpPr/>
          <p:nvPr/>
        </p:nvSpPr>
        <p:spPr>
          <a:xfrm>
            <a:off x="42062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39" name="Patiente"/>
          <p:cNvSpPr/>
          <p:nvPr/>
        </p:nvSpPr>
        <p:spPr>
          <a:xfrm>
            <a:off x="43205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40" name="Patiente"/>
          <p:cNvSpPr/>
          <p:nvPr/>
        </p:nvSpPr>
        <p:spPr>
          <a:xfrm>
            <a:off x="44348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1" name="Patiente"/>
          <p:cNvSpPr/>
          <p:nvPr/>
        </p:nvSpPr>
        <p:spPr>
          <a:xfrm>
            <a:off x="45491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42" name="Patiente"/>
          <p:cNvSpPr/>
          <p:nvPr/>
        </p:nvSpPr>
        <p:spPr>
          <a:xfrm>
            <a:off x="46634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3" name="Patiente"/>
          <p:cNvSpPr/>
          <p:nvPr/>
        </p:nvSpPr>
        <p:spPr>
          <a:xfrm>
            <a:off x="47777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4" name="Patiente"/>
          <p:cNvSpPr/>
          <p:nvPr/>
        </p:nvSpPr>
        <p:spPr>
          <a:xfrm>
            <a:off x="48920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5" name="Patiente"/>
          <p:cNvSpPr/>
          <p:nvPr/>
        </p:nvSpPr>
        <p:spPr>
          <a:xfrm>
            <a:off x="50063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6" name="Patiente"/>
          <p:cNvSpPr/>
          <p:nvPr/>
        </p:nvSpPr>
        <p:spPr>
          <a:xfrm>
            <a:off x="51206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7" name="Patiente"/>
          <p:cNvSpPr/>
          <p:nvPr/>
        </p:nvSpPr>
        <p:spPr>
          <a:xfrm>
            <a:off x="52349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48" name="Patiente"/>
          <p:cNvSpPr/>
          <p:nvPr/>
        </p:nvSpPr>
        <p:spPr>
          <a:xfrm>
            <a:off x="53492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49" name="Patiente"/>
          <p:cNvSpPr/>
          <p:nvPr/>
        </p:nvSpPr>
        <p:spPr>
          <a:xfrm>
            <a:off x="54635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 name="Patiente"/>
          <p:cNvSpPr/>
          <p:nvPr/>
        </p:nvSpPr>
        <p:spPr>
          <a:xfrm>
            <a:off x="55778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51" name="Patiente"/>
          <p:cNvSpPr/>
          <p:nvPr/>
        </p:nvSpPr>
        <p:spPr>
          <a:xfrm>
            <a:off x="56921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 name="Patiente"/>
          <p:cNvSpPr/>
          <p:nvPr/>
        </p:nvSpPr>
        <p:spPr>
          <a:xfrm>
            <a:off x="5806440" y="3840480"/>
            <a:ext cx="77724" cy="77724"/>
          </a:xfrm>
          <a:prstGeom prst="ellipse">
            <a:avLst/>
          </a:prstGeom>
          <a:solidFill>
            <a:srgbClr val="0E8F7E"/>
          </a:solidFill>
          <a:ln w="12700">
            <a:solidFill>
              <a:srgbClr val="0E8F7E"/>
            </a:solidFill>
            <a:prstDash val="solid"/>
          </a:ln>
        </p:spPr>
        <p:txBody>
          <a:bodyPr/>
          <a:lstStyle/>
          <a:p>
            <a:endParaRPr lang="fr-FR"/>
          </a:p>
        </p:txBody>
      </p:sp>
      <p:sp>
        <p:nvSpPr>
          <p:cNvPr id="53" name="Patiente"/>
          <p:cNvSpPr/>
          <p:nvPr/>
        </p:nvSpPr>
        <p:spPr>
          <a:xfrm>
            <a:off x="5920740" y="3840480"/>
            <a:ext cx="77724" cy="77724"/>
          </a:xfrm>
          <a:prstGeom prst="ellipse">
            <a:avLst/>
          </a:prstGeom>
          <a:solidFill>
            <a:srgbClr val="D5DAE0"/>
          </a:solidFill>
          <a:ln w="12700">
            <a:solidFill>
              <a:srgbClr val="D5DAE0"/>
            </a:solidFill>
            <a:prstDash val="solid"/>
          </a:ln>
        </p:spPr>
        <p:txBody>
          <a:bodyPr/>
          <a:lstStyle/>
          <a:p>
            <a:endParaRPr lang="fr-FR"/>
          </a:p>
        </p:txBody>
      </p:sp>
      <p:sp>
        <p:nvSpPr>
          <p:cNvPr id="54" name="Patiente"/>
          <p:cNvSpPr/>
          <p:nvPr/>
        </p:nvSpPr>
        <p:spPr>
          <a:xfrm>
            <a:off x="5486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55" name="Patiente"/>
          <p:cNvSpPr/>
          <p:nvPr/>
        </p:nvSpPr>
        <p:spPr>
          <a:xfrm>
            <a:off x="6629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 name="Patiente"/>
          <p:cNvSpPr/>
          <p:nvPr/>
        </p:nvSpPr>
        <p:spPr>
          <a:xfrm>
            <a:off x="7772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57" name="Patiente"/>
          <p:cNvSpPr/>
          <p:nvPr/>
        </p:nvSpPr>
        <p:spPr>
          <a:xfrm>
            <a:off x="8915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58" name="Patiente"/>
          <p:cNvSpPr/>
          <p:nvPr/>
        </p:nvSpPr>
        <p:spPr>
          <a:xfrm>
            <a:off x="10058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59" name="Patiente"/>
          <p:cNvSpPr/>
          <p:nvPr/>
        </p:nvSpPr>
        <p:spPr>
          <a:xfrm>
            <a:off x="11201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0" name="Patiente"/>
          <p:cNvSpPr/>
          <p:nvPr/>
        </p:nvSpPr>
        <p:spPr>
          <a:xfrm>
            <a:off x="12344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1" name="Patiente"/>
          <p:cNvSpPr/>
          <p:nvPr/>
        </p:nvSpPr>
        <p:spPr>
          <a:xfrm>
            <a:off x="13487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2" name="Patiente"/>
          <p:cNvSpPr/>
          <p:nvPr/>
        </p:nvSpPr>
        <p:spPr>
          <a:xfrm>
            <a:off x="14630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3" name="Patiente"/>
          <p:cNvSpPr/>
          <p:nvPr/>
        </p:nvSpPr>
        <p:spPr>
          <a:xfrm>
            <a:off x="15773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4" name="Patiente"/>
          <p:cNvSpPr/>
          <p:nvPr/>
        </p:nvSpPr>
        <p:spPr>
          <a:xfrm>
            <a:off x="16916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5" name="Patiente"/>
          <p:cNvSpPr/>
          <p:nvPr/>
        </p:nvSpPr>
        <p:spPr>
          <a:xfrm>
            <a:off x="18059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6" name="Patiente"/>
          <p:cNvSpPr/>
          <p:nvPr/>
        </p:nvSpPr>
        <p:spPr>
          <a:xfrm>
            <a:off x="19202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7" name="Patiente"/>
          <p:cNvSpPr/>
          <p:nvPr/>
        </p:nvSpPr>
        <p:spPr>
          <a:xfrm>
            <a:off x="20345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8" name="Patiente"/>
          <p:cNvSpPr/>
          <p:nvPr/>
        </p:nvSpPr>
        <p:spPr>
          <a:xfrm>
            <a:off x="21488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69" name="Patiente"/>
          <p:cNvSpPr/>
          <p:nvPr/>
        </p:nvSpPr>
        <p:spPr>
          <a:xfrm>
            <a:off x="22631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70" name="Patiente"/>
          <p:cNvSpPr/>
          <p:nvPr/>
        </p:nvSpPr>
        <p:spPr>
          <a:xfrm>
            <a:off x="23774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71" name="Patiente"/>
          <p:cNvSpPr/>
          <p:nvPr/>
        </p:nvSpPr>
        <p:spPr>
          <a:xfrm>
            <a:off x="24917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72" name="Patiente"/>
          <p:cNvSpPr/>
          <p:nvPr/>
        </p:nvSpPr>
        <p:spPr>
          <a:xfrm>
            <a:off x="26060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73" name="Patiente"/>
          <p:cNvSpPr/>
          <p:nvPr/>
        </p:nvSpPr>
        <p:spPr>
          <a:xfrm>
            <a:off x="27203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74" name="Patiente"/>
          <p:cNvSpPr/>
          <p:nvPr/>
        </p:nvSpPr>
        <p:spPr>
          <a:xfrm>
            <a:off x="28346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75" name="Patiente"/>
          <p:cNvSpPr/>
          <p:nvPr/>
        </p:nvSpPr>
        <p:spPr>
          <a:xfrm>
            <a:off x="29489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76" name="Patiente"/>
          <p:cNvSpPr/>
          <p:nvPr/>
        </p:nvSpPr>
        <p:spPr>
          <a:xfrm>
            <a:off x="30632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77" name="Patiente"/>
          <p:cNvSpPr/>
          <p:nvPr/>
        </p:nvSpPr>
        <p:spPr>
          <a:xfrm>
            <a:off x="31775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78" name="Patiente"/>
          <p:cNvSpPr/>
          <p:nvPr/>
        </p:nvSpPr>
        <p:spPr>
          <a:xfrm>
            <a:off x="32918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79" name="Patiente"/>
          <p:cNvSpPr/>
          <p:nvPr/>
        </p:nvSpPr>
        <p:spPr>
          <a:xfrm>
            <a:off x="34061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80" name="Patiente"/>
          <p:cNvSpPr/>
          <p:nvPr/>
        </p:nvSpPr>
        <p:spPr>
          <a:xfrm>
            <a:off x="35204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81" name="Patiente"/>
          <p:cNvSpPr/>
          <p:nvPr/>
        </p:nvSpPr>
        <p:spPr>
          <a:xfrm>
            <a:off x="36347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82" name="Patiente"/>
          <p:cNvSpPr/>
          <p:nvPr/>
        </p:nvSpPr>
        <p:spPr>
          <a:xfrm>
            <a:off x="37490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83" name="Patiente"/>
          <p:cNvSpPr/>
          <p:nvPr/>
        </p:nvSpPr>
        <p:spPr>
          <a:xfrm>
            <a:off x="38633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84" name="Patiente"/>
          <p:cNvSpPr/>
          <p:nvPr/>
        </p:nvSpPr>
        <p:spPr>
          <a:xfrm>
            <a:off x="39776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85" name="Patiente"/>
          <p:cNvSpPr/>
          <p:nvPr/>
        </p:nvSpPr>
        <p:spPr>
          <a:xfrm>
            <a:off x="40919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86" name="Patiente"/>
          <p:cNvSpPr/>
          <p:nvPr/>
        </p:nvSpPr>
        <p:spPr>
          <a:xfrm>
            <a:off x="42062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87" name="Patiente"/>
          <p:cNvSpPr/>
          <p:nvPr/>
        </p:nvSpPr>
        <p:spPr>
          <a:xfrm>
            <a:off x="43205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88" name="Patiente"/>
          <p:cNvSpPr/>
          <p:nvPr/>
        </p:nvSpPr>
        <p:spPr>
          <a:xfrm>
            <a:off x="44348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89" name="Patiente"/>
          <p:cNvSpPr/>
          <p:nvPr/>
        </p:nvSpPr>
        <p:spPr>
          <a:xfrm>
            <a:off x="45491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0" name="Patiente"/>
          <p:cNvSpPr/>
          <p:nvPr/>
        </p:nvSpPr>
        <p:spPr>
          <a:xfrm>
            <a:off x="46634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1" name="Patiente"/>
          <p:cNvSpPr/>
          <p:nvPr/>
        </p:nvSpPr>
        <p:spPr>
          <a:xfrm>
            <a:off x="47777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92" name="Patiente"/>
          <p:cNvSpPr/>
          <p:nvPr/>
        </p:nvSpPr>
        <p:spPr>
          <a:xfrm>
            <a:off x="48920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3" name="Patiente"/>
          <p:cNvSpPr/>
          <p:nvPr/>
        </p:nvSpPr>
        <p:spPr>
          <a:xfrm>
            <a:off x="50063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94" name="Patiente"/>
          <p:cNvSpPr/>
          <p:nvPr/>
        </p:nvSpPr>
        <p:spPr>
          <a:xfrm>
            <a:off x="51206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5" name="Patiente"/>
          <p:cNvSpPr/>
          <p:nvPr/>
        </p:nvSpPr>
        <p:spPr>
          <a:xfrm>
            <a:off x="5234940" y="3954780"/>
            <a:ext cx="77724" cy="77724"/>
          </a:xfrm>
          <a:prstGeom prst="ellipse">
            <a:avLst/>
          </a:prstGeom>
          <a:solidFill>
            <a:srgbClr val="0E8F7E"/>
          </a:solidFill>
          <a:ln w="12700">
            <a:solidFill>
              <a:srgbClr val="0E8F7E"/>
            </a:solidFill>
            <a:prstDash val="solid"/>
          </a:ln>
        </p:spPr>
        <p:txBody>
          <a:bodyPr/>
          <a:lstStyle/>
          <a:p>
            <a:endParaRPr lang="fr-FR"/>
          </a:p>
        </p:txBody>
      </p:sp>
      <p:sp>
        <p:nvSpPr>
          <p:cNvPr id="96" name="Patiente"/>
          <p:cNvSpPr/>
          <p:nvPr/>
        </p:nvSpPr>
        <p:spPr>
          <a:xfrm>
            <a:off x="53492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7" name="Patiente"/>
          <p:cNvSpPr/>
          <p:nvPr/>
        </p:nvSpPr>
        <p:spPr>
          <a:xfrm>
            <a:off x="54635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8" name="Patiente"/>
          <p:cNvSpPr/>
          <p:nvPr/>
        </p:nvSpPr>
        <p:spPr>
          <a:xfrm>
            <a:off x="55778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99" name="Patiente"/>
          <p:cNvSpPr/>
          <p:nvPr/>
        </p:nvSpPr>
        <p:spPr>
          <a:xfrm>
            <a:off x="56921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100" name="Patiente"/>
          <p:cNvSpPr/>
          <p:nvPr/>
        </p:nvSpPr>
        <p:spPr>
          <a:xfrm>
            <a:off x="58064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101" name="Patiente"/>
          <p:cNvSpPr/>
          <p:nvPr/>
        </p:nvSpPr>
        <p:spPr>
          <a:xfrm>
            <a:off x="5920740" y="3954780"/>
            <a:ext cx="77724" cy="77724"/>
          </a:xfrm>
          <a:prstGeom prst="ellipse">
            <a:avLst/>
          </a:prstGeom>
          <a:solidFill>
            <a:srgbClr val="D5DAE0"/>
          </a:solidFill>
          <a:ln w="12700">
            <a:solidFill>
              <a:srgbClr val="D5DAE0"/>
            </a:solidFill>
            <a:prstDash val="solid"/>
          </a:ln>
        </p:spPr>
        <p:txBody>
          <a:bodyPr/>
          <a:lstStyle/>
          <a:p>
            <a:endParaRPr lang="fr-FR"/>
          </a:p>
        </p:txBody>
      </p:sp>
      <p:sp>
        <p:nvSpPr>
          <p:cNvPr id="102" name="Patiente"/>
          <p:cNvSpPr/>
          <p:nvPr/>
        </p:nvSpPr>
        <p:spPr>
          <a:xfrm>
            <a:off x="5486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03" name="Patiente"/>
          <p:cNvSpPr/>
          <p:nvPr/>
        </p:nvSpPr>
        <p:spPr>
          <a:xfrm>
            <a:off x="6629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04" name="Patiente"/>
          <p:cNvSpPr/>
          <p:nvPr/>
        </p:nvSpPr>
        <p:spPr>
          <a:xfrm>
            <a:off x="7772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05" name="Patiente"/>
          <p:cNvSpPr/>
          <p:nvPr/>
        </p:nvSpPr>
        <p:spPr>
          <a:xfrm>
            <a:off x="8915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06" name="Patiente"/>
          <p:cNvSpPr/>
          <p:nvPr/>
        </p:nvSpPr>
        <p:spPr>
          <a:xfrm>
            <a:off x="10058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07" name="Patiente"/>
          <p:cNvSpPr/>
          <p:nvPr/>
        </p:nvSpPr>
        <p:spPr>
          <a:xfrm>
            <a:off x="11201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08" name="Patiente"/>
          <p:cNvSpPr/>
          <p:nvPr/>
        </p:nvSpPr>
        <p:spPr>
          <a:xfrm>
            <a:off x="12344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09" name="Patiente"/>
          <p:cNvSpPr/>
          <p:nvPr/>
        </p:nvSpPr>
        <p:spPr>
          <a:xfrm>
            <a:off x="13487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10" name="Patiente"/>
          <p:cNvSpPr/>
          <p:nvPr/>
        </p:nvSpPr>
        <p:spPr>
          <a:xfrm>
            <a:off x="14630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11" name="Patiente"/>
          <p:cNvSpPr/>
          <p:nvPr/>
        </p:nvSpPr>
        <p:spPr>
          <a:xfrm>
            <a:off x="15773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12" name="Patiente"/>
          <p:cNvSpPr/>
          <p:nvPr/>
        </p:nvSpPr>
        <p:spPr>
          <a:xfrm>
            <a:off x="16916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13" name="Patiente"/>
          <p:cNvSpPr/>
          <p:nvPr/>
        </p:nvSpPr>
        <p:spPr>
          <a:xfrm>
            <a:off x="18059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14" name="Patiente"/>
          <p:cNvSpPr/>
          <p:nvPr/>
        </p:nvSpPr>
        <p:spPr>
          <a:xfrm>
            <a:off x="19202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15" name="Patiente"/>
          <p:cNvSpPr/>
          <p:nvPr/>
        </p:nvSpPr>
        <p:spPr>
          <a:xfrm>
            <a:off x="20345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16" name="Patiente"/>
          <p:cNvSpPr/>
          <p:nvPr/>
        </p:nvSpPr>
        <p:spPr>
          <a:xfrm>
            <a:off x="21488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17" name="Patiente"/>
          <p:cNvSpPr/>
          <p:nvPr/>
        </p:nvSpPr>
        <p:spPr>
          <a:xfrm>
            <a:off x="22631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18" name="Patiente"/>
          <p:cNvSpPr/>
          <p:nvPr/>
        </p:nvSpPr>
        <p:spPr>
          <a:xfrm>
            <a:off x="23774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19" name="Patiente"/>
          <p:cNvSpPr/>
          <p:nvPr/>
        </p:nvSpPr>
        <p:spPr>
          <a:xfrm>
            <a:off x="24917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20" name="Patiente"/>
          <p:cNvSpPr/>
          <p:nvPr/>
        </p:nvSpPr>
        <p:spPr>
          <a:xfrm>
            <a:off x="26060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21" name="Patiente"/>
          <p:cNvSpPr/>
          <p:nvPr/>
        </p:nvSpPr>
        <p:spPr>
          <a:xfrm>
            <a:off x="27203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22" name="Patiente"/>
          <p:cNvSpPr/>
          <p:nvPr/>
        </p:nvSpPr>
        <p:spPr>
          <a:xfrm>
            <a:off x="28346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23" name="Patiente"/>
          <p:cNvSpPr/>
          <p:nvPr/>
        </p:nvSpPr>
        <p:spPr>
          <a:xfrm>
            <a:off x="29489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24" name="Patiente"/>
          <p:cNvSpPr/>
          <p:nvPr/>
        </p:nvSpPr>
        <p:spPr>
          <a:xfrm>
            <a:off x="30632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25" name="Patiente"/>
          <p:cNvSpPr/>
          <p:nvPr/>
        </p:nvSpPr>
        <p:spPr>
          <a:xfrm>
            <a:off x="31775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26" name="Patiente"/>
          <p:cNvSpPr/>
          <p:nvPr/>
        </p:nvSpPr>
        <p:spPr>
          <a:xfrm>
            <a:off x="32918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27" name="Patiente"/>
          <p:cNvSpPr/>
          <p:nvPr/>
        </p:nvSpPr>
        <p:spPr>
          <a:xfrm>
            <a:off x="34061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28" name="Patiente"/>
          <p:cNvSpPr/>
          <p:nvPr/>
        </p:nvSpPr>
        <p:spPr>
          <a:xfrm>
            <a:off x="35204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29" name="Patiente"/>
          <p:cNvSpPr/>
          <p:nvPr/>
        </p:nvSpPr>
        <p:spPr>
          <a:xfrm>
            <a:off x="36347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30" name="Patiente"/>
          <p:cNvSpPr/>
          <p:nvPr/>
        </p:nvSpPr>
        <p:spPr>
          <a:xfrm>
            <a:off x="37490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31" name="Patiente"/>
          <p:cNvSpPr/>
          <p:nvPr/>
        </p:nvSpPr>
        <p:spPr>
          <a:xfrm>
            <a:off x="38633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32" name="Patiente"/>
          <p:cNvSpPr/>
          <p:nvPr/>
        </p:nvSpPr>
        <p:spPr>
          <a:xfrm>
            <a:off x="39776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33" name="Patiente"/>
          <p:cNvSpPr/>
          <p:nvPr/>
        </p:nvSpPr>
        <p:spPr>
          <a:xfrm>
            <a:off x="40919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34" name="Patiente"/>
          <p:cNvSpPr/>
          <p:nvPr/>
        </p:nvSpPr>
        <p:spPr>
          <a:xfrm>
            <a:off x="42062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35" name="Patiente"/>
          <p:cNvSpPr/>
          <p:nvPr/>
        </p:nvSpPr>
        <p:spPr>
          <a:xfrm>
            <a:off x="43205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36" name="Patiente"/>
          <p:cNvSpPr/>
          <p:nvPr/>
        </p:nvSpPr>
        <p:spPr>
          <a:xfrm>
            <a:off x="44348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37" name="Patiente"/>
          <p:cNvSpPr/>
          <p:nvPr/>
        </p:nvSpPr>
        <p:spPr>
          <a:xfrm>
            <a:off x="45491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38" name="Patiente"/>
          <p:cNvSpPr/>
          <p:nvPr/>
        </p:nvSpPr>
        <p:spPr>
          <a:xfrm>
            <a:off x="46634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39" name="Patiente"/>
          <p:cNvSpPr/>
          <p:nvPr/>
        </p:nvSpPr>
        <p:spPr>
          <a:xfrm>
            <a:off x="47777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0" name="Patiente"/>
          <p:cNvSpPr/>
          <p:nvPr/>
        </p:nvSpPr>
        <p:spPr>
          <a:xfrm>
            <a:off x="48920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1" name="Patiente"/>
          <p:cNvSpPr/>
          <p:nvPr/>
        </p:nvSpPr>
        <p:spPr>
          <a:xfrm>
            <a:off x="50063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2" name="Patiente"/>
          <p:cNvSpPr/>
          <p:nvPr/>
        </p:nvSpPr>
        <p:spPr>
          <a:xfrm>
            <a:off x="51206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3" name="Patiente"/>
          <p:cNvSpPr/>
          <p:nvPr/>
        </p:nvSpPr>
        <p:spPr>
          <a:xfrm>
            <a:off x="52349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4" name="Patiente"/>
          <p:cNvSpPr/>
          <p:nvPr/>
        </p:nvSpPr>
        <p:spPr>
          <a:xfrm>
            <a:off x="53492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5" name="Patiente"/>
          <p:cNvSpPr/>
          <p:nvPr/>
        </p:nvSpPr>
        <p:spPr>
          <a:xfrm>
            <a:off x="54635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46" name="Patiente"/>
          <p:cNvSpPr/>
          <p:nvPr/>
        </p:nvSpPr>
        <p:spPr>
          <a:xfrm>
            <a:off x="55778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47" name="Patiente"/>
          <p:cNvSpPr/>
          <p:nvPr/>
        </p:nvSpPr>
        <p:spPr>
          <a:xfrm>
            <a:off x="5692140" y="4069080"/>
            <a:ext cx="77724" cy="77724"/>
          </a:xfrm>
          <a:prstGeom prst="ellipse">
            <a:avLst/>
          </a:prstGeom>
          <a:solidFill>
            <a:srgbClr val="0E8F7E"/>
          </a:solidFill>
          <a:ln w="12700">
            <a:solidFill>
              <a:srgbClr val="0E8F7E"/>
            </a:solidFill>
            <a:prstDash val="solid"/>
          </a:ln>
        </p:spPr>
        <p:txBody>
          <a:bodyPr/>
          <a:lstStyle/>
          <a:p>
            <a:endParaRPr lang="fr-FR"/>
          </a:p>
        </p:txBody>
      </p:sp>
      <p:sp>
        <p:nvSpPr>
          <p:cNvPr id="148" name="Patiente"/>
          <p:cNvSpPr/>
          <p:nvPr/>
        </p:nvSpPr>
        <p:spPr>
          <a:xfrm>
            <a:off x="58064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49" name="Patiente"/>
          <p:cNvSpPr/>
          <p:nvPr/>
        </p:nvSpPr>
        <p:spPr>
          <a:xfrm>
            <a:off x="5920740" y="4069080"/>
            <a:ext cx="77724" cy="77724"/>
          </a:xfrm>
          <a:prstGeom prst="ellipse">
            <a:avLst/>
          </a:prstGeom>
          <a:solidFill>
            <a:srgbClr val="D5DAE0"/>
          </a:solidFill>
          <a:ln w="12700">
            <a:solidFill>
              <a:srgbClr val="D5DAE0"/>
            </a:solidFill>
            <a:prstDash val="solid"/>
          </a:ln>
        </p:spPr>
        <p:txBody>
          <a:bodyPr/>
          <a:lstStyle/>
          <a:p>
            <a:endParaRPr lang="fr-FR"/>
          </a:p>
        </p:txBody>
      </p:sp>
      <p:sp>
        <p:nvSpPr>
          <p:cNvPr id="150" name="Patiente"/>
          <p:cNvSpPr/>
          <p:nvPr/>
        </p:nvSpPr>
        <p:spPr>
          <a:xfrm>
            <a:off x="5486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51" name="Patiente"/>
          <p:cNvSpPr/>
          <p:nvPr/>
        </p:nvSpPr>
        <p:spPr>
          <a:xfrm>
            <a:off x="6629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52" name="Patiente"/>
          <p:cNvSpPr/>
          <p:nvPr/>
        </p:nvSpPr>
        <p:spPr>
          <a:xfrm>
            <a:off x="7772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53" name="Patiente"/>
          <p:cNvSpPr/>
          <p:nvPr/>
        </p:nvSpPr>
        <p:spPr>
          <a:xfrm>
            <a:off x="8915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54" name="Patiente"/>
          <p:cNvSpPr/>
          <p:nvPr/>
        </p:nvSpPr>
        <p:spPr>
          <a:xfrm>
            <a:off x="10058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55" name="Patiente"/>
          <p:cNvSpPr/>
          <p:nvPr/>
        </p:nvSpPr>
        <p:spPr>
          <a:xfrm>
            <a:off x="11201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56" name="Patiente"/>
          <p:cNvSpPr/>
          <p:nvPr/>
        </p:nvSpPr>
        <p:spPr>
          <a:xfrm>
            <a:off x="12344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57" name="Patiente"/>
          <p:cNvSpPr/>
          <p:nvPr/>
        </p:nvSpPr>
        <p:spPr>
          <a:xfrm>
            <a:off x="13487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58" name="Patiente"/>
          <p:cNvSpPr/>
          <p:nvPr/>
        </p:nvSpPr>
        <p:spPr>
          <a:xfrm>
            <a:off x="14630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59" name="Patiente"/>
          <p:cNvSpPr/>
          <p:nvPr/>
        </p:nvSpPr>
        <p:spPr>
          <a:xfrm>
            <a:off x="15773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0" name="Patiente"/>
          <p:cNvSpPr/>
          <p:nvPr/>
        </p:nvSpPr>
        <p:spPr>
          <a:xfrm>
            <a:off x="16916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1" name="Patiente"/>
          <p:cNvSpPr/>
          <p:nvPr/>
        </p:nvSpPr>
        <p:spPr>
          <a:xfrm>
            <a:off x="18059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2" name="Patiente"/>
          <p:cNvSpPr/>
          <p:nvPr/>
        </p:nvSpPr>
        <p:spPr>
          <a:xfrm>
            <a:off x="19202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3" name="Patiente"/>
          <p:cNvSpPr/>
          <p:nvPr/>
        </p:nvSpPr>
        <p:spPr>
          <a:xfrm>
            <a:off x="20345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4" name="Patiente"/>
          <p:cNvSpPr/>
          <p:nvPr/>
        </p:nvSpPr>
        <p:spPr>
          <a:xfrm>
            <a:off x="21488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65" name="Patiente"/>
          <p:cNvSpPr/>
          <p:nvPr/>
        </p:nvSpPr>
        <p:spPr>
          <a:xfrm>
            <a:off x="22631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6" name="Patiente"/>
          <p:cNvSpPr/>
          <p:nvPr/>
        </p:nvSpPr>
        <p:spPr>
          <a:xfrm>
            <a:off x="23774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7" name="Patiente"/>
          <p:cNvSpPr/>
          <p:nvPr/>
        </p:nvSpPr>
        <p:spPr>
          <a:xfrm>
            <a:off x="24917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8" name="Patiente"/>
          <p:cNvSpPr/>
          <p:nvPr/>
        </p:nvSpPr>
        <p:spPr>
          <a:xfrm>
            <a:off x="26060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69" name="Patiente"/>
          <p:cNvSpPr/>
          <p:nvPr/>
        </p:nvSpPr>
        <p:spPr>
          <a:xfrm>
            <a:off x="27203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0" name="Patiente"/>
          <p:cNvSpPr/>
          <p:nvPr/>
        </p:nvSpPr>
        <p:spPr>
          <a:xfrm>
            <a:off x="28346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1" name="Patiente"/>
          <p:cNvSpPr/>
          <p:nvPr/>
        </p:nvSpPr>
        <p:spPr>
          <a:xfrm>
            <a:off x="29489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2" name="Patiente"/>
          <p:cNvSpPr/>
          <p:nvPr/>
        </p:nvSpPr>
        <p:spPr>
          <a:xfrm>
            <a:off x="30632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3" name="Patiente"/>
          <p:cNvSpPr/>
          <p:nvPr/>
        </p:nvSpPr>
        <p:spPr>
          <a:xfrm>
            <a:off x="31775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4" name="Patiente"/>
          <p:cNvSpPr/>
          <p:nvPr/>
        </p:nvSpPr>
        <p:spPr>
          <a:xfrm>
            <a:off x="32918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5" name="Patiente"/>
          <p:cNvSpPr/>
          <p:nvPr/>
        </p:nvSpPr>
        <p:spPr>
          <a:xfrm>
            <a:off x="34061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76" name="Patiente"/>
          <p:cNvSpPr/>
          <p:nvPr/>
        </p:nvSpPr>
        <p:spPr>
          <a:xfrm>
            <a:off x="35204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77" name="Patiente"/>
          <p:cNvSpPr/>
          <p:nvPr/>
        </p:nvSpPr>
        <p:spPr>
          <a:xfrm>
            <a:off x="36347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78" name="Patiente"/>
          <p:cNvSpPr/>
          <p:nvPr/>
        </p:nvSpPr>
        <p:spPr>
          <a:xfrm>
            <a:off x="37490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79" name="Patiente"/>
          <p:cNvSpPr/>
          <p:nvPr/>
        </p:nvSpPr>
        <p:spPr>
          <a:xfrm>
            <a:off x="38633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80" name="Patiente"/>
          <p:cNvSpPr/>
          <p:nvPr/>
        </p:nvSpPr>
        <p:spPr>
          <a:xfrm>
            <a:off x="39776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81" name="Patiente"/>
          <p:cNvSpPr/>
          <p:nvPr/>
        </p:nvSpPr>
        <p:spPr>
          <a:xfrm>
            <a:off x="40919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82" name="Patiente"/>
          <p:cNvSpPr/>
          <p:nvPr/>
        </p:nvSpPr>
        <p:spPr>
          <a:xfrm>
            <a:off x="42062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83" name="Patiente"/>
          <p:cNvSpPr/>
          <p:nvPr/>
        </p:nvSpPr>
        <p:spPr>
          <a:xfrm>
            <a:off x="43205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84" name="Patiente"/>
          <p:cNvSpPr/>
          <p:nvPr/>
        </p:nvSpPr>
        <p:spPr>
          <a:xfrm>
            <a:off x="44348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85" name="Patiente"/>
          <p:cNvSpPr/>
          <p:nvPr/>
        </p:nvSpPr>
        <p:spPr>
          <a:xfrm>
            <a:off x="45491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86" name="Patiente"/>
          <p:cNvSpPr/>
          <p:nvPr/>
        </p:nvSpPr>
        <p:spPr>
          <a:xfrm>
            <a:off x="46634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87" name="Patiente"/>
          <p:cNvSpPr/>
          <p:nvPr/>
        </p:nvSpPr>
        <p:spPr>
          <a:xfrm>
            <a:off x="47777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88" name="Patiente"/>
          <p:cNvSpPr/>
          <p:nvPr/>
        </p:nvSpPr>
        <p:spPr>
          <a:xfrm>
            <a:off x="48920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89" name="Patiente"/>
          <p:cNvSpPr/>
          <p:nvPr/>
        </p:nvSpPr>
        <p:spPr>
          <a:xfrm>
            <a:off x="50063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90" name="Patiente"/>
          <p:cNvSpPr/>
          <p:nvPr/>
        </p:nvSpPr>
        <p:spPr>
          <a:xfrm>
            <a:off x="51206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91" name="Patiente"/>
          <p:cNvSpPr/>
          <p:nvPr/>
        </p:nvSpPr>
        <p:spPr>
          <a:xfrm>
            <a:off x="52349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92" name="Patiente"/>
          <p:cNvSpPr/>
          <p:nvPr/>
        </p:nvSpPr>
        <p:spPr>
          <a:xfrm>
            <a:off x="53492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93" name="Patiente"/>
          <p:cNvSpPr/>
          <p:nvPr/>
        </p:nvSpPr>
        <p:spPr>
          <a:xfrm>
            <a:off x="54635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94" name="Patiente"/>
          <p:cNvSpPr/>
          <p:nvPr/>
        </p:nvSpPr>
        <p:spPr>
          <a:xfrm>
            <a:off x="55778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95" name="Patiente"/>
          <p:cNvSpPr/>
          <p:nvPr/>
        </p:nvSpPr>
        <p:spPr>
          <a:xfrm>
            <a:off x="56921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96" name="Patiente"/>
          <p:cNvSpPr/>
          <p:nvPr/>
        </p:nvSpPr>
        <p:spPr>
          <a:xfrm>
            <a:off x="5806440" y="4183380"/>
            <a:ext cx="77724" cy="77724"/>
          </a:xfrm>
          <a:prstGeom prst="ellipse">
            <a:avLst/>
          </a:prstGeom>
          <a:solidFill>
            <a:srgbClr val="D5DAE0"/>
          </a:solidFill>
          <a:ln w="12700">
            <a:solidFill>
              <a:srgbClr val="D5DAE0"/>
            </a:solidFill>
            <a:prstDash val="solid"/>
          </a:ln>
        </p:spPr>
        <p:txBody>
          <a:bodyPr/>
          <a:lstStyle/>
          <a:p>
            <a:endParaRPr lang="fr-FR"/>
          </a:p>
        </p:txBody>
      </p:sp>
      <p:sp>
        <p:nvSpPr>
          <p:cNvPr id="197" name="Patiente"/>
          <p:cNvSpPr/>
          <p:nvPr/>
        </p:nvSpPr>
        <p:spPr>
          <a:xfrm>
            <a:off x="5920740" y="4183380"/>
            <a:ext cx="77724" cy="77724"/>
          </a:xfrm>
          <a:prstGeom prst="ellipse">
            <a:avLst/>
          </a:prstGeom>
          <a:solidFill>
            <a:srgbClr val="0E8F7E"/>
          </a:solidFill>
          <a:ln w="12700">
            <a:solidFill>
              <a:srgbClr val="0E8F7E"/>
            </a:solidFill>
            <a:prstDash val="solid"/>
          </a:ln>
        </p:spPr>
        <p:txBody>
          <a:bodyPr/>
          <a:lstStyle/>
          <a:p>
            <a:endParaRPr lang="fr-FR"/>
          </a:p>
        </p:txBody>
      </p:sp>
      <p:sp>
        <p:nvSpPr>
          <p:cNvPr id="198" name="Patiente"/>
          <p:cNvSpPr/>
          <p:nvPr/>
        </p:nvSpPr>
        <p:spPr>
          <a:xfrm>
            <a:off x="5486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199" name="Patiente"/>
          <p:cNvSpPr/>
          <p:nvPr/>
        </p:nvSpPr>
        <p:spPr>
          <a:xfrm>
            <a:off x="6629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00" name="Patiente"/>
          <p:cNvSpPr/>
          <p:nvPr/>
        </p:nvSpPr>
        <p:spPr>
          <a:xfrm>
            <a:off x="7772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01" name="Patiente"/>
          <p:cNvSpPr/>
          <p:nvPr/>
        </p:nvSpPr>
        <p:spPr>
          <a:xfrm>
            <a:off x="8915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02" name="Patiente"/>
          <p:cNvSpPr/>
          <p:nvPr/>
        </p:nvSpPr>
        <p:spPr>
          <a:xfrm>
            <a:off x="10058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03" name="Patiente"/>
          <p:cNvSpPr/>
          <p:nvPr/>
        </p:nvSpPr>
        <p:spPr>
          <a:xfrm>
            <a:off x="11201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04" name="Patiente"/>
          <p:cNvSpPr/>
          <p:nvPr/>
        </p:nvSpPr>
        <p:spPr>
          <a:xfrm>
            <a:off x="12344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05" name="Patiente"/>
          <p:cNvSpPr/>
          <p:nvPr/>
        </p:nvSpPr>
        <p:spPr>
          <a:xfrm>
            <a:off x="13487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06" name="Patiente"/>
          <p:cNvSpPr/>
          <p:nvPr/>
        </p:nvSpPr>
        <p:spPr>
          <a:xfrm>
            <a:off x="14630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07" name="Patiente"/>
          <p:cNvSpPr/>
          <p:nvPr/>
        </p:nvSpPr>
        <p:spPr>
          <a:xfrm>
            <a:off x="15773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08" name="Patiente"/>
          <p:cNvSpPr/>
          <p:nvPr/>
        </p:nvSpPr>
        <p:spPr>
          <a:xfrm>
            <a:off x="16916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09" name="Patiente"/>
          <p:cNvSpPr/>
          <p:nvPr/>
        </p:nvSpPr>
        <p:spPr>
          <a:xfrm>
            <a:off x="18059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0" name="Patiente"/>
          <p:cNvSpPr/>
          <p:nvPr/>
        </p:nvSpPr>
        <p:spPr>
          <a:xfrm>
            <a:off x="19202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1" name="Patiente"/>
          <p:cNvSpPr/>
          <p:nvPr/>
        </p:nvSpPr>
        <p:spPr>
          <a:xfrm>
            <a:off x="20345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2" name="Patiente"/>
          <p:cNvSpPr/>
          <p:nvPr/>
        </p:nvSpPr>
        <p:spPr>
          <a:xfrm>
            <a:off x="21488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3" name="Patiente"/>
          <p:cNvSpPr/>
          <p:nvPr/>
        </p:nvSpPr>
        <p:spPr>
          <a:xfrm>
            <a:off x="22631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4" name="Patiente"/>
          <p:cNvSpPr/>
          <p:nvPr/>
        </p:nvSpPr>
        <p:spPr>
          <a:xfrm>
            <a:off x="23774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5" name="Patiente"/>
          <p:cNvSpPr/>
          <p:nvPr/>
        </p:nvSpPr>
        <p:spPr>
          <a:xfrm>
            <a:off x="24917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6" name="Patiente"/>
          <p:cNvSpPr/>
          <p:nvPr/>
        </p:nvSpPr>
        <p:spPr>
          <a:xfrm>
            <a:off x="26060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17" name="Patiente"/>
          <p:cNvSpPr/>
          <p:nvPr/>
        </p:nvSpPr>
        <p:spPr>
          <a:xfrm>
            <a:off x="27203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18" name="Patiente"/>
          <p:cNvSpPr/>
          <p:nvPr/>
        </p:nvSpPr>
        <p:spPr>
          <a:xfrm>
            <a:off x="28346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19" name="Patiente"/>
          <p:cNvSpPr/>
          <p:nvPr/>
        </p:nvSpPr>
        <p:spPr>
          <a:xfrm>
            <a:off x="29489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20" name="Patiente"/>
          <p:cNvSpPr/>
          <p:nvPr/>
        </p:nvSpPr>
        <p:spPr>
          <a:xfrm>
            <a:off x="30632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1" name="Patiente"/>
          <p:cNvSpPr/>
          <p:nvPr/>
        </p:nvSpPr>
        <p:spPr>
          <a:xfrm>
            <a:off x="31775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2" name="Patiente"/>
          <p:cNvSpPr/>
          <p:nvPr/>
        </p:nvSpPr>
        <p:spPr>
          <a:xfrm>
            <a:off x="32918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23" name="Patiente"/>
          <p:cNvSpPr/>
          <p:nvPr/>
        </p:nvSpPr>
        <p:spPr>
          <a:xfrm>
            <a:off x="34061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24" name="Patiente"/>
          <p:cNvSpPr/>
          <p:nvPr/>
        </p:nvSpPr>
        <p:spPr>
          <a:xfrm>
            <a:off x="35204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5" name="Patiente"/>
          <p:cNvSpPr/>
          <p:nvPr/>
        </p:nvSpPr>
        <p:spPr>
          <a:xfrm>
            <a:off x="36347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6" name="Patiente"/>
          <p:cNvSpPr/>
          <p:nvPr/>
        </p:nvSpPr>
        <p:spPr>
          <a:xfrm>
            <a:off x="37490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7" name="Patiente"/>
          <p:cNvSpPr/>
          <p:nvPr/>
        </p:nvSpPr>
        <p:spPr>
          <a:xfrm>
            <a:off x="38633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8" name="Patiente"/>
          <p:cNvSpPr/>
          <p:nvPr/>
        </p:nvSpPr>
        <p:spPr>
          <a:xfrm>
            <a:off x="39776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29" name="Patiente"/>
          <p:cNvSpPr/>
          <p:nvPr/>
        </p:nvSpPr>
        <p:spPr>
          <a:xfrm>
            <a:off x="40919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30" name="Patiente"/>
          <p:cNvSpPr/>
          <p:nvPr/>
        </p:nvSpPr>
        <p:spPr>
          <a:xfrm>
            <a:off x="42062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1" name="Patiente"/>
          <p:cNvSpPr/>
          <p:nvPr/>
        </p:nvSpPr>
        <p:spPr>
          <a:xfrm>
            <a:off x="43205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32" name="Patiente"/>
          <p:cNvSpPr/>
          <p:nvPr/>
        </p:nvSpPr>
        <p:spPr>
          <a:xfrm>
            <a:off x="44348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3" name="Patiente"/>
          <p:cNvSpPr/>
          <p:nvPr/>
        </p:nvSpPr>
        <p:spPr>
          <a:xfrm>
            <a:off x="45491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4" name="Patiente"/>
          <p:cNvSpPr/>
          <p:nvPr/>
        </p:nvSpPr>
        <p:spPr>
          <a:xfrm>
            <a:off x="46634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5" name="Patiente"/>
          <p:cNvSpPr/>
          <p:nvPr/>
        </p:nvSpPr>
        <p:spPr>
          <a:xfrm>
            <a:off x="47777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6" name="Patiente"/>
          <p:cNvSpPr/>
          <p:nvPr/>
        </p:nvSpPr>
        <p:spPr>
          <a:xfrm>
            <a:off x="48920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7" name="Patiente"/>
          <p:cNvSpPr/>
          <p:nvPr/>
        </p:nvSpPr>
        <p:spPr>
          <a:xfrm>
            <a:off x="50063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38" name="Patiente"/>
          <p:cNvSpPr/>
          <p:nvPr/>
        </p:nvSpPr>
        <p:spPr>
          <a:xfrm>
            <a:off x="51206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39" name="Patiente"/>
          <p:cNvSpPr/>
          <p:nvPr/>
        </p:nvSpPr>
        <p:spPr>
          <a:xfrm>
            <a:off x="52349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40" name="Patiente"/>
          <p:cNvSpPr/>
          <p:nvPr/>
        </p:nvSpPr>
        <p:spPr>
          <a:xfrm>
            <a:off x="53492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41" name="Patiente"/>
          <p:cNvSpPr/>
          <p:nvPr/>
        </p:nvSpPr>
        <p:spPr>
          <a:xfrm>
            <a:off x="54635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42" name="Patiente"/>
          <p:cNvSpPr/>
          <p:nvPr/>
        </p:nvSpPr>
        <p:spPr>
          <a:xfrm>
            <a:off x="55778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43" name="Patiente"/>
          <p:cNvSpPr/>
          <p:nvPr/>
        </p:nvSpPr>
        <p:spPr>
          <a:xfrm>
            <a:off x="5692140" y="4297680"/>
            <a:ext cx="77724" cy="77724"/>
          </a:xfrm>
          <a:prstGeom prst="ellipse">
            <a:avLst/>
          </a:prstGeom>
          <a:solidFill>
            <a:srgbClr val="0E8F7E"/>
          </a:solidFill>
          <a:ln w="12700">
            <a:solidFill>
              <a:srgbClr val="0E8F7E"/>
            </a:solidFill>
            <a:prstDash val="solid"/>
          </a:ln>
        </p:spPr>
        <p:txBody>
          <a:bodyPr/>
          <a:lstStyle/>
          <a:p>
            <a:endParaRPr lang="fr-FR"/>
          </a:p>
        </p:txBody>
      </p:sp>
      <p:sp>
        <p:nvSpPr>
          <p:cNvPr id="244" name="Patiente"/>
          <p:cNvSpPr/>
          <p:nvPr/>
        </p:nvSpPr>
        <p:spPr>
          <a:xfrm>
            <a:off x="58064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45" name="Patiente"/>
          <p:cNvSpPr/>
          <p:nvPr/>
        </p:nvSpPr>
        <p:spPr>
          <a:xfrm>
            <a:off x="5920740" y="4297680"/>
            <a:ext cx="77724" cy="77724"/>
          </a:xfrm>
          <a:prstGeom prst="ellipse">
            <a:avLst/>
          </a:prstGeom>
          <a:solidFill>
            <a:srgbClr val="D5DAE0"/>
          </a:solidFill>
          <a:ln w="12700">
            <a:solidFill>
              <a:srgbClr val="D5DAE0"/>
            </a:solidFill>
            <a:prstDash val="solid"/>
          </a:ln>
        </p:spPr>
        <p:txBody>
          <a:bodyPr/>
          <a:lstStyle/>
          <a:p>
            <a:endParaRPr lang="fr-FR"/>
          </a:p>
        </p:txBody>
      </p:sp>
      <p:sp>
        <p:nvSpPr>
          <p:cNvPr id="246" name="Patiente"/>
          <p:cNvSpPr/>
          <p:nvPr/>
        </p:nvSpPr>
        <p:spPr>
          <a:xfrm>
            <a:off x="5486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47" name="Patiente"/>
          <p:cNvSpPr/>
          <p:nvPr/>
        </p:nvSpPr>
        <p:spPr>
          <a:xfrm>
            <a:off x="6629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48" name="Patiente"/>
          <p:cNvSpPr/>
          <p:nvPr/>
        </p:nvSpPr>
        <p:spPr>
          <a:xfrm>
            <a:off x="7772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49" name="Patiente"/>
          <p:cNvSpPr/>
          <p:nvPr/>
        </p:nvSpPr>
        <p:spPr>
          <a:xfrm>
            <a:off x="8915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50" name="Patiente"/>
          <p:cNvSpPr/>
          <p:nvPr/>
        </p:nvSpPr>
        <p:spPr>
          <a:xfrm>
            <a:off x="10058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51" name="Patiente"/>
          <p:cNvSpPr/>
          <p:nvPr/>
        </p:nvSpPr>
        <p:spPr>
          <a:xfrm>
            <a:off x="11201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52" name="Patiente"/>
          <p:cNvSpPr/>
          <p:nvPr/>
        </p:nvSpPr>
        <p:spPr>
          <a:xfrm>
            <a:off x="12344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53" name="Patiente"/>
          <p:cNvSpPr/>
          <p:nvPr/>
        </p:nvSpPr>
        <p:spPr>
          <a:xfrm>
            <a:off x="13487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54" name="Patiente"/>
          <p:cNvSpPr/>
          <p:nvPr/>
        </p:nvSpPr>
        <p:spPr>
          <a:xfrm>
            <a:off x="14630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55" name="Patiente"/>
          <p:cNvSpPr/>
          <p:nvPr/>
        </p:nvSpPr>
        <p:spPr>
          <a:xfrm>
            <a:off x="15773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56" name="Patiente"/>
          <p:cNvSpPr/>
          <p:nvPr/>
        </p:nvSpPr>
        <p:spPr>
          <a:xfrm>
            <a:off x="16916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57" name="Patiente"/>
          <p:cNvSpPr/>
          <p:nvPr/>
        </p:nvSpPr>
        <p:spPr>
          <a:xfrm>
            <a:off x="18059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58" name="Patiente"/>
          <p:cNvSpPr/>
          <p:nvPr/>
        </p:nvSpPr>
        <p:spPr>
          <a:xfrm>
            <a:off x="19202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59" name="Patiente"/>
          <p:cNvSpPr/>
          <p:nvPr/>
        </p:nvSpPr>
        <p:spPr>
          <a:xfrm>
            <a:off x="20345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0" name="Patiente"/>
          <p:cNvSpPr/>
          <p:nvPr/>
        </p:nvSpPr>
        <p:spPr>
          <a:xfrm>
            <a:off x="21488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61" name="Patiente"/>
          <p:cNvSpPr/>
          <p:nvPr/>
        </p:nvSpPr>
        <p:spPr>
          <a:xfrm>
            <a:off x="22631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2" name="Patiente"/>
          <p:cNvSpPr/>
          <p:nvPr/>
        </p:nvSpPr>
        <p:spPr>
          <a:xfrm>
            <a:off x="23774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3" name="Patiente"/>
          <p:cNvSpPr/>
          <p:nvPr/>
        </p:nvSpPr>
        <p:spPr>
          <a:xfrm>
            <a:off x="24917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4" name="Patiente"/>
          <p:cNvSpPr/>
          <p:nvPr/>
        </p:nvSpPr>
        <p:spPr>
          <a:xfrm>
            <a:off x="26060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5" name="Patiente"/>
          <p:cNvSpPr/>
          <p:nvPr/>
        </p:nvSpPr>
        <p:spPr>
          <a:xfrm>
            <a:off x="27203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6" name="Patiente"/>
          <p:cNvSpPr/>
          <p:nvPr/>
        </p:nvSpPr>
        <p:spPr>
          <a:xfrm>
            <a:off x="28346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67" name="Patiente"/>
          <p:cNvSpPr/>
          <p:nvPr/>
        </p:nvSpPr>
        <p:spPr>
          <a:xfrm>
            <a:off x="29489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68" name="Patiente"/>
          <p:cNvSpPr/>
          <p:nvPr/>
        </p:nvSpPr>
        <p:spPr>
          <a:xfrm>
            <a:off x="30632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69" name="Patiente"/>
          <p:cNvSpPr/>
          <p:nvPr/>
        </p:nvSpPr>
        <p:spPr>
          <a:xfrm>
            <a:off x="31775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70" name="Patiente"/>
          <p:cNvSpPr/>
          <p:nvPr/>
        </p:nvSpPr>
        <p:spPr>
          <a:xfrm>
            <a:off x="32918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71" name="Patiente"/>
          <p:cNvSpPr/>
          <p:nvPr/>
        </p:nvSpPr>
        <p:spPr>
          <a:xfrm>
            <a:off x="34061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72" name="Patiente"/>
          <p:cNvSpPr/>
          <p:nvPr/>
        </p:nvSpPr>
        <p:spPr>
          <a:xfrm>
            <a:off x="35204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73" name="Patiente"/>
          <p:cNvSpPr/>
          <p:nvPr/>
        </p:nvSpPr>
        <p:spPr>
          <a:xfrm>
            <a:off x="36347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74" name="Patiente"/>
          <p:cNvSpPr/>
          <p:nvPr/>
        </p:nvSpPr>
        <p:spPr>
          <a:xfrm>
            <a:off x="37490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75" name="Patiente"/>
          <p:cNvSpPr/>
          <p:nvPr/>
        </p:nvSpPr>
        <p:spPr>
          <a:xfrm>
            <a:off x="38633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76" name="Patiente"/>
          <p:cNvSpPr/>
          <p:nvPr/>
        </p:nvSpPr>
        <p:spPr>
          <a:xfrm>
            <a:off x="39776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77" name="Patiente"/>
          <p:cNvSpPr/>
          <p:nvPr/>
        </p:nvSpPr>
        <p:spPr>
          <a:xfrm>
            <a:off x="40919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78" name="Patiente"/>
          <p:cNvSpPr/>
          <p:nvPr/>
        </p:nvSpPr>
        <p:spPr>
          <a:xfrm>
            <a:off x="42062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79" name="Patiente"/>
          <p:cNvSpPr/>
          <p:nvPr/>
        </p:nvSpPr>
        <p:spPr>
          <a:xfrm>
            <a:off x="43205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80" name="Patiente"/>
          <p:cNvSpPr/>
          <p:nvPr/>
        </p:nvSpPr>
        <p:spPr>
          <a:xfrm>
            <a:off x="44348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81" name="Patiente"/>
          <p:cNvSpPr/>
          <p:nvPr/>
        </p:nvSpPr>
        <p:spPr>
          <a:xfrm>
            <a:off x="45491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82" name="Patiente"/>
          <p:cNvSpPr/>
          <p:nvPr/>
        </p:nvSpPr>
        <p:spPr>
          <a:xfrm>
            <a:off x="46634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83" name="Patiente"/>
          <p:cNvSpPr/>
          <p:nvPr/>
        </p:nvSpPr>
        <p:spPr>
          <a:xfrm>
            <a:off x="47777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84" name="Patiente"/>
          <p:cNvSpPr/>
          <p:nvPr/>
        </p:nvSpPr>
        <p:spPr>
          <a:xfrm>
            <a:off x="48920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85" name="Patiente"/>
          <p:cNvSpPr/>
          <p:nvPr/>
        </p:nvSpPr>
        <p:spPr>
          <a:xfrm>
            <a:off x="50063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86" name="Patiente"/>
          <p:cNvSpPr/>
          <p:nvPr/>
        </p:nvSpPr>
        <p:spPr>
          <a:xfrm>
            <a:off x="51206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87" name="Patiente"/>
          <p:cNvSpPr/>
          <p:nvPr/>
        </p:nvSpPr>
        <p:spPr>
          <a:xfrm>
            <a:off x="52349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88" name="Patiente"/>
          <p:cNvSpPr/>
          <p:nvPr/>
        </p:nvSpPr>
        <p:spPr>
          <a:xfrm>
            <a:off x="5349240" y="4411980"/>
            <a:ext cx="77724" cy="77724"/>
          </a:xfrm>
          <a:prstGeom prst="ellipse">
            <a:avLst/>
          </a:prstGeom>
          <a:solidFill>
            <a:srgbClr val="0E8F7E"/>
          </a:solidFill>
          <a:ln w="12700">
            <a:solidFill>
              <a:srgbClr val="0E8F7E"/>
            </a:solidFill>
            <a:prstDash val="solid"/>
          </a:ln>
        </p:spPr>
        <p:txBody>
          <a:bodyPr/>
          <a:lstStyle/>
          <a:p>
            <a:endParaRPr lang="fr-FR"/>
          </a:p>
        </p:txBody>
      </p:sp>
      <p:sp>
        <p:nvSpPr>
          <p:cNvPr id="289" name="Patiente"/>
          <p:cNvSpPr/>
          <p:nvPr/>
        </p:nvSpPr>
        <p:spPr>
          <a:xfrm>
            <a:off x="54635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90" name="Patiente"/>
          <p:cNvSpPr/>
          <p:nvPr/>
        </p:nvSpPr>
        <p:spPr>
          <a:xfrm>
            <a:off x="55778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91" name="Patiente"/>
          <p:cNvSpPr/>
          <p:nvPr/>
        </p:nvSpPr>
        <p:spPr>
          <a:xfrm>
            <a:off x="56921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92" name="Patiente"/>
          <p:cNvSpPr/>
          <p:nvPr/>
        </p:nvSpPr>
        <p:spPr>
          <a:xfrm>
            <a:off x="58064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93" name="Patiente"/>
          <p:cNvSpPr/>
          <p:nvPr/>
        </p:nvSpPr>
        <p:spPr>
          <a:xfrm>
            <a:off x="5920740" y="4411980"/>
            <a:ext cx="77724" cy="77724"/>
          </a:xfrm>
          <a:prstGeom prst="ellipse">
            <a:avLst/>
          </a:prstGeom>
          <a:solidFill>
            <a:srgbClr val="D5DAE0"/>
          </a:solidFill>
          <a:ln w="12700">
            <a:solidFill>
              <a:srgbClr val="D5DAE0"/>
            </a:solidFill>
            <a:prstDash val="solid"/>
          </a:ln>
        </p:spPr>
        <p:txBody>
          <a:bodyPr/>
          <a:lstStyle/>
          <a:p>
            <a:endParaRPr lang="fr-FR"/>
          </a:p>
        </p:txBody>
      </p:sp>
      <p:sp>
        <p:nvSpPr>
          <p:cNvPr id="294" name="Patiente"/>
          <p:cNvSpPr/>
          <p:nvPr/>
        </p:nvSpPr>
        <p:spPr>
          <a:xfrm>
            <a:off x="5486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295" name="Patiente"/>
          <p:cNvSpPr/>
          <p:nvPr/>
        </p:nvSpPr>
        <p:spPr>
          <a:xfrm>
            <a:off x="6629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296" name="Patiente"/>
          <p:cNvSpPr/>
          <p:nvPr/>
        </p:nvSpPr>
        <p:spPr>
          <a:xfrm>
            <a:off x="7772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297" name="Patiente"/>
          <p:cNvSpPr/>
          <p:nvPr/>
        </p:nvSpPr>
        <p:spPr>
          <a:xfrm>
            <a:off x="8915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298" name="Patiente"/>
          <p:cNvSpPr/>
          <p:nvPr/>
        </p:nvSpPr>
        <p:spPr>
          <a:xfrm>
            <a:off x="10058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299" name="Patiente"/>
          <p:cNvSpPr/>
          <p:nvPr/>
        </p:nvSpPr>
        <p:spPr>
          <a:xfrm>
            <a:off x="11201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00" name="Patiente"/>
          <p:cNvSpPr/>
          <p:nvPr/>
        </p:nvSpPr>
        <p:spPr>
          <a:xfrm>
            <a:off x="12344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01" name="Patiente"/>
          <p:cNvSpPr/>
          <p:nvPr/>
        </p:nvSpPr>
        <p:spPr>
          <a:xfrm>
            <a:off x="13487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02" name="Patiente"/>
          <p:cNvSpPr/>
          <p:nvPr/>
        </p:nvSpPr>
        <p:spPr>
          <a:xfrm>
            <a:off x="14630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03" name="Patiente"/>
          <p:cNvSpPr/>
          <p:nvPr/>
        </p:nvSpPr>
        <p:spPr>
          <a:xfrm>
            <a:off x="15773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04" name="Patiente"/>
          <p:cNvSpPr/>
          <p:nvPr/>
        </p:nvSpPr>
        <p:spPr>
          <a:xfrm>
            <a:off x="16916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05" name="Patiente"/>
          <p:cNvSpPr/>
          <p:nvPr/>
        </p:nvSpPr>
        <p:spPr>
          <a:xfrm>
            <a:off x="18059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06" name="Patiente"/>
          <p:cNvSpPr/>
          <p:nvPr/>
        </p:nvSpPr>
        <p:spPr>
          <a:xfrm>
            <a:off x="19202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07" name="Patiente"/>
          <p:cNvSpPr/>
          <p:nvPr/>
        </p:nvSpPr>
        <p:spPr>
          <a:xfrm>
            <a:off x="20345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08" name="Patiente"/>
          <p:cNvSpPr/>
          <p:nvPr/>
        </p:nvSpPr>
        <p:spPr>
          <a:xfrm>
            <a:off x="21488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09" name="Patiente"/>
          <p:cNvSpPr/>
          <p:nvPr/>
        </p:nvSpPr>
        <p:spPr>
          <a:xfrm>
            <a:off x="22631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10" name="Patiente"/>
          <p:cNvSpPr/>
          <p:nvPr/>
        </p:nvSpPr>
        <p:spPr>
          <a:xfrm>
            <a:off x="23774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11" name="Patiente"/>
          <p:cNvSpPr/>
          <p:nvPr/>
        </p:nvSpPr>
        <p:spPr>
          <a:xfrm>
            <a:off x="24917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12" name="Patiente"/>
          <p:cNvSpPr/>
          <p:nvPr/>
        </p:nvSpPr>
        <p:spPr>
          <a:xfrm>
            <a:off x="26060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13" name="Patiente"/>
          <p:cNvSpPr/>
          <p:nvPr/>
        </p:nvSpPr>
        <p:spPr>
          <a:xfrm>
            <a:off x="27203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14" name="Patiente"/>
          <p:cNvSpPr/>
          <p:nvPr/>
        </p:nvSpPr>
        <p:spPr>
          <a:xfrm>
            <a:off x="28346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15" name="Patiente"/>
          <p:cNvSpPr/>
          <p:nvPr/>
        </p:nvSpPr>
        <p:spPr>
          <a:xfrm>
            <a:off x="29489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16" name="Patiente"/>
          <p:cNvSpPr/>
          <p:nvPr/>
        </p:nvSpPr>
        <p:spPr>
          <a:xfrm>
            <a:off x="30632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17" name="Patiente"/>
          <p:cNvSpPr/>
          <p:nvPr/>
        </p:nvSpPr>
        <p:spPr>
          <a:xfrm>
            <a:off x="31775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18" name="Patiente"/>
          <p:cNvSpPr/>
          <p:nvPr/>
        </p:nvSpPr>
        <p:spPr>
          <a:xfrm>
            <a:off x="32918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19" name="Patiente"/>
          <p:cNvSpPr/>
          <p:nvPr/>
        </p:nvSpPr>
        <p:spPr>
          <a:xfrm>
            <a:off x="34061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20" name="Patiente"/>
          <p:cNvSpPr/>
          <p:nvPr/>
        </p:nvSpPr>
        <p:spPr>
          <a:xfrm>
            <a:off x="35204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21" name="Patiente"/>
          <p:cNvSpPr/>
          <p:nvPr/>
        </p:nvSpPr>
        <p:spPr>
          <a:xfrm>
            <a:off x="36347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22" name="Patiente"/>
          <p:cNvSpPr/>
          <p:nvPr/>
        </p:nvSpPr>
        <p:spPr>
          <a:xfrm>
            <a:off x="37490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23" name="Patiente"/>
          <p:cNvSpPr/>
          <p:nvPr/>
        </p:nvSpPr>
        <p:spPr>
          <a:xfrm>
            <a:off x="38633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24" name="Patiente"/>
          <p:cNvSpPr/>
          <p:nvPr/>
        </p:nvSpPr>
        <p:spPr>
          <a:xfrm>
            <a:off x="39776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25" name="Patiente"/>
          <p:cNvSpPr/>
          <p:nvPr/>
        </p:nvSpPr>
        <p:spPr>
          <a:xfrm>
            <a:off x="40919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26" name="Patiente"/>
          <p:cNvSpPr/>
          <p:nvPr/>
        </p:nvSpPr>
        <p:spPr>
          <a:xfrm>
            <a:off x="42062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27" name="Patiente"/>
          <p:cNvSpPr/>
          <p:nvPr/>
        </p:nvSpPr>
        <p:spPr>
          <a:xfrm>
            <a:off x="43205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28" name="Patiente"/>
          <p:cNvSpPr/>
          <p:nvPr/>
        </p:nvSpPr>
        <p:spPr>
          <a:xfrm>
            <a:off x="44348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29" name="Patiente"/>
          <p:cNvSpPr/>
          <p:nvPr/>
        </p:nvSpPr>
        <p:spPr>
          <a:xfrm>
            <a:off x="45491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0" name="Patiente"/>
          <p:cNvSpPr/>
          <p:nvPr/>
        </p:nvSpPr>
        <p:spPr>
          <a:xfrm>
            <a:off x="46634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31" name="Patiente"/>
          <p:cNvSpPr/>
          <p:nvPr/>
        </p:nvSpPr>
        <p:spPr>
          <a:xfrm>
            <a:off x="47777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32" name="Patiente"/>
          <p:cNvSpPr/>
          <p:nvPr/>
        </p:nvSpPr>
        <p:spPr>
          <a:xfrm>
            <a:off x="48920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3" name="Patiente"/>
          <p:cNvSpPr/>
          <p:nvPr/>
        </p:nvSpPr>
        <p:spPr>
          <a:xfrm>
            <a:off x="50063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4" name="Patiente"/>
          <p:cNvSpPr/>
          <p:nvPr/>
        </p:nvSpPr>
        <p:spPr>
          <a:xfrm>
            <a:off x="51206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5" name="Patiente"/>
          <p:cNvSpPr/>
          <p:nvPr/>
        </p:nvSpPr>
        <p:spPr>
          <a:xfrm>
            <a:off x="52349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6" name="Patiente"/>
          <p:cNvSpPr/>
          <p:nvPr/>
        </p:nvSpPr>
        <p:spPr>
          <a:xfrm>
            <a:off x="53492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7" name="Patiente"/>
          <p:cNvSpPr/>
          <p:nvPr/>
        </p:nvSpPr>
        <p:spPr>
          <a:xfrm>
            <a:off x="54635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38" name="Patiente"/>
          <p:cNvSpPr/>
          <p:nvPr/>
        </p:nvSpPr>
        <p:spPr>
          <a:xfrm>
            <a:off x="55778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39" name="Patiente"/>
          <p:cNvSpPr/>
          <p:nvPr/>
        </p:nvSpPr>
        <p:spPr>
          <a:xfrm>
            <a:off x="56921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40" name="Patiente"/>
          <p:cNvSpPr/>
          <p:nvPr/>
        </p:nvSpPr>
        <p:spPr>
          <a:xfrm>
            <a:off x="5806440" y="4526280"/>
            <a:ext cx="77724" cy="77724"/>
          </a:xfrm>
          <a:prstGeom prst="ellipse">
            <a:avLst/>
          </a:prstGeom>
          <a:solidFill>
            <a:srgbClr val="D5DAE0"/>
          </a:solidFill>
          <a:ln w="12700">
            <a:solidFill>
              <a:srgbClr val="D5DAE0"/>
            </a:solidFill>
            <a:prstDash val="solid"/>
          </a:ln>
        </p:spPr>
        <p:txBody>
          <a:bodyPr/>
          <a:lstStyle/>
          <a:p>
            <a:endParaRPr lang="fr-FR"/>
          </a:p>
        </p:txBody>
      </p:sp>
      <p:sp>
        <p:nvSpPr>
          <p:cNvPr id="341" name="Patiente"/>
          <p:cNvSpPr/>
          <p:nvPr/>
        </p:nvSpPr>
        <p:spPr>
          <a:xfrm>
            <a:off x="5920740" y="4526280"/>
            <a:ext cx="77724" cy="77724"/>
          </a:xfrm>
          <a:prstGeom prst="ellipse">
            <a:avLst/>
          </a:prstGeom>
          <a:solidFill>
            <a:srgbClr val="0E8F7E"/>
          </a:solidFill>
          <a:ln w="12700">
            <a:solidFill>
              <a:srgbClr val="0E8F7E"/>
            </a:solidFill>
            <a:prstDash val="solid"/>
          </a:ln>
        </p:spPr>
        <p:txBody>
          <a:bodyPr/>
          <a:lstStyle/>
          <a:p>
            <a:endParaRPr lang="fr-FR"/>
          </a:p>
        </p:txBody>
      </p:sp>
      <p:sp>
        <p:nvSpPr>
          <p:cNvPr id="342" name="Patiente"/>
          <p:cNvSpPr/>
          <p:nvPr/>
        </p:nvSpPr>
        <p:spPr>
          <a:xfrm>
            <a:off x="5486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43" name="Patiente"/>
          <p:cNvSpPr/>
          <p:nvPr/>
        </p:nvSpPr>
        <p:spPr>
          <a:xfrm>
            <a:off x="6629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44" name="Patiente"/>
          <p:cNvSpPr/>
          <p:nvPr/>
        </p:nvSpPr>
        <p:spPr>
          <a:xfrm>
            <a:off x="7772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45" name="Patiente"/>
          <p:cNvSpPr/>
          <p:nvPr/>
        </p:nvSpPr>
        <p:spPr>
          <a:xfrm>
            <a:off x="8915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46" name="Patiente"/>
          <p:cNvSpPr/>
          <p:nvPr/>
        </p:nvSpPr>
        <p:spPr>
          <a:xfrm>
            <a:off x="10058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47" name="Patiente"/>
          <p:cNvSpPr/>
          <p:nvPr/>
        </p:nvSpPr>
        <p:spPr>
          <a:xfrm>
            <a:off x="11201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48" name="Patiente"/>
          <p:cNvSpPr/>
          <p:nvPr/>
        </p:nvSpPr>
        <p:spPr>
          <a:xfrm>
            <a:off x="12344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49" name="Patiente"/>
          <p:cNvSpPr/>
          <p:nvPr/>
        </p:nvSpPr>
        <p:spPr>
          <a:xfrm>
            <a:off x="13487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0" name="Patiente"/>
          <p:cNvSpPr/>
          <p:nvPr/>
        </p:nvSpPr>
        <p:spPr>
          <a:xfrm>
            <a:off x="14630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1" name="Patiente"/>
          <p:cNvSpPr/>
          <p:nvPr/>
        </p:nvSpPr>
        <p:spPr>
          <a:xfrm>
            <a:off x="15773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2" name="Patiente"/>
          <p:cNvSpPr/>
          <p:nvPr/>
        </p:nvSpPr>
        <p:spPr>
          <a:xfrm>
            <a:off x="16916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53" name="Patiente"/>
          <p:cNvSpPr/>
          <p:nvPr/>
        </p:nvSpPr>
        <p:spPr>
          <a:xfrm>
            <a:off x="18059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4" name="Patiente"/>
          <p:cNvSpPr/>
          <p:nvPr/>
        </p:nvSpPr>
        <p:spPr>
          <a:xfrm>
            <a:off x="19202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5" name="Patiente"/>
          <p:cNvSpPr/>
          <p:nvPr/>
        </p:nvSpPr>
        <p:spPr>
          <a:xfrm>
            <a:off x="20345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6" name="Patiente"/>
          <p:cNvSpPr/>
          <p:nvPr/>
        </p:nvSpPr>
        <p:spPr>
          <a:xfrm>
            <a:off x="21488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7" name="Patiente"/>
          <p:cNvSpPr/>
          <p:nvPr/>
        </p:nvSpPr>
        <p:spPr>
          <a:xfrm>
            <a:off x="22631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58" name="Patiente"/>
          <p:cNvSpPr/>
          <p:nvPr/>
        </p:nvSpPr>
        <p:spPr>
          <a:xfrm>
            <a:off x="23774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59" name="Patiente"/>
          <p:cNvSpPr/>
          <p:nvPr/>
        </p:nvSpPr>
        <p:spPr>
          <a:xfrm>
            <a:off x="24917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0" name="Patiente"/>
          <p:cNvSpPr/>
          <p:nvPr/>
        </p:nvSpPr>
        <p:spPr>
          <a:xfrm>
            <a:off x="26060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61" name="Patiente"/>
          <p:cNvSpPr/>
          <p:nvPr/>
        </p:nvSpPr>
        <p:spPr>
          <a:xfrm>
            <a:off x="27203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2" name="Patiente"/>
          <p:cNvSpPr/>
          <p:nvPr/>
        </p:nvSpPr>
        <p:spPr>
          <a:xfrm>
            <a:off x="28346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3" name="Patiente"/>
          <p:cNvSpPr/>
          <p:nvPr/>
        </p:nvSpPr>
        <p:spPr>
          <a:xfrm>
            <a:off x="29489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4" name="Patiente"/>
          <p:cNvSpPr/>
          <p:nvPr/>
        </p:nvSpPr>
        <p:spPr>
          <a:xfrm>
            <a:off x="30632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5" name="Patiente"/>
          <p:cNvSpPr/>
          <p:nvPr/>
        </p:nvSpPr>
        <p:spPr>
          <a:xfrm>
            <a:off x="31775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66" name="Patiente"/>
          <p:cNvSpPr/>
          <p:nvPr/>
        </p:nvSpPr>
        <p:spPr>
          <a:xfrm>
            <a:off x="32918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7" name="Patiente"/>
          <p:cNvSpPr/>
          <p:nvPr/>
        </p:nvSpPr>
        <p:spPr>
          <a:xfrm>
            <a:off x="34061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68" name="Patiente"/>
          <p:cNvSpPr/>
          <p:nvPr/>
        </p:nvSpPr>
        <p:spPr>
          <a:xfrm>
            <a:off x="35204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69" name="Patiente"/>
          <p:cNvSpPr/>
          <p:nvPr/>
        </p:nvSpPr>
        <p:spPr>
          <a:xfrm>
            <a:off x="36347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0" name="Patiente"/>
          <p:cNvSpPr/>
          <p:nvPr/>
        </p:nvSpPr>
        <p:spPr>
          <a:xfrm>
            <a:off x="37490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71" name="Patiente"/>
          <p:cNvSpPr/>
          <p:nvPr/>
        </p:nvSpPr>
        <p:spPr>
          <a:xfrm>
            <a:off x="38633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72" name="Patiente"/>
          <p:cNvSpPr/>
          <p:nvPr/>
        </p:nvSpPr>
        <p:spPr>
          <a:xfrm>
            <a:off x="39776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3" name="Patiente"/>
          <p:cNvSpPr/>
          <p:nvPr/>
        </p:nvSpPr>
        <p:spPr>
          <a:xfrm>
            <a:off x="40919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4" name="Patiente"/>
          <p:cNvSpPr/>
          <p:nvPr/>
        </p:nvSpPr>
        <p:spPr>
          <a:xfrm>
            <a:off x="42062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5" name="Patiente"/>
          <p:cNvSpPr/>
          <p:nvPr/>
        </p:nvSpPr>
        <p:spPr>
          <a:xfrm>
            <a:off x="43205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6" name="Patiente"/>
          <p:cNvSpPr/>
          <p:nvPr/>
        </p:nvSpPr>
        <p:spPr>
          <a:xfrm>
            <a:off x="44348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7" name="Patiente"/>
          <p:cNvSpPr/>
          <p:nvPr/>
        </p:nvSpPr>
        <p:spPr>
          <a:xfrm>
            <a:off x="45491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8" name="Patiente"/>
          <p:cNvSpPr/>
          <p:nvPr/>
        </p:nvSpPr>
        <p:spPr>
          <a:xfrm>
            <a:off x="46634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79" name="Patiente"/>
          <p:cNvSpPr/>
          <p:nvPr/>
        </p:nvSpPr>
        <p:spPr>
          <a:xfrm>
            <a:off x="47777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0" name="Patiente"/>
          <p:cNvSpPr/>
          <p:nvPr/>
        </p:nvSpPr>
        <p:spPr>
          <a:xfrm>
            <a:off x="48920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1" name="Patiente"/>
          <p:cNvSpPr/>
          <p:nvPr/>
        </p:nvSpPr>
        <p:spPr>
          <a:xfrm>
            <a:off x="50063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82" name="Patiente"/>
          <p:cNvSpPr/>
          <p:nvPr/>
        </p:nvSpPr>
        <p:spPr>
          <a:xfrm>
            <a:off x="51206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3" name="Patiente"/>
          <p:cNvSpPr/>
          <p:nvPr/>
        </p:nvSpPr>
        <p:spPr>
          <a:xfrm>
            <a:off x="52349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4" name="Patiente"/>
          <p:cNvSpPr/>
          <p:nvPr/>
        </p:nvSpPr>
        <p:spPr>
          <a:xfrm>
            <a:off x="53492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5" name="Patiente"/>
          <p:cNvSpPr/>
          <p:nvPr/>
        </p:nvSpPr>
        <p:spPr>
          <a:xfrm>
            <a:off x="5463540" y="4640580"/>
            <a:ext cx="77724" cy="77724"/>
          </a:xfrm>
          <a:prstGeom prst="ellipse">
            <a:avLst/>
          </a:prstGeom>
          <a:solidFill>
            <a:srgbClr val="0E8F7E"/>
          </a:solidFill>
          <a:ln w="12700">
            <a:solidFill>
              <a:srgbClr val="0E8F7E"/>
            </a:solidFill>
            <a:prstDash val="solid"/>
          </a:ln>
        </p:spPr>
        <p:txBody>
          <a:bodyPr/>
          <a:lstStyle/>
          <a:p>
            <a:endParaRPr lang="fr-FR"/>
          </a:p>
        </p:txBody>
      </p:sp>
      <p:sp>
        <p:nvSpPr>
          <p:cNvPr id="386" name="Patiente"/>
          <p:cNvSpPr/>
          <p:nvPr/>
        </p:nvSpPr>
        <p:spPr>
          <a:xfrm>
            <a:off x="55778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7" name="Patiente"/>
          <p:cNvSpPr/>
          <p:nvPr/>
        </p:nvSpPr>
        <p:spPr>
          <a:xfrm>
            <a:off x="56921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8" name="Patiente"/>
          <p:cNvSpPr/>
          <p:nvPr/>
        </p:nvSpPr>
        <p:spPr>
          <a:xfrm>
            <a:off x="58064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89" name="Patiente"/>
          <p:cNvSpPr/>
          <p:nvPr/>
        </p:nvSpPr>
        <p:spPr>
          <a:xfrm>
            <a:off x="5920740" y="4640580"/>
            <a:ext cx="77724" cy="77724"/>
          </a:xfrm>
          <a:prstGeom prst="ellipse">
            <a:avLst/>
          </a:prstGeom>
          <a:solidFill>
            <a:srgbClr val="D5DAE0"/>
          </a:solidFill>
          <a:ln w="12700">
            <a:solidFill>
              <a:srgbClr val="D5DAE0"/>
            </a:solidFill>
            <a:prstDash val="solid"/>
          </a:ln>
        </p:spPr>
        <p:txBody>
          <a:bodyPr/>
          <a:lstStyle/>
          <a:p>
            <a:endParaRPr lang="fr-FR"/>
          </a:p>
        </p:txBody>
      </p:sp>
      <p:sp>
        <p:nvSpPr>
          <p:cNvPr id="390" name="Patiente"/>
          <p:cNvSpPr/>
          <p:nvPr/>
        </p:nvSpPr>
        <p:spPr>
          <a:xfrm>
            <a:off x="5486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391" name="Patiente"/>
          <p:cNvSpPr/>
          <p:nvPr/>
        </p:nvSpPr>
        <p:spPr>
          <a:xfrm>
            <a:off x="6629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392" name="Patiente"/>
          <p:cNvSpPr/>
          <p:nvPr/>
        </p:nvSpPr>
        <p:spPr>
          <a:xfrm>
            <a:off x="7772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393" name="Patiente"/>
          <p:cNvSpPr/>
          <p:nvPr/>
        </p:nvSpPr>
        <p:spPr>
          <a:xfrm>
            <a:off x="8915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394" name="Patiente"/>
          <p:cNvSpPr/>
          <p:nvPr/>
        </p:nvSpPr>
        <p:spPr>
          <a:xfrm>
            <a:off x="10058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395" name="Patiente"/>
          <p:cNvSpPr/>
          <p:nvPr/>
        </p:nvSpPr>
        <p:spPr>
          <a:xfrm>
            <a:off x="11201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396" name="Patiente"/>
          <p:cNvSpPr/>
          <p:nvPr/>
        </p:nvSpPr>
        <p:spPr>
          <a:xfrm>
            <a:off x="12344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397" name="Patiente"/>
          <p:cNvSpPr/>
          <p:nvPr/>
        </p:nvSpPr>
        <p:spPr>
          <a:xfrm>
            <a:off x="13487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398" name="Patiente"/>
          <p:cNvSpPr/>
          <p:nvPr/>
        </p:nvSpPr>
        <p:spPr>
          <a:xfrm>
            <a:off x="14630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399" name="Patiente"/>
          <p:cNvSpPr/>
          <p:nvPr/>
        </p:nvSpPr>
        <p:spPr>
          <a:xfrm>
            <a:off x="15773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00" name="Patiente"/>
          <p:cNvSpPr/>
          <p:nvPr/>
        </p:nvSpPr>
        <p:spPr>
          <a:xfrm>
            <a:off x="16916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01" name="Patiente"/>
          <p:cNvSpPr/>
          <p:nvPr/>
        </p:nvSpPr>
        <p:spPr>
          <a:xfrm>
            <a:off x="18059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02" name="Patiente"/>
          <p:cNvSpPr/>
          <p:nvPr/>
        </p:nvSpPr>
        <p:spPr>
          <a:xfrm>
            <a:off x="19202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03" name="Patiente"/>
          <p:cNvSpPr/>
          <p:nvPr/>
        </p:nvSpPr>
        <p:spPr>
          <a:xfrm>
            <a:off x="20345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04" name="Patiente"/>
          <p:cNvSpPr/>
          <p:nvPr/>
        </p:nvSpPr>
        <p:spPr>
          <a:xfrm>
            <a:off x="21488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05" name="Patiente"/>
          <p:cNvSpPr/>
          <p:nvPr/>
        </p:nvSpPr>
        <p:spPr>
          <a:xfrm>
            <a:off x="22631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06" name="Patiente"/>
          <p:cNvSpPr/>
          <p:nvPr/>
        </p:nvSpPr>
        <p:spPr>
          <a:xfrm>
            <a:off x="23774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07" name="Patiente"/>
          <p:cNvSpPr/>
          <p:nvPr/>
        </p:nvSpPr>
        <p:spPr>
          <a:xfrm>
            <a:off x="24917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08" name="Patiente"/>
          <p:cNvSpPr/>
          <p:nvPr/>
        </p:nvSpPr>
        <p:spPr>
          <a:xfrm>
            <a:off x="26060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09" name="Patiente"/>
          <p:cNvSpPr/>
          <p:nvPr/>
        </p:nvSpPr>
        <p:spPr>
          <a:xfrm>
            <a:off x="27203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10" name="Patiente"/>
          <p:cNvSpPr/>
          <p:nvPr/>
        </p:nvSpPr>
        <p:spPr>
          <a:xfrm>
            <a:off x="28346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1" name="Patiente"/>
          <p:cNvSpPr/>
          <p:nvPr/>
        </p:nvSpPr>
        <p:spPr>
          <a:xfrm>
            <a:off x="29489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2" name="Patiente"/>
          <p:cNvSpPr/>
          <p:nvPr/>
        </p:nvSpPr>
        <p:spPr>
          <a:xfrm>
            <a:off x="30632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3" name="Patiente"/>
          <p:cNvSpPr/>
          <p:nvPr/>
        </p:nvSpPr>
        <p:spPr>
          <a:xfrm>
            <a:off x="31775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4" name="Patiente"/>
          <p:cNvSpPr/>
          <p:nvPr/>
        </p:nvSpPr>
        <p:spPr>
          <a:xfrm>
            <a:off x="32918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15" name="Patiente"/>
          <p:cNvSpPr/>
          <p:nvPr/>
        </p:nvSpPr>
        <p:spPr>
          <a:xfrm>
            <a:off x="34061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6" name="Patiente"/>
          <p:cNvSpPr/>
          <p:nvPr/>
        </p:nvSpPr>
        <p:spPr>
          <a:xfrm>
            <a:off x="35204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7" name="Patiente"/>
          <p:cNvSpPr/>
          <p:nvPr/>
        </p:nvSpPr>
        <p:spPr>
          <a:xfrm>
            <a:off x="36347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8" name="Patiente"/>
          <p:cNvSpPr/>
          <p:nvPr/>
        </p:nvSpPr>
        <p:spPr>
          <a:xfrm>
            <a:off x="37490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19" name="Patiente"/>
          <p:cNvSpPr/>
          <p:nvPr/>
        </p:nvSpPr>
        <p:spPr>
          <a:xfrm>
            <a:off x="38633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20" name="Patiente"/>
          <p:cNvSpPr/>
          <p:nvPr/>
        </p:nvSpPr>
        <p:spPr>
          <a:xfrm>
            <a:off x="39776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21" name="Patiente"/>
          <p:cNvSpPr/>
          <p:nvPr/>
        </p:nvSpPr>
        <p:spPr>
          <a:xfrm>
            <a:off x="40919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22" name="Patiente"/>
          <p:cNvSpPr/>
          <p:nvPr/>
        </p:nvSpPr>
        <p:spPr>
          <a:xfrm>
            <a:off x="42062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23" name="Patiente"/>
          <p:cNvSpPr/>
          <p:nvPr/>
        </p:nvSpPr>
        <p:spPr>
          <a:xfrm>
            <a:off x="43205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24" name="Patiente"/>
          <p:cNvSpPr/>
          <p:nvPr/>
        </p:nvSpPr>
        <p:spPr>
          <a:xfrm>
            <a:off x="44348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25" name="Patiente"/>
          <p:cNvSpPr/>
          <p:nvPr/>
        </p:nvSpPr>
        <p:spPr>
          <a:xfrm>
            <a:off x="45491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26" name="Patiente"/>
          <p:cNvSpPr/>
          <p:nvPr/>
        </p:nvSpPr>
        <p:spPr>
          <a:xfrm>
            <a:off x="46634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27" name="Patiente"/>
          <p:cNvSpPr/>
          <p:nvPr/>
        </p:nvSpPr>
        <p:spPr>
          <a:xfrm>
            <a:off x="47777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28" name="Patiente"/>
          <p:cNvSpPr/>
          <p:nvPr/>
        </p:nvSpPr>
        <p:spPr>
          <a:xfrm>
            <a:off x="48920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29" name="Patiente"/>
          <p:cNvSpPr/>
          <p:nvPr/>
        </p:nvSpPr>
        <p:spPr>
          <a:xfrm>
            <a:off x="50063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30" name="Patiente"/>
          <p:cNvSpPr/>
          <p:nvPr/>
        </p:nvSpPr>
        <p:spPr>
          <a:xfrm>
            <a:off x="51206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31" name="Patiente"/>
          <p:cNvSpPr/>
          <p:nvPr/>
        </p:nvSpPr>
        <p:spPr>
          <a:xfrm>
            <a:off x="52349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32" name="Patiente"/>
          <p:cNvSpPr/>
          <p:nvPr/>
        </p:nvSpPr>
        <p:spPr>
          <a:xfrm>
            <a:off x="53492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33" name="Patiente"/>
          <p:cNvSpPr/>
          <p:nvPr/>
        </p:nvSpPr>
        <p:spPr>
          <a:xfrm>
            <a:off x="54635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34" name="Patiente"/>
          <p:cNvSpPr/>
          <p:nvPr/>
        </p:nvSpPr>
        <p:spPr>
          <a:xfrm>
            <a:off x="5577840" y="4754880"/>
            <a:ext cx="77724" cy="77724"/>
          </a:xfrm>
          <a:prstGeom prst="ellipse">
            <a:avLst/>
          </a:prstGeom>
          <a:solidFill>
            <a:srgbClr val="D5DAE0"/>
          </a:solidFill>
          <a:ln w="12700">
            <a:solidFill>
              <a:srgbClr val="D5DAE0"/>
            </a:solidFill>
            <a:prstDash val="solid"/>
          </a:ln>
        </p:spPr>
        <p:txBody>
          <a:bodyPr/>
          <a:lstStyle/>
          <a:p>
            <a:endParaRPr lang="fr-FR"/>
          </a:p>
        </p:txBody>
      </p:sp>
      <p:sp>
        <p:nvSpPr>
          <p:cNvPr id="435" name="Patiente"/>
          <p:cNvSpPr/>
          <p:nvPr/>
        </p:nvSpPr>
        <p:spPr>
          <a:xfrm>
            <a:off x="56921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36" name="Patiente"/>
          <p:cNvSpPr/>
          <p:nvPr/>
        </p:nvSpPr>
        <p:spPr>
          <a:xfrm>
            <a:off x="58064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37" name="Patiente"/>
          <p:cNvSpPr/>
          <p:nvPr/>
        </p:nvSpPr>
        <p:spPr>
          <a:xfrm>
            <a:off x="5920740" y="4754880"/>
            <a:ext cx="77724" cy="77724"/>
          </a:xfrm>
          <a:prstGeom prst="ellipse">
            <a:avLst/>
          </a:prstGeom>
          <a:solidFill>
            <a:srgbClr val="0E8F7E"/>
          </a:solidFill>
          <a:ln w="12700">
            <a:solidFill>
              <a:srgbClr val="0E8F7E"/>
            </a:solidFill>
            <a:prstDash val="solid"/>
          </a:ln>
        </p:spPr>
        <p:txBody>
          <a:bodyPr/>
          <a:lstStyle/>
          <a:p>
            <a:endParaRPr lang="fr-FR"/>
          </a:p>
        </p:txBody>
      </p:sp>
      <p:sp>
        <p:nvSpPr>
          <p:cNvPr id="438" name="Patiente"/>
          <p:cNvSpPr/>
          <p:nvPr/>
        </p:nvSpPr>
        <p:spPr>
          <a:xfrm>
            <a:off x="5486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39" name="Patiente"/>
          <p:cNvSpPr/>
          <p:nvPr/>
        </p:nvSpPr>
        <p:spPr>
          <a:xfrm>
            <a:off x="6629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0" name="Patiente"/>
          <p:cNvSpPr/>
          <p:nvPr/>
        </p:nvSpPr>
        <p:spPr>
          <a:xfrm>
            <a:off x="7772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1" name="Patiente"/>
          <p:cNvSpPr/>
          <p:nvPr/>
        </p:nvSpPr>
        <p:spPr>
          <a:xfrm>
            <a:off x="8915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2" name="Patiente"/>
          <p:cNvSpPr/>
          <p:nvPr/>
        </p:nvSpPr>
        <p:spPr>
          <a:xfrm>
            <a:off x="10058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3" name="Patiente"/>
          <p:cNvSpPr/>
          <p:nvPr/>
        </p:nvSpPr>
        <p:spPr>
          <a:xfrm>
            <a:off x="11201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4" name="Patiente"/>
          <p:cNvSpPr/>
          <p:nvPr/>
        </p:nvSpPr>
        <p:spPr>
          <a:xfrm>
            <a:off x="12344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5" name="Patiente"/>
          <p:cNvSpPr/>
          <p:nvPr/>
        </p:nvSpPr>
        <p:spPr>
          <a:xfrm>
            <a:off x="13487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6" name="Patiente"/>
          <p:cNvSpPr/>
          <p:nvPr/>
        </p:nvSpPr>
        <p:spPr>
          <a:xfrm>
            <a:off x="14630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7" name="Patiente"/>
          <p:cNvSpPr/>
          <p:nvPr/>
        </p:nvSpPr>
        <p:spPr>
          <a:xfrm>
            <a:off x="15773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8" name="Patiente"/>
          <p:cNvSpPr/>
          <p:nvPr/>
        </p:nvSpPr>
        <p:spPr>
          <a:xfrm>
            <a:off x="16916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49" name="Patiente"/>
          <p:cNvSpPr/>
          <p:nvPr/>
        </p:nvSpPr>
        <p:spPr>
          <a:xfrm>
            <a:off x="18059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50" name="Patiente"/>
          <p:cNvSpPr/>
          <p:nvPr/>
        </p:nvSpPr>
        <p:spPr>
          <a:xfrm>
            <a:off x="19202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51" name="Patiente"/>
          <p:cNvSpPr/>
          <p:nvPr/>
        </p:nvSpPr>
        <p:spPr>
          <a:xfrm>
            <a:off x="20345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52" name="Patiente"/>
          <p:cNvSpPr/>
          <p:nvPr/>
        </p:nvSpPr>
        <p:spPr>
          <a:xfrm>
            <a:off x="21488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53" name="Patiente"/>
          <p:cNvSpPr/>
          <p:nvPr/>
        </p:nvSpPr>
        <p:spPr>
          <a:xfrm>
            <a:off x="22631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54" name="Patiente"/>
          <p:cNvSpPr/>
          <p:nvPr/>
        </p:nvSpPr>
        <p:spPr>
          <a:xfrm>
            <a:off x="23774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55" name="Patiente"/>
          <p:cNvSpPr/>
          <p:nvPr/>
        </p:nvSpPr>
        <p:spPr>
          <a:xfrm>
            <a:off x="24917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56" name="Patiente"/>
          <p:cNvSpPr/>
          <p:nvPr/>
        </p:nvSpPr>
        <p:spPr>
          <a:xfrm>
            <a:off x="26060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57" name="Patiente"/>
          <p:cNvSpPr/>
          <p:nvPr/>
        </p:nvSpPr>
        <p:spPr>
          <a:xfrm>
            <a:off x="27203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58" name="Patiente"/>
          <p:cNvSpPr/>
          <p:nvPr/>
        </p:nvSpPr>
        <p:spPr>
          <a:xfrm>
            <a:off x="28346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59" name="Patiente"/>
          <p:cNvSpPr/>
          <p:nvPr/>
        </p:nvSpPr>
        <p:spPr>
          <a:xfrm>
            <a:off x="29489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60" name="Patiente"/>
          <p:cNvSpPr/>
          <p:nvPr/>
        </p:nvSpPr>
        <p:spPr>
          <a:xfrm>
            <a:off x="30632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61" name="Patiente"/>
          <p:cNvSpPr/>
          <p:nvPr/>
        </p:nvSpPr>
        <p:spPr>
          <a:xfrm>
            <a:off x="31775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62" name="Patiente"/>
          <p:cNvSpPr/>
          <p:nvPr/>
        </p:nvSpPr>
        <p:spPr>
          <a:xfrm>
            <a:off x="32918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63" name="Patiente"/>
          <p:cNvSpPr/>
          <p:nvPr/>
        </p:nvSpPr>
        <p:spPr>
          <a:xfrm>
            <a:off x="34061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64" name="Patiente"/>
          <p:cNvSpPr/>
          <p:nvPr/>
        </p:nvSpPr>
        <p:spPr>
          <a:xfrm>
            <a:off x="35204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65" name="Patiente"/>
          <p:cNvSpPr/>
          <p:nvPr/>
        </p:nvSpPr>
        <p:spPr>
          <a:xfrm>
            <a:off x="36347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66" name="Patiente"/>
          <p:cNvSpPr/>
          <p:nvPr/>
        </p:nvSpPr>
        <p:spPr>
          <a:xfrm>
            <a:off x="37490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67" name="Patiente"/>
          <p:cNvSpPr/>
          <p:nvPr/>
        </p:nvSpPr>
        <p:spPr>
          <a:xfrm>
            <a:off x="38633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68" name="Patiente"/>
          <p:cNvSpPr/>
          <p:nvPr/>
        </p:nvSpPr>
        <p:spPr>
          <a:xfrm>
            <a:off x="39776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69" name="Patiente"/>
          <p:cNvSpPr/>
          <p:nvPr/>
        </p:nvSpPr>
        <p:spPr>
          <a:xfrm>
            <a:off x="40919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0" name="Patiente"/>
          <p:cNvSpPr/>
          <p:nvPr/>
        </p:nvSpPr>
        <p:spPr>
          <a:xfrm>
            <a:off x="42062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1" name="Patiente"/>
          <p:cNvSpPr/>
          <p:nvPr/>
        </p:nvSpPr>
        <p:spPr>
          <a:xfrm>
            <a:off x="43205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2" name="Patiente"/>
          <p:cNvSpPr/>
          <p:nvPr/>
        </p:nvSpPr>
        <p:spPr>
          <a:xfrm>
            <a:off x="44348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3" name="Patiente"/>
          <p:cNvSpPr/>
          <p:nvPr/>
        </p:nvSpPr>
        <p:spPr>
          <a:xfrm>
            <a:off x="45491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4" name="Patiente"/>
          <p:cNvSpPr/>
          <p:nvPr/>
        </p:nvSpPr>
        <p:spPr>
          <a:xfrm>
            <a:off x="46634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5" name="Patiente"/>
          <p:cNvSpPr/>
          <p:nvPr/>
        </p:nvSpPr>
        <p:spPr>
          <a:xfrm>
            <a:off x="47777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76" name="Patiente"/>
          <p:cNvSpPr/>
          <p:nvPr/>
        </p:nvSpPr>
        <p:spPr>
          <a:xfrm>
            <a:off x="48920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77" name="Patiente"/>
          <p:cNvSpPr/>
          <p:nvPr/>
        </p:nvSpPr>
        <p:spPr>
          <a:xfrm>
            <a:off x="50063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8" name="Patiente"/>
          <p:cNvSpPr/>
          <p:nvPr/>
        </p:nvSpPr>
        <p:spPr>
          <a:xfrm>
            <a:off x="51206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79" name="Patiente"/>
          <p:cNvSpPr/>
          <p:nvPr/>
        </p:nvSpPr>
        <p:spPr>
          <a:xfrm>
            <a:off x="52349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80" name="Patiente"/>
          <p:cNvSpPr/>
          <p:nvPr/>
        </p:nvSpPr>
        <p:spPr>
          <a:xfrm>
            <a:off x="53492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81" name="Patiente"/>
          <p:cNvSpPr/>
          <p:nvPr/>
        </p:nvSpPr>
        <p:spPr>
          <a:xfrm>
            <a:off x="54635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82" name="Patiente"/>
          <p:cNvSpPr/>
          <p:nvPr/>
        </p:nvSpPr>
        <p:spPr>
          <a:xfrm>
            <a:off x="55778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83" name="Patiente"/>
          <p:cNvSpPr/>
          <p:nvPr/>
        </p:nvSpPr>
        <p:spPr>
          <a:xfrm>
            <a:off x="56921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84" name="Patiente"/>
          <p:cNvSpPr/>
          <p:nvPr/>
        </p:nvSpPr>
        <p:spPr>
          <a:xfrm>
            <a:off x="5806440" y="4869180"/>
            <a:ext cx="77724" cy="77724"/>
          </a:xfrm>
          <a:prstGeom prst="ellipse">
            <a:avLst/>
          </a:prstGeom>
          <a:solidFill>
            <a:srgbClr val="0E8F7E"/>
          </a:solidFill>
          <a:ln w="12700">
            <a:solidFill>
              <a:srgbClr val="0E8F7E"/>
            </a:solidFill>
            <a:prstDash val="solid"/>
          </a:ln>
        </p:spPr>
        <p:txBody>
          <a:bodyPr/>
          <a:lstStyle/>
          <a:p>
            <a:endParaRPr lang="fr-FR"/>
          </a:p>
        </p:txBody>
      </p:sp>
      <p:sp>
        <p:nvSpPr>
          <p:cNvPr id="485" name="Patiente"/>
          <p:cNvSpPr/>
          <p:nvPr/>
        </p:nvSpPr>
        <p:spPr>
          <a:xfrm>
            <a:off x="5920740" y="4869180"/>
            <a:ext cx="77724" cy="77724"/>
          </a:xfrm>
          <a:prstGeom prst="ellipse">
            <a:avLst/>
          </a:prstGeom>
          <a:solidFill>
            <a:srgbClr val="D5DAE0"/>
          </a:solidFill>
          <a:ln w="12700">
            <a:solidFill>
              <a:srgbClr val="D5DAE0"/>
            </a:solidFill>
            <a:prstDash val="solid"/>
          </a:ln>
        </p:spPr>
        <p:txBody>
          <a:bodyPr/>
          <a:lstStyle/>
          <a:p>
            <a:endParaRPr lang="fr-FR"/>
          </a:p>
        </p:txBody>
      </p:sp>
      <p:sp>
        <p:nvSpPr>
          <p:cNvPr id="486" name="Patiente"/>
          <p:cNvSpPr/>
          <p:nvPr/>
        </p:nvSpPr>
        <p:spPr>
          <a:xfrm>
            <a:off x="5486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87" name="Patiente"/>
          <p:cNvSpPr/>
          <p:nvPr/>
        </p:nvSpPr>
        <p:spPr>
          <a:xfrm>
            <a:off x="6629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88" name="Patiente"/>
          <p:cNvSpPr/>
          <p:nvPr/>
        </p:nvSpPr>
        <p:spPr>
          <a:xfrm>
            <a:off x="7772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489" name="Patiente"/>
          <p:cNvSpPr/>
          <p:nvPr/>
        </p:nvSpPr>
        <p:spPr>
          <a:xfrm>
            <a:off x="8915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490" name="Patiente"/>
          <p:cNvSpPr/>
          <p:nvPr/>
        </p:nvSpPr>
        <p:spPr>
          <a:xfrm>
            <a:off x="10058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1" name="Patiente"/>
          <p:cNvSpPr/>
          <p:nvPr/>
        </p:nvSpPr>
        <p:spPr>
          <a:xfrm>
            <a:off x="11201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2" name="Patiente"/>
          <p:cNvSpPr/>
          <p:nvPr/>
        </p:nvSpPr>
        <p:spPr>
          <a:xfrm>
            <a:off x="12344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3" name="Patiente"/>
          <p:cNvSpPr/>
          <p:nvPr/>
        </p:nvSpPr>
        <p:spPr>
          <a:xfrm>
            <a:off x="13487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4" name="Patiente"/>
          <p:cNvSpPr/>
          <p:nvPr/>
        </p:nvSpPr>
        <p:spPr>
          <a:xfrm>
            <a:off x="14630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5" name="Patiente"/>
          <p:cNvSpPr/>
          <p:nvPr/>
        </p:nvSpPr>
        <p:spPr>
          <a:xfrm>
            <a:off x="15773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496" name="Patiente"/>
          <p:cNvSpPr/>
          <p:nvPr/>
        </p:nvSpPr>
        <p:spPr>
          <a:xfrm>
            <a:off x="16916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497" name="Patiente"/>
          <p:cNvSpPr/>
          <p:nvPr/>
        </p:nvSpPr>
        <p:spPr>
          <a:xfrm>
            <a:off x="18059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8" name="Patiente"/>
          <p:cNvSpPr/>
          <p:nvPr/>
        </p:nvSpPr>
        <p:spPr>
          <a:xfrm>
            <a:off x="19202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499" name="Patiente"/>
          <p:cNvSpPr/>
          <p:nvPr/>
        </p:nvSpPr>
        <p:spPr>
          <a:xfrm>
            <a:off x="20345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0" name="Patiente"/>
          <p:cNvSpPr/>
          <p:nvPr/>
        </p:nvSpPr>
        <p:spPr>
          <a:xfrm>
            <a:off x="21488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1" name="Patiente"/>
          <p:cNvSpPr/>
          <p:nvPr/>
        </p:nvSpPr>
        <p:spPr>
          <a:xfrm>
            <a:off x="22631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02" name="Patiente"/>
          <p:cNvSpPr/>
          <p:nvPr/>
        </p:nvSpPr>
        <p:spPr>
          <a:xfrm>
            <a:off x="23774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3" name="Patiente"/>
          <p:cNvSpPr/>
          <p:nvPr/>
        </p:nvSpPr>
        <p:spPr>
          <a:xfrm>
            <a:off x="24917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4" name="Patiente"/>
          <p:cNvSpPr/>
          <p:nvPr/>
        </p:nvSpPr>
        <p:spPr>
          <a:xfrm>
            <a:off x="26060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5" name="Patiente"/>
          <p:cNvSpPr/>
          <p:nvPr/>
        </p:nvSpPr>
        <p:spPr>
          <a:xfrm>
            <a:off x="27203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06" name="Patiente"/>
          <p:cNvSpPr/>
          <p:nvPr/>
        </p:nvSpPr>
        <p:spPr>
          <a:xfrm>
            <a:off x="28346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07" name="Patiente"/>
          <p:cNvSpPr/>
          <p:nvPr/>
        </p:nvSpPr>
        <p:spPr>
          <a:xfrm>
            <a:off x="29489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08" name="Patiente"/>
          <p:cNvSpPr/>
          <p:nvPr/>
        </p:nvSpPr>
        <p:spPr>
          <a:xfrm>
            <a:off x="30632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09" name="Patiente"/>
          <p:cNvSpPr/>
          <p:nvPr/>
        </p:nvSpPr>
        <p:spPr>
          <a:xfrm>
            <a:off x="31775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10" name="Patiente"/>
          <p:cNvSpPr/>
          <p:nvPr/>
        </p:nvSpPr>
        <p:spPr>
          <a:xfrm>
            <a:off x="32918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11" name="Patiente"/>
          <p:cNvSpPr/>
          <p:nvPr/>
        </p:nvSpPr>
        <p:spPr>
          <a:xfrm>
            <a:off x="34061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12" name="Patiente"/>
          <p:cNvSpPr/>
          <p:nvPr/>
        </p:nvSpPr>
        <p:spPr>
          <a:xfrm>
            <a:off x="35204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13" name="Patiente"/>
          <p:cNvSpPr/>
          <p:nvPr/>
        </p:nvSpPr>
        <p:spPr>
          <a:xfrm>
            <a:off x="36347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14" name="Patiente"/>
          <p:cNvSpPr/>
          <p:nvPr/>
        </p:nvSpPr>
        <p:spPr>
          <a:xfrm>
            <a:off x="37490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15" name="Patiente"/>
          <p:cNvSpPr/>
          <p:nvPr/>
        </p:nvSpPr>
        <p:spPr>
          <a:xfrm>
            <a:off x="38633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16" name="Patiente"/>
          <p:cNvSpPr/>
          <p:nvPr/>
        </p:nvSpPr>
        <p:spPr>
          <a:xfrm>
            <a:off x="39776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17" name="Patiente"/>
          <p:cNvSpPr/>
          <p:nvPr/>
        </p:nvSpPr>
        <p:spPr>
          <a:xfrm>
            <a:off x="40919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18" name="Patiente"/>
          <p:cNvSpPr/>
          <p:nvPr/>
        </p:nvSpPr>
        <p:spPr>
          <a:xfrm>
            <a:off x="42062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19" name="Patiente"/>
          <p:cNvSpPr/>
          <p:nvPr/>
        </p:nvSpPr>
        <p:spPr>
          <a:xfrm>
            <a:off x="43205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0" name="Patiente"/>
          <p:cNvSpPr/>
          <p:nvPr/>
        </p:nvSpPr>
        <p:spPr>
          <a:xfrm>
            <a:off x="44348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21" name="Patiente"/>
          <p:cNvSpPr/>
          <p:nvPr/>
        </p:nvSpPr>
        <p:spPr>
          <a:xfrm>
            <a:off x="45491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2" name="Patiente"/>
          <p:cNvSpPr/>
          <p:nvPr/>
        </p:nvSpPr>
        <p:spPr>
          <a:xfrm>
            <a:off x="46634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23" name="Patiente"/>
          <p:cNvSpPr/>
          <p:nvPr/>
        </p:nvSpPr>
        <p:spPr>
          <a:xfrm>
            <a:off x="47777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4" name="Patiente"/>
          <p:cNvSpPr/>
          <p:nvPr/>
        </p:nvSpPr>
        <p:spPr>
          <a:xfrm>
            <a:off x="48920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5" name="Patiente"/>
          <p:cNvSpPr/>
          <p:nvPr/>
        </p:nvSpPr>
        <p:spPr>
          <a:xfrm>
            <a:off x="50063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26" name="Patiente"/>
          <p:cNvSpPr/>
          <p:nvPr/>
        </p:nvSpPr>
        <p:spPr>
          <a:xfrm>
            <a:off x="51206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27" name="Patiente"/>
          <p:cNvSpPr/>
          <p:nvPr/>
        </p:nvSpPr>
        <p:spPr>
          <a:xfrm>
            <a:off x="52349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8" name="Patiente"/>
          <p:cNvSpPr/>
          <p:nvPr/>
        </p:nvSpPr>
        <p:spPr>
          <a:xfrm>
            <a:off x="53492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29" name="Patiente"/>
          <p:cNvSpPr/>
          <p:nvPr/>
        </p:nvSpPr>
        <p:spPr>
          <a:xfrm>
            <a:off x="54635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30" name="Patiente"/>
          <p:cNvSpPr/>
          <p:nvPr/>
        </p:nvSpPr>
        <p:spPr>
          <a:xfrm>
            <a:off x="5577840" y="4983480"/>
            <a:ext cx="77724" cy="77724"/>
          </a:xfrm>
          <a:prstGeom prst="ellipse">
            <a:avLst/>
          </a:prstGeom>
          <a:solidFill>
            <a:srgbClr val="0E8F7E"/>
          </a:solidFill>
          <a:ln w="12700">
            <a:solidFill>
              <a:srgbClr val="0E8F7E"/>
            </a:solidFill>
            <a:prstDash val="solid"/>
          </a:ln>
        </p:spPr>
        <p:txBody>
          <a:bodyPr/>
          <a:lstStyle/>
          <a:p>
            <a:endParaRPr lang="fr-FR"/>
          </a:p>
        </p:txBody>
      </p:sp>
      <p:sp>
        <p:nvSpPr>
          <p:cNvPr id="531" name="Patiente"/>
          <p:cNvSpPr/>
          <p:nvPr/>
        </p:nvSpPr>
        <p:spPr>
          <a:xfrm>
            <a:off x="56921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32" name="Patiente"/>
          <p:cNvSpPr/>
          <p:nvPr/>
        </p:nvSpPr>
        <p:spPr>
          <a:xfrm>
            <a:off x="58064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33" name="Patiente"/>
          <p:cNvSpPr/>
          <p:nvPr/>
        </p:nvSpPr>
        <p:spPr>
          <a:xfrm>
            <a:off x="5920740" y="4983480"/>
            <a:ext cx="77724" cy="77724"/>
          </a:xfrm>
          <a:prstGeom prst="ellipse">
            <a:avLst/>
          </a:prstGeom>
          <a:solidFill>
            <a:srgbClr val="D5DAE0"/>
          </a:solidFill>
          <a:ln w="12700">
            <a:solidFill>
              <a:srgbClr val="D5DAE0"/>
            </a:solidFill>
            <a:prstDash val="solid"/>
          </a:ln>
        </p:spPr>
        <p:txBody>
          <a:bodyPr/>
          <a:lstStyle/>
          <a:p>
            <a:endParaRPr lang="fr-FR"/>
          </a:p>
        </p:txBody>
      </p:sp>
      <p:sp>
        <p:nvSpPr>
          <p:cNvPr id="534" name="Patiente"/>
          <p:cNvSpPr/>
          <p:nvPr/>
        </p:nvSpPr>
        <p:spPr>
          <a:xfrm>
            <a:off x="5486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35" name="Patiente"/>
          <p:cNvSpPr/>
          <p:nvPr/>
        </p:nvSpPr>
        <p:spPr>
          <a:xfrm>
            <a:off x="6629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36" name="Patiente"/>
          <p:cNvSpPr/>
          <p:nvPr/>
        </p:nvSpPr>
        <p:spPr>
          <a:xfrm>
            <a:off x="7772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37" name="Patiente"/>
          <p:cNvSpPr/>
          <p:nvPr/>
        </p:nvSpPr>
        <p:spPr>
          <a:xfrm>
            <a:off x="8915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38" name="Patiente"/>
          <p:cNvSpPr/>
          <p:nvPr/>
        </p:nvSpPr>
        <p:spPr>
          <a:xfrm>
            <a:off x="10058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39" name="Patiente"/>
          <p:cNvSpPr/>
          <p:nvPr/>
        </p:nvSpPr>
        <p:spPr>
          <a:xfrm>
            <a:off x="11201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0" name="Patiente"/>
          <p:cNvSpPr/>
          <p:nvPr/>
        </p:nvSpPr>
        <p:spPr>
          <a:xfrm>
            <a:off x="12344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41" name="Patiente"/>
          <p:cNvSpPr/>
          <p:nvPr/>
        </p:nvSpPr>
        <p:spPr>
          <a:xfrm>
            <a:off x="13487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2" name="Patiente"/>
          <p:cNvSpPr/>
          <p:nvPr/>
        </p:nvSpPr>
        <p:spPr>
          <a:xfrm>
            <a:off x="14630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43" name="Patiente"/>
          <p:cNvSpPr/>
          <p:nvPr/>
        </p:nvSpPr>
        <p:spPr>
          <a:xfrm>
            <a:off x="15773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44" name="Patiente"/>
          <p:cNvSpPr/>
          <p:nvPr/>
        </p:nvSpPr>
        <p:spPr>
          <a:xfrm>
            <a:off x="16916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5" name="Patiente"/>
          <p:cNvSpPr/>
          <p:nvPr/>
        </p:nvSpPr>
        <p:spPr>
          <a:xfrm>
            <a:off x="18059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6" name="Patiente"/>
          <p:cNvSpPr/>
          <p:nvPr/>
        </p:nvSpPr>
        <p:spPr>
          <a:xfrm>
            <a:off x="19202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7" name="Patiente"/>
          <p:cNvSpPr/>
          <p:nvPr/>
        </p:nvSpPr>
        <p:spPr>
          <a:xfrm>
            <a:off x="20345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8" name="Patiente"/>
          <p:cNvSpPr/>
          <p:nvPr/>
        </p:nvSpPr>
        <p:spPr>
          <a:xfrm>
            <a:off x="21488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49" name="Patiente"/>
          <p:cNvSpPr/>
          <p:nvPr/>
        </p:nvSpPr>
        <p:spPr>
          <a:xfrm>
            <a:off x="22631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0" name="Patiente"/>
          <p:cNvSpPr/>
          <p:nvPr/>
        </p:nvSpPr>
        <p:spPr>
          <a:xfrm>
            <a:off x="23774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1" name="Patiente"/>
          <p:cNvSpPr/>
          <p:nvPr/>
        </p:nvSpPr>
        <p:spPr>
          <a:xfrm>
            <a:off x="24917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52" name="Patiente"/>
          <p:cNvSpPr/>
          <p:nvPr/>
        </p:nvSpPr>
        <p:spPr>
          <a:xfrm>
            <a:off x="26060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53" name="Patiente"/>
          <p:cNvSpPr/>
          <p:nvPr/>
        </p:nvSpPr>
        <p:spPr>
          <a:xfrm>
            <a:off x="27203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4" name="Patiente"/>
          <p:cNvSpPr/>
          <p:nvPr/>
        </p:nvSpPr>
        <p:spPr>
          <a:xfrm>
            <a:off x="28346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55" name="Patiente"/>
          <p:cNvSpPr/>
          <p:nvPr/>
        </p:nvSpPr>
        <p:spPr>
          <a:xfrm>
            <a:off x="29489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6" name="Patiente"/>
          <p:cNvSpPr/>
          <p:nvPr/>
        </p:nvSpPr>
        <p:spPr>
          <a:xfrm>
            <a:off x="30632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7" name="Patiente"/>
          <p:cNvSpPr/>
          <p:nvPr/>
        </p:nvSpPr>
        <p:spPr>
          <a:xfrm>
            <a:off x="31775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8" name="Patiente"/>
          <p:cNvSpPr/>
          <p:nvPr/>
        </p:nvSpPr>
        <p:spPr>
          <a:xfrm>
            <a:off x="32918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59" name="Patiente"/>
          <p:cNvSpPr/>
          <p:nvPr/>
        </p:nvSpPr>
        <p:spPr>
          <a:xfrm>
            <a:off x="34061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0" name="Patiente"/>
          <p:cNvSpPr/>
          <p:nvPr/>
        </p:nvSpPr>
        <p:spPr>
          <a:xfrm>
            <a:off x="35204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1" name="Patiente"/>
          <p:cNvSpPr/>
          <p:nvPr/>
        </p:nvSpPr>
        <p:spPr>
          <a:xfrm>
            <a:off x="36347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62" name="Patiente"/>
          <p:cNvSpPr/>
          <p:nvPr/>
        </p:nvSpPr>
        <p:spPr>
          <a:xfrm>
            <a:off x="37490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3" name="Patiente"/>
          <p:cNvSpPr/>
          <p:nvPr/>
        </p:nvSpPr>
        <p:spPr>
          <a:xfrm>
            <a:off x="38633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64" name="Patiente"/>
          <p:cNvSpPr/>
          <p:nvPr/>
        </p:nvSpPr>
        <p:spPr>
          <a:xfrm>
            <a:off x="39776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5" name="Patiente"/>
          <p:cNvSpPr/>
          <p:nvPr/>
        </p:nvSpPr>
        <p:spPr>
          <a:xfrm>
            <a:off x="40919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66" name="Patiente"/>
          <p:cNvSpPr/>
          <p:nvPr/>
        </p:nvSpPr>
        <p:spPr>
          <a:xfrm>
            <a:off x="42062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7" name="Patiente"/>
          <p:cNvSpPr/>
          <p:nvPr/>
        </p:nvSpPr>
        <p:spPr>
          <a:xfrm>
            <a:off x="43205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8" name="Patiente"/>
          <p:cNvSpPr/>
          <p:nvPr/>
        </p:nvSpPr>
        <p:spPr>
          <a:xfrm>
            <a:off x="44348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69" name="Patiente"/>
          <p:cNvSpPr/>
          <p:nvPr/>
        </p:nvSpPr>
        <p:spPr>
          <a:xfrm>
            <a:off x="45491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70" name="Patiente"/>
          <p:cNvSpPr/>
          <p:nvPr/>
        </p:nvSpPr>
        <p:spPr>
          <a:xfrm>
            <a:off x="46634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71" name="Patiente"/>
          <p:cNvSpPr/>
          <p:nvPr/>
        </p:nvSpPr>
        <p:spPr>
          <a:xfrm>
            <a:off x="47777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72" name="Patiente"/>
          <p:cNvSpPr/>
          <p:nvPr/>
        </p:nvSpPr>
        <p:spPr>
          <a:xfrm>
            <a:off x="48920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73" name="Patiente"/>
          <p:cNvSpPr/>
          <p:nvPr/>
        </p:nvSpPr>
        <p:spPr>
          <a:xfrm>
            <a:off x="50063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74" name="Patiente"/>
          <p:cNvSpPr/>
          <p:nvPr/>
        </p:nvSpPr>
        <p:spPr>
          <a:xfrm>
            <a:off x="51206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75" name="Patiente"/>
          <p:cNvSpPr/>
          <p:nvPr/>
        </p:nvSpPr>
        <p:spPr>
          <a:xfrm>
            <a:off x="52349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76" name="Patiente"/>
          <p:cNvSpPr/>
          <p:nvPr/>
        </p:nvSpPr>
        <p:spPr>
          <a:xfrm>
            <a:off x="53492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77" name="Patiente"/>
          <p:cNvSpPr/>
          <p:nvPr/>
        </p:nvSpPr>
        <p:spPr>
          <a:xfrm>
            <a:off x="54635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78" name="Patiente"/>
          <p:cNvSpPr/>
          <p:nvPr/>
        </p:nvSpPr>
        <p:spPr>
          <a:xfrm>
            <a:off x="5577840" y="5097780"/>
            <a:ext cx="77724" cy="77724"/>
          </a:xfrm>
          <a:prstGeom prst="ellipse">
            <a:avLst/>
          </a:prstGeom>
          <a:solidFill>
            <a:srgbClr val="0E8F7E"/>
          </a:solidFill>
          <a:ln w="12700">
            <a:solidFill>
              <a:srgbClr val="0E8F7E"/>
            </a:solidFill>
            <a:prstDash val="solid"/>
          </a:ln>
        </p:spPr>
        <p:txBody>
          <a:bodyPr/>
          <a:lstStyle/>
          <a:p>
            <a:endParaRPr lang="fr-FR"/>
          </a:p>
        </p:txBody>
      </p:sp>
      <p:sp>
        <p:nvSpPr>
          <p:cNvPr id="579" name="Patiente"/>
          <p:cNvSpPr/>
          <p:nvPr/>
        </p:nvSpPr>
        <p:spPr>
          <a:xfrm>
            <a:off x="56921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80" name="Patiente"/>
          <p:cNvSpPr/>
          <p:nvPr/>
        </p:nvSpPr>
        <p:spPr>
          <a:xfrm>
            <a:off x="58064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81" name="Patiente"/>
          <p:cNvSpPr/>
          <p:nvPr/>
        </p:nvSpPr>
        <p:spPr>
          <a:xfrm>
            <a:off x="5920740" y="5097780"/>
            <a:ext cx="77724" cy="77724"/>
          </a:xfrm>
          <a:prstGeom prst="ellipse">
            <a:avLst/>
          </a:prstGeom>
          <a:solidFill>
            <a:srgbClr val="D5DAE0"/>
          </a:solidFill>
          <a:ln w="12700">
            <a:solidFill>
              <a:srgbClr val="D5DAE0"/>
            </a:solidFill>
            <a:prstDash val="solid"/>
          </a:ln>
        </p:spPr>
        <p:txBody>
          <a:bodyPr/>
          <a:lstStyle/>
          <a:p>
            <a:endParaRPr lang="fr-FR"/>
          </a:p>
        </p:txBody>
      </p:sp>
      <p:sp>
        <p:nvSpPr>
          <p:cNvPr id="582" name="Patiente"/>
          <p:cNvSpPr/>
          <p:nvPr/>
        </p:nvSpPr>
        <p:spPr>
          <a:xfrm>
            <a:off x="5486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583" name="Patiente"/>
          <p:cNvSpPr/>
          <p:nvPr/>
        </p:nvSpPr>
        <p:spPr>
          <a:xfrm>
            <a:off x="6629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84" name="Patiente"/>
          <p:cNvSpPr/>
          <p:nvPr/>
        </p:nvSpPr>
        <p:spPr>
          <a:xfrm>
            <a:off x="7772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585" name="Patiente"/>
          <p:cNvSpPr/>
          <p:nvPr/>
        </p:nvSpPr>
        <p:spPr>
          <a:xfrm>
            <a:off x="8915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86" name="Patiente"/>
          <p:cNvSpPr/>
          <p:nvPr/>
        </p:nvSpPr>
        <p:spPr>
          <a:xfrm>
            <a:off x="10058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87" name="Patiente"/>
          <p:cNvSpPr/>
          <p:nvPr/>
        </p:nvSpPr>
        <p:spPr>
          <a:xfrm>
            <a:off x="11201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88" name="Patiente"/>
          <p:cNvSpPr/>
          <p:nvPr/>
        </p:nvSpPr>
        <p:spPr>
          <a:xfrm>
            <a:off x="12344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89" name="Patiente"/>
          <p:cNvSpPr/>
          <p:nvPr/>
        </p:nvSpPr>
        <p:spPr>
          <a:xfrm>
            <a:off x="13487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0" name="Patiente"/>
          <p:cNvSpPr/>
          <p:nvPr/>
        </p:nvSpPr>
        <p:spPr>
          <a:xfrm>
            <a:off x="14630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1" name="Patiente"/>
          <p:cNvSpPr/>
          <p:nvPr/>
        </p:nvSpPr>
        <p:spPr>
          <a:xfrm>
            <a:off x="15773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2" name="Patiente"/>
          <p:cNvSpPr/>
          <p:nvPr/>
        </p:nvSpPr>
        <p:spPr>
          <a:xfrm>
            <a:off x="16916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3" name="Patiente"/>
          <p:cNvSpPr/>
          <p:nvPr/>
        </p:nvSpPr>
        <p:spPr>
          <a:xfrm>
            <a:off x="18059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4" name="Patiente"/>
          <p:cNvSpPr/>
          <p:nvPr/>
        </p:nvSpPr>
        <p:spPr>
          <a:xfrm>
            <a:off x="19202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5" name="Patiente"/>
          <p:cNvSpPr/>
          <p:nvPr/>
        </p:nvSpPr>
        <p:spPr>
          <a:xfrm>
            <a:off x="20345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596" name="Patiente"/>
          <p:cNvSpPr/>
          <p:nvPr/>
        </p:nvSpPr>
        <p:spPr>
          <a:xfrm>
            <a:off x="21488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597" name="Patiente"/>
          <p:cNvSpPr/>
          <p:nvPr/>
        </p:nvSpPr>
        <p:spPr>
          <a:xfrm>
            <a:off x="22631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598" name="Patiente"/>
          <p:cNvSpPr/>
          <p:nvPr/>
        </p:nvSpPr>
        <p:spPr>
          <a:xfrm>
            <a:off x="23774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599" name="Patiente"/>
          <p:cNvSpPr/>
          <p:nvPr/>
        </p:nvSpPr>
        <p:spPr>
          <a:xfrm>
            <a:off x="24917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0" name="Patiente"/>
          <p:cNvSpPr/>
          <p:nvPr/>
        </p:nvSpPr>
        <p:spPr>
          <a:xfrm>
            <a:off x="26060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1" name="Patiente"/>
          <p:cNvSpPr/>
          <p:nvPr/>
        </p:nvSpPr>
        <p:spPr>
          <a:xfrm>
            <a:off x="27203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02" name="Patiente"/>
          <p:cNvSpPr/>
          <p:nvPr/>
        </p:nvSpPr>
        <p:spPr>
          <a:xfrm>
            <a:off x="28346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3" name="Patiente"/>
          <p:cNvSpPr/>
          <p:nvPr/>
        </p:nvSpPr>
        <p:spPr>
          <a:xfrm>
            <a:off x="29489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4" name="Patiente"/>
          <p:cNvSpPr/>
          <p:nvPr/>
        </p:nvSpPr>
        <p:spPr>
          <a:xfrm>
            <a:off x="30632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5" name="Patiente"/>
          <p:cNvSpPr/>
          <p:nvPr/>
        </p:nvSpPr>
        <p:spPr>
          <a:xfrm>
            <a:off x="31775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06" name="Patiente"/>
          <p:cNvSpPr/>
          <p:nvPr/>
        </p:nvSpPr>
        <p:spPr>
          <a:xfrm>
            <a:off x="32918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7" name="Patiente"/>
          <p:cNvSpPr/>
          <p:nvPr/>
        </p:nvSpPr>
        <p:spPr>
          <a:xfrm>
            <a:off x="34061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08" name="Patiente"/>
          <p:cNvSpPr/>
          <p:nvPr/>
        </p:nvSpPr>
        <p:spPr>
          <a:xfrm>
            <a:off x="35204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09" name="Patiente"/>
          <p:cNvSpPr/>
          <p:nvPr/>
        </p:nvSpPr>
        <p:spPr>
          <a:xfrm>
            <a:off x="36347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0" name="Patiente"/>
          <p:cNvSpPr/>
          <p:nvPr/>
        </p:nvSpPr>
        <p:spPr>
          <a:xfrm>
            <a:off x="37490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1" name="Patiente"/>
          <p:cNvSpPr/>
          <p:nvPr/>
        </p:nvSpPr>
        <p:spPr>
          <a:xfrm>
            <a:off x="38633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2" name="Patiente"/>
          <p:cNvSpPr/>
          <p:nvPr/>
        </p:nvSpPr>
        <p:spPr>
          <a:xfrm>
            <a:off x="39776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13" name="Patiente"/>
          <p:cNvSpPr/>
          <p:nvPr/>
        </p:nvSpPr>
        <p:spPr>
          <a:xfrm>
            <a:off x="40919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14" name="Patiente"/>
          <p:cNvSpPr/>
          <p:nvPr/>
        </p:nvSpPr>
        <p:spPr>
          <a:xfrm>
            <a:off x="42062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5" name="Patiente"/>
          <p:cNvSpPr/>
          <p:nvPr/>
        </p:nvSpPr>
        <p:spPr>
          <a:xfrm>
            <a:off x="43205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6" name="Patiente"/>
          <p:cNvSpPr/>
          <p:nvPr/>
        </p:nvSpPr>
        <p:spPr>
          <a:xfrm>
            <a:off x="44348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17" name="Patiente"/>
          <p:cNvSpPr/>
          <p:nvPr/>
        </p:nvSpPr>
        <p:spPr>
          <a:xfrm>
            <a:off x="45491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8" name="Patiente"/>
          <p:cNvSpPr/>
          <p:nvPr/>
        </p:nvSpPr>
        <p:spPr>
          <a:xfrm>
            <a:off x="46634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19" name="Patiente"/>
          <p:cNvSpPr/>
          <p:nvPr/>
        </p:nvSpPr>
        <p:spPr>
          <a:xfrm>
            <a:off x="47777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0" name="Patiente"/>
          <p:cNvSpPr/>
          <p:nvPr/>
        </p:nvSpPr>
        <p:spPr>
          <a:xfrm>
            <a:off x="48920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1" name="Patiente"/>
          <p:cNvSpPr/>
          <p:nvPr/>
        </p:nvSpPr>
        <p:spPr>
          <a:xfrm>
            <a:off x="50063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2" name="Patiente"/>
          <p:cNvSpPr/>
          <p:nvPr/>
        </p:nvSpPr>
        <p:spPr>
          <a:xfrm>
            <a:off x="51206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3" name="Patiente"/>
          <p:cNvSpPr/>
          <p:nvPr/>
        </p:nvSpPr>
        <p:spPr>
          <a:xfrm>
            <a:off x="52349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4" name="Patiente"/>
          <p:cNvSpPr/>
          <p:nvPr/>
        </p:nvSpPr>
        <p:spPr>
          <a:xfrm>
            <a:off x="53492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5" name="Patiente"/>
          <p:cNvSpPr/>
          <p:nvPr/>
        </p:nvSpPr>
        <p:spPr>
          <a:xfrm>
            <a:off x="54635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26" name="Patiente"/>
          <p:cNvSpPr/>
          <p:nvPr/>
        </p:nvSpPr>
        <p:spPr>
          <a:xfrm>
            <a:off x="55778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7" name="Patiente"/>
          <p:cNvSpPr/>
          <p:nvPr/>
        </p:nvSpPr>
        <p:spPr>
          <a:xfrm>
            <a:off x="5692140" y="5212080"/>
            <a:ext cx="77724" cy="77724"/>
          </a:xfrm>
          <a:prstGeom prst="ellipse">
            <a:avLst/>
          </a:prstGeom>
          <a:solidFill>
            <a:srgbClr val="D5DAE0"/>
          </a:solidFill>
          <a:ln w="12700">
            <a:solidFill>
              <a:srgbClr val="D5DAE0"/>
            </a:solidFill>
            <a:prstDash val="solid"/>
          </a:ln>
        </p:spPr>
        <p:txBody>
          <a:bodyPr/>
          <a:lstStyle/>
          <a:p>
            <a:endParaRPr lang="fr-FR"/>
          </a:p>
        </p:txBody>
      </p:sp>
      <p:sp>
        <p:nvSpPr>
          <p:cNvPr id="628" name="Patiente"/>
          <p:cNvSpPr/>
          <p:nvPr/>
        </p:nvSpPr>
        <p:spPr>
          <a:xfrm>
            <a:off x="58064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29" name="Patiente"/>
          <p:cNvSpPr/>
          <p:nvPr/>
        </p:nvSpPr>
        <p:spPr>
          <a:xfrm>
            <a:off x="5920740" y="5212080"/>
            <a:ext cx="77724" cy="77724"/>
          </a:xfrm>
          <a:prstGeom prst="ellipse">
            <a:avLst/>
          </a:prstGeom>
          <a:solidFill>
            <a:srgbClr val="0E8F7E"/>
          </a:solidFill>
          <a:ln w="12700">
            <a:solidFill>
              <a:srgbClr val="0E8F7E"/>
            </a:solidFill>
            <a:prstDash val="solid"/>
          </a:ln>
        </p:spPr>
        <p:txBody>
          <a:bodyPr/>
          <a:lstStyle/>
          <a:p>
            <a:endParaRPr lang="fr-FR"/>
          </a:p>
        </p:txBody>
      </p:sp>
      <p:sp>
        <p:nvSpPr>
          <p:cNvPr id="630" name="Patiente"/>
          <p:cNvSpPr/>
          <p:nvPr/>
        </p:nvSpPr>
        <p:spPr>
          <a:xfrm>
            <a:off x="5486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31" name="Patiente"/>
          <p:cNvSpPr/>
          <p:nvPr/>
        </p:nvSpPr>
        <p:spPr>
          <a:xfrm>
            <a:off x="6629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32" name="Patiente"/>
          <p:cNvSpPr/>
          <p:nvPr/>
        </p:nvSpPr>
        <p:spPr>
          <a:xfrm>
            <a:off x="7772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33" name="Patiente"/>
          <p:cNvSpPr/>
          <p:nvPr/>
        </p:nvSpPr>
        <p:spPr>
          <a:xfrm>
            <a:off x="8915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34" name="Patiente"/>
          <p:cNvSpPr/>
          <p:nvPr/>
        </p:nvSpPr>
        <p:spPr>
          <a:xfrm>
            <a:off x="10058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35" name="Patiente"/>
          <p:cNvSpPr/>
          <p:nvPr/>
        </p:nvSpPr>
        <p:spPr>
          <a:xfrm>
            <a:off x="11201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36" name="Patiente"/>
          <p:cNvSpPr/>
          <p:nvPr/>
        </p:nvSpPr>
        <p:spPr>
          <a:xfrm>
            <a:off x="12344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37" name="Patiente"/>
          <p:cNvSpPr/>
          <p:nvPr/>
        </p:nvSpPr>
        <p:spPr>
          <a:xfrm>
            <a:off x="13487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38" name="Patiente"/>
          <p:cNvSpPr/>
          <p:nvPr/>
        </p:nvSpPr>
        <p:spPr>
          <a:xfrm>
            <a:off x="14630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39" name="Patiente"/>
          <p:cNvSpPr/>
          <p:nvPr/>
        </p:nvSpPr>
        <p:spPr>
          <a:xfrm>
            <a:off x="15773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0" name="Patiente"/>
          <p:cNvSpPr/>
          <p:nvPr/>
        </p:nvSpPr>
        <p:spPr>
          <a:xfrm>
            <a:off x="16916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41" name="Patiente"/>
          <p:cNvSpPr/>
          <p:nvPr/>
        </p:nvSpPr>
        <p:spPr>
          <a:xfrm>
            <a:off x="18059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42" name="Patiente"/>
          <p:cNvSpPr/>
          <p:nvPr/>
        </p:nvSpPr>
        <p:spPr>
          <a:xfrm>
            <a:off x="19202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3" name="Patiente"/>
          <p:cNvSpPr/>
          <p:nvPr/>
        </p:nvSpPr>
        <p:spPr>
          <a:xfrm>
            <a:off x="20345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4" name="Patiente"/>
          <p:cNvSpPr/>
          <p:nvPr/>
        </p:nvSpPr>
        <p:spPr>
          <a:xfrm>
            <a:off x="21488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5" name="Patiente"/>
          <p:cNvSpPr/>
          <p:nvPr/>
        </p:nvSpPr>
        <p:spPr>
          <a:xfrm>
            <a:off x="22631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46" name="Patiente"/>
          <p:cNvSpPr/>
          <p:nvPr/>
        </p:nvSpPr>
        <p:spPr>
          <a:xfrm>
            <a:off x="23774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7" name="Patiente"/>
          <p:cNvSpPr/>
          <p:nvPr/>
        </p:nvSpPr>
        <p:spPr>
          <a:xfrm>
            <a:off x="24917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8" name="Patiente"/>
          <p:cNvSpPr/>
          <p:nvPr/>
        </p:nvSpPr>
        <p:spPr>
          <a:xfrm>
            <a:off x="26060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49" name="Patiente"/>
          <p:cNvSpPr/>
          <p:nvPr/>
        </p:nvSpPr>
        <p:spPr>
          <a:xfrm>
            <a:off x="27203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50" name="Patiente"/>
          <p:cNvSpPr/>
          <p:nvPr/>
        </p:nvSpPr>
        <p:spPr>
          <a:xfrm>
            <a:off x="28346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1" name="Patiente"/>
          <p:cNvSpPr/>
          <p:nvPr/>
        </p:nvSpPr>
        <p:spPr>
          <a:xfrm>
            <a:off x="29489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2" name="Patiente"/>
          <p:cNvSpPr/>
          <p:nvPr/>
        </p:nvSpPr>
        <p:spPr>
          <a:xfrm>
            <a:off x="30632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3" name="Patiente"/>
          <p:cNvSpPr/>
          <p:nvPr/>
        </p:nvSpPr>
        <p:spPr>
          <a:xfrm>
            <a:off x="31775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4" name="Patiente"/>
          <p:cNvSpPr/>
          <p:nvPr/>
        </p:nvSpPr>
        <p:spPr>
          <a:xfrm>
            <a:off x="32918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5" name="Patiente"/>
          <p:cNvSpPr/>
          <p:nvPr/>
        </p:nvSpPr>
        <p:spPr>
          <a:xfrm>
            <a:off x="34061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6" name="Patiente"/>
          <p:cNvSpPr/>
          <p:nvPr/>
        </p:nvSpPr>
        <p:spPr>
          <a:xfrm>
            <a:off x="35204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7" name="Patiente"/>
          <p:cNvSpPr/>
          <p:nvPr/>
        </p:nvSpPr>
        <p:spPr>
          <a:xfrm>
            <a:off x="36347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8" name="Patiente"/>
          <p:cNvSpPr/>
          <p:nvPr/>
        </p:nvSpPr>
        <p:spPr>
          <a:xfrm>
            <a:off x="37490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59" name="Patiente"/>
          <p:cNvSpPr/>
          <p:nvPr/>
        </p:nvSpPr>
        <p:spPr>
          <a:xfrm>
            <a:off x="38633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60" name="Patiente"/>
          <p:cNvSpPr/>
          <p:nvPr/>
        </p:nvSpPr>
        <p:spPr>
          <a:xfrm>
            <a:off x="39776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61" name="Patiente"/>
          <p:cNvSpPr/>
          <p:nvPr/>
        </p:nvSpPr>
        <p:spPr>
          <a:xfrm>
            <a:off x="40919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62" name="Patiente"/>
          <p:cNvSpPr/>
          <p:nvPr/>
        </p:nvSpPr>
        <p:spPr>
          <a:xfrm>
            <a:off x="42062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63" name="Patiente"/>
          <p:cNvSpPr/>
          <p:nvPr/>
        </p:nvSpPr>
        <p:spPr>
          <a:xfrm>
            <a:off x="43205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64" name="Patiente"/>
          <p:cNvSpPr/>
          <p:nvPr/>
        </p:nvSpPr>
        <p:spPr>
          <a:xfrm>
            <a:off x="44348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65" name="Patiente"/>
          <p:cNvSpPr/>
          <p:nvPr/>
        </p:nvSpPr>
        <p:spPr>
          <a:xfrm>
            <a:off x="45491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66" name="Patiente"/>
          <p:cNvSpPr/>
          <p:nvPr/>
        </p:nvSpPr>
        <p:spPr>
          <a:xfrm>
            <a:off x="46634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67" name="Patiente"/>
          <p:cNvSpPr/>
          <p:nvPr/>
        </p:nvSpPr>
        <p:spPr>
          <a:xfrm>
            <a:off x="47777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68" name="Patiente"/>
          <p:cNvSpPr/>
          <p:nvPr/>
        </p:nvSpPr>
        <p:spPr>
          <a:xfrm>
            <a:off x="48920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69" name="Patiente"/>
          <p:cNvSpPr/>
          <p:nvPr/>
        </p:nvSpPr>
        <p:spPr>
          <a:xfrm>
            <a:off x="50063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0" name="Patiente"/>
          <p:cNvSpPr/>
          <p:nvPr/>
        </p:nvSpPr>
        <p:spPr>
          <a:xfrm>
            <a:off x="51206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1" name="Patiente"/>
          <p:cNvSpPr/>
          <p:nvPr/>
        </p:nvSpPr>
        <p:spPr>
          <a:xfrm>
            <a:off x="52349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2" name="Patiente"/>
          <p:cNvSpPr/>
          <p:nvPr/>
        </p:nvSpPr>
        <p:spPr>
          <a:xfrm>
            <a:off x="53492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3" name="Patiente"/>
          <p:cNvSpPr/>
          <p:nvPr/>
        </p:nvSpPr>
        <p:spPr>
          <a:xfrm>
            <a:off x="54635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4" name="Patiente"/>
          <p:cNvSpPr/>
          <p:nvPr/>
        </p:nvSpPr>
        <p:spPr>
          <a:xfrm>
            <a:off x="55778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5" name="Patiente"/>
          <p:cNvSpPr/>
          <p:nvPr/>
        </p:nvSpPr>
        <p:spPr>
          <a:xfrm>
            <a:off x="56921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6" name="Patiente"/>
          <p:cNvSpPr/>
          <p:nvPr/>
        </p:nvSpPr>
        <p:spPr>
          <a:xfrm>
            <a:off x="5806440" y="5326380"/>
            <a:ext cx="77724" cy="77724"/>
          </a:xfrm>
          <a:prstGeom prst="ellipse">
            <a:avLst/>
          </a:prstGeom>
          <a:solidFill>
            <a:srgbClr val="0E8F7E"/>
          </a:solidFill>
          <a:ln w="12700">
            <a:solidFill>
              <a:srgbClr val="0E8F7E"/>
            </a:solidFill>
            <a:prstDash val="solid"/>
          </a:ln>
        </p:spPr>
        <p:txBody>
          <a:bodyPr/>
          <a:lstStyle/>
          <a:p>
            <a:endParaRPr lang="fr-FR"/>
          </a:p>
        </p:txBody>
      </p:sp>
      <p:sp>
        <p:nvSpPr>
          <p:cNvPr id="677" name="Patiente"/>
          <p:cNvSpPr/>
          <p:nvPr/>
        </p:nvSpPr>
        <p:spPr>
          <a:xfrm>
            <a:off x="5920740" y="5326380"/>
            <a:ext cx="77724" cy="77724"/>
          </a:xfrm>
          <a:prstGeom prst="ellipse">
            <a:avLst/>
          </a:prstGeom>
          <a:solidFill>
            <a:srgbClr val="D5DAE0"/>
          </a:solidFill>
          <a:ln w="12700">
            <a:solidFill>
              <a:srgbClr val="D5DAE0"/>
            </a:solidFill>
            <a:prstDash val="solid"/>
          </a:ln>
        </p:spPr>
        <p:txBody>
          <a:bodyPr/>
          <a:lstStyle/>
          <a:p>
            <a:endParaRPr lang="fr-FR"/>
          </a:p>
        </p:txBody>
      </p:sp>
      <p:sp>
        <p:nvSpPr>
          <p:cNvPr id="678" name="Patiente"/>
          <p:cNvSpPr/>
          <p:nvPr/>
        </p:nvSpPr>
        <p:spPr>
          <a:xfrm>
            <a:off x="5486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79" name="Patiente"/>
          <p:cNvSpPr/>
          <p:nvPr/>
        </p:nvSpPr>
        <p:spPr>
          <a:xfrm>
            <a:off x="6629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80" name="Patiente"/>
          <p:cNvSpPr/>
          <p:nvPr/>
        </p:nvSpPr>
        <p:spPr>
          <a:xfrm>
            <a:off x="7772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681" name="Patiente"/>
          <p:cNvSpPr/>
          <p:nvPr/>
        </p:nvSpPr>
        <p:spPr>
          <a:xfrm>
            <a:off x="8915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682" name="Patiente"/>
          <p:cNvSpPr/>
          <p:nvPr/>
        </p:nvSpPr>
        <p:spPr>
          <a:xfrm>
            <a:off x="10058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683" name="Patiente"/>
          <p:cNvSpPr/>
          <p:nvPr/>
        </p:nvSpPr>
        <p:spPr>
          <a:xfrm>
            <a:off x="11201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684" name="Patiente"/>
          <p:cNvSpPr/>
          <p:nvPr/>
        </p:nvSpPr>
        <p:spPr>
          <a:xfrm>
            <a:off x="12344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85" name="Patiente"/>
          <p:cNvSpPr/>
          <p:nvPr/>
        </p:nvSpPr>
        <p:spPr>
          <a:xfrm>
            <a:off x="13487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86" name="Patiente"/>
          <p:cNvSpPr/>
          <p:nvPr/>
        </p:nvSpPr>
        <p:spPr>
          <a:xfrm>
            <a:off x="14630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87" name="Patiente"/>
          <p:cNvSpPr/>
          <p:nvPr/>
        </p:nvSpPr>
        <p:spPr>
          <a:xfrm>
            <a:off x="15773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88" name="Patiente"/>
          <p:cNvSpPr/>
          <p:nvPr/>
        </p:nvSpPr>
        <p:spPr>
          <a:xfrm>
            <a:off x="16916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89" name="Patiente"/>
          <p:cNvSpPr/>
          <p:nvPr/>
        </p:nvSpPr>
        <p:spPr>
          <a:xfrm>
            <a:off x="18059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0" name="Patiente"/>
          <p:cNvSpPr/>
          <p:nvPr/>
        </p:nvSpPr>
        <p:spPr>
          <a:xfrm>
            <a:off x="19202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1" name="Patiente"/>
          <p:cNvSpPr/>
          <p:nvPr/>
        </p:nvSpPr>
        <p:spPr>
          <a:xfrm>
            <a:off x="20345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2" name="Patiente"/>
          <p:cNvSpPr/>
          <p:nvPr/>
        </p:nvSpPr>
        <p:spPr>
          <a:xfrm>
            <a:off x="21488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3" name="Patiente"/>
          <p:cNvSpPr/>
          <p:nvPr/>
        </p:nvSpPr>
        <p:spPr>
          <a:xfrm>
            <a:off x="22631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4" name="Patiente"/>
          <p:cNvSpPr/>
          <p:nvPr/>
        </p:nvSpPr>
        <p:spPr>
          <a:xfrm>
            <a:off x="23774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695" name="Patiente"/>
          <p:cNvSpPr/>
          <p:nvPr/>
        </p:nvSpPr>
        <p:spPr>
          <a:xfrm>
            <a:off x="24917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6" name="Patiente"/>
          <p:cNvSpPr/>
          <p:nvPr/>
        </p:nvSpPr>
        <p:spPr>
          <a:xfrm>
            <a:off x="26060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697" name="Patiente"/>
          <p:cNvSpPr/>
          <p:nvPr/>
        </p:nvSpPr>
        <p:spPr>
          <a:xfrm>
            <a:off x="27203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8" name="Patiente"/>
          <p:cNvSpPr/>
          <p:nvPr/>
        </p:nvSpPr>
        <p:spPr>
          <a:xfrm>
            <a:off x="28346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699" name="Patiente"/>
          <p:cNvSpPr/>
          <p:nvPr/>
        </p:nvSpPr>
        <p:spPr>
          <a:xfrm>
            <a:off x="29489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0" name="Patiente"/>
          <p:cNvSpPr/>
          <p:nvPr/>
        </p:nvSpPr>
        <p:spPr>
          <a:xfrm>
            <a:off x="30632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1" name="Patiente"/>
          <p:cNvSpPr/>
          <p:nvPr/>
        </p:nvSpPr>
        <p:spPr>
          <a:xfrm>
            <a:off x="31775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2" name="Patiente"/>
          <p:cNvSpPr/>
          <p:nvPr/>
        </p:nvSpPr>
        <p:spPr>
          <a:xfrm>
            <a:off x="32918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3" name="Patiente"/>
          <p:cNvSpPr/>
          <p:nvPr/>
        </p:nvSpPr>
        <p:spPr>
          <a:xfrm>
            <a:off x="34061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4" name="Patiente"/>
          <p:cNvSpPr/>
          <p:nvPr/>
        </p:nvSpPr>
        <p:spPr>
          <a:xfrm>
            <a:off x="35204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5" name="Patiente"/>
          <p:cNvSpPr/>
          <p:nvPr/>
        </p:nvSpPr>
        <p:spPr>
          <a:xfrm>
            <a:off x="36347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6" name="Patiente"/>
          <p:cNvSpPr/>
          <p:nvPr/>
        </p:nvSpPr>
        <p:spPr>
          <a:xfrm>
            <a:off x="37490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7" name="Patiente"/>
          <p:cNvSpPr/>
          <p:nvPr/>
        </p:nvSpPr>
        <p:spPr>
          <a:xfrm>
            <a:off x="38633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08" name="Patiente"/>
          <p:cNvSpPr/>
          <p:nvPr/>
        </p:nvSpPr>
        <p:spPr>
          <a:xfrm>
            <a:off x="39776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09" name="Patiente"/>
          <p:cNvSpPr/>
          <p:nvPr/>
        </p:nvSpPr>
        <p:spPr>
          <a:xfrm>
            <a:off x="40919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10" name="Patiente"/>
          <p:cNvSpPr/>
          <p:nvPr/>
        </p:nvSpPr>
        <p:spPr>
          <a:xfrm>
            <a:off x="42062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11" name="Patiente"/>
          <p:cNvSpPr/>
          <p:nvPr/>
        </p:nvSpPr>
        <p:spPr>
          <a:xfrm>
            <a:off x="43205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12" name="Patiente"/>
          <p:cNvSpPr/>
          <p:nvPr/>
        </p:nvSpPr>
        <p:spPr>
          <a:xfrm>
            <a:off x="44348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13" name="Patiente"/>
          <p:cNvSpPr/>
          <p:nvPr/>
        </p:nvSpPr>
        <p:spPr>
          <a:xfrm>
            <a:off x="45491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14" name="Patiente"/>
          <p:cNvSpPr/>
          <p:nvPr/>
        </p:nvSpPr>
        <p:spPr>
          <a:xfrm>
            <a:off x="46634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15" name="Patiente"/>
          <p:cNvSpPr/>
          <p:nvPr/>
        </p:nvSpPr>
        <p:spPr>
          <a:xfrm>
            <a:off x="47777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16" name="Patiente"/>
          <p:cNvSpPr/>
          <p:nvPr/>
        </p:nvSpPr>
        <p:spPr>
          <a:xfrm>
            <a:off x="48920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17" name="Patiente"/>
          <p:cNvSpPr/>
          <p:nvPr/>
        </p:nvSpPr>
        <p:spPr>
          <a:xfrm>
            <a:off x="50063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18" name="Patiente"/>
          <p:cNvSpPr/>
          <p:nvPr/>
        </p:nvSpPr>
        <p:spPr>
          <a:xfrm>
            <a:off x="51206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19" name="Patiente"/>
          <p:cNvSpPr/>
          <p:nvPr/>
        </p:nvSpPr>
        <p:spPr>
          <a:xfrm>
            <a:off x="52349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20" name="Patiente"/>
          <p:cNvSpPr/>
          <p:nvPr/>
        </p:nvSpPr>
        <p:spPr>
          <a:xfrm>
            <a:off x="53492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21" name="Patiente"/>
          <p:cNvSpPr/>
          <p:nvPr/>
        </p:nvSpPr>
        <p:spPr>
          <a:xfrm>
            <a:off x="54635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22" name="Patiente"/>
          <p:cNvSpPr/>
          <p:nvPr/>
        </p:nvSpPr>
        <p:spPr>
          <a:xfrm>
            <a:off x="55778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23" name="Patiente"/>
          <p:cNvSpPr/>
          <p:nvPr/>
        </p:nvSpPr>
        <p:spPr>
          <a:xfrm>
            <a:off x="5692140" y="5440680"/>
            <a:ext cx="77724" cy="77724"/>
          </a:xfrm>
          <a:prstGeom prst="ellipse">
            <a:avLst/>
          </a:prstGeom>
          <a:solidFill>
            <a:srgbClr val="0E8F7E"/>
          </a:solidFill>
          <a:ln w="12700">
            <a:solidFill>
              <a:srgbClr val="0E8F7E"/>
            </a:solidFill>
            <a:prstDash val="solid"/>
          </a:ln>
        </p:spPr>
        <p:txBody>
          <a:bodyPr/>
          <a:lstStyle/>
          <a:p>
            <a:endParaRPr lang="fr-FR"/>
          </a:p>
        </p:txBody>
      </p:sp>
      <p:sp>
        <p:nvSpPr>
          <p:cNvPr id="724" name="Patiente"/>
          <p:cNvSpPr/>
          <p:nvPr/>
        </p:nvSpPr>
        <p:spPr>
          <a:xfrm>
            <a:off x="58064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25" name="Patiente"/>
          <p:cNvSpPr/>
          <p:nvPr/>
        </p:nvSpPr>
        <p:spPr>
          <a:xfrm>
            <a:off x="5920740" y="5440680"/>
            <a:ext cx="77724" cy="77724"/>
          </a:xfrm>
          <a:prstGeom prst="ellipse">
            <a:avLst/>
          </a:prstGeom>
          <a:solidFill>
            <a:srgbClr val="D5DAE0"/>
          </a:solidFill>
          <a:ln w="12700">
            <a:solidFill>
              <a:srgbClr val="D5DAE0"/>
            </a:solidFill>
            <a:prstDash val="solid"/>
          </a:ln>
        </p:spPr>
        <p:txBody>
          <a:bodyPr/>
          <a:lstStyle/>
          <a:p>
            <a:endParaRPr lang="fr-FR"/>
          </a:p>
        </p:txBody>
      </p:sp>
      <p:sp>
        <p:nvSpPr>
          <p:cNvPr id="726" name="Patiente"/>
          <p:cNvSpPr/>
          <p:nvPr/>
        </p:nvSpPr>
        <p:spPr>
          <a:xfrm>
            <a:off x="5486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27" name="Patiente"/>
          <p:cNvSpPr/>
          <p:nvPr/>
        </p:nvSpPr>
        <p:spPr>
          <a:xfrm>
            <a:off x="6629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28" name="Patiente"/>
          <p:cNvSpPr/>
          <p:nvPr/>
        </p:nvSpPr>
        <p:spPr>
          <a:xfrm>
            <a:off x="7772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29" name="Patiente"/>
          <p:cNvSpPr/>
          <p:nvPr/>
        </p:nvSpPr>
        <p:spPr>
          <a:xfrm>
            <a:off x="8915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30" name="Patiente"/>
          <p:cNvSpPr/>
          <p:nvPr/>
        </p:nvSpPr>
        <p:spPr>
          <a:xfrm>
            <a:off x="10058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31" name="Patiente"/>
          <p:cNvSpPr/>
          <p:nvPr/>
        </p:nvSpPr>
        <p:spPr>
          <a:xfrm>
            <a:off x="11201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32" name="Patiente"/>
          <p:cNvSpPr/>
          <p:nvPr/>
        </p:nvSpPr>
        <p:spPr>
          <a:xfrm>
            <a:off x="12344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33" name="Patiente"/>
          <p:cNvSpPr/>
          <p:nvPr/>
        </p:nvSpPr>
        <p:spPr>
          <a:xfrm>
            <a:off x="13487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34" name="Patiente"/>
          <p:cNvSpPr/>
          <p:nvPr/>
        </p:nvSpPr>
        <p:spPr>
          <a:xfrm>
            <a:off x="14630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35" name="Patiente"/>
          <p:cNvSpPr/>
          <p:nvPr/>
        </p:nvSpPr>
        <p:spPr>
          <a:xfrm>
            <a:off x="15773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36" name="Patiente"/>
          <p:cNvSpPr/>
          <p:nvPr/>
        </p:nvSpPr>
        <p:spPr>
          <a:xfrm>
            <a:off x="16916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37" name="Patiente"/>
          <p:cNvSpPr/>
          <p:nvPr/>
        </p:nvSpPr>
        <p:spPr>
          <a:xfrm>
            <a:off x="18059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38" name="Patiente"/>
          <p:cNvSpPr/>
          <p:nvPr/>
        </p:nvSpPr>
        <p:spPr>
          <a:xfrm>
            <a:off x="19202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39" name="Patiente"/>
          <p:cNvSpPr/>
          <p:nvPr/>
        </p:nvSpPr>
        <p:spPr>
          <a:xfrm>
            <a:off x="20345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0" name="Patiente"/>
          <p:cNvSpPr/>
          <p:nvPr/>
        </p:nvSpPr>
        <p:spPr>
          <a:xfrm>
            <a:off x="21488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1" name="Patiente"/>
          <p:cNvSpPr/>
          <p:nvPr/>
        </p:nvSpPr>
        <p:spPr>
          <a:xfrm>
            <a:off x="22631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2" name="Patiente"/>
          <p:cNvSpPr/>
          <p:nvPr/>
        </p:nvSpPr>
        <p:spPr>
          <a:xfrm>
            <a:off x="23774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3" name="Patiente"/>
          <p:cNvSpPr/>
          <p:nvPr/>
        </p:nvSpPr>
        <p:spPr>
          <a:xfrm>
            <a:off x="24917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4" name="Patiente"/>
          <p:cNvSpPr/>
          <p:nvPr/>
        </p:nvSpPr>
        <p:spPr>
          <a:xfrm>
            <a:off x="26060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5" name="Patiente"/>
          <p:cNvSpPr/>
          <p:nvPr/>
        </p:nvSpPr>
        <p:spPr>
          <a:xfrm>
            <a:off x="27203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46" name="Patiente"/>
          <p:cNvSpPr/>
          <p:nvPr/>
        </p:nvSpPr>
        <p:spPr>
          <a:xfrm>
            <a:off x="28346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7" name="Patiente"/>
          <p:cNvSpPr/>
          <p:nvPr/>
        </p:nvSpPr>
        <p:spPr>
          <a:xfrm>
            <a:off x="29489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48" name="Patiente"/>
          <p:cNvSpPr/>
          <p:nvPr/>
        </p:nvSpPr>
        <p:spPr>
          <a:xfrm>
            <a:off x="30632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49" name="Patiente"/>
          <p:cNvSpPr/>
          <p:nvPr/>
        </p:nvSpPr>
        <p:spPr>
          <a:xfrm>
            <a:off x="31775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50" name="Patiente"/>
          <p:cNvSpPr/>
          <p:nvPr/>
        </p:nvSpPr>
        <p:spPr>
          <a:xfrm>
            <a:off x="32918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51" name="Patiente"/>
          <p:cNvSpPr/>
          <p:nvPr/>
        </p:nvSpPr>
        <p:spPr>
          <a:xfrm>
            <a:off x="34061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52" name="Patiente"/>
          <p:cNvSpPr/>
          <p:nvPr/>
        </p:nvSpPr>
        <p:spPr>
          <a:xfrm>
            <a:off x="35204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53" name="Patiente"/>
          <p:cNvSpPr/>
          <p:nvPr/>
        </p:nvSpPr>
        <p:spPr>
          <a:xfrm>
            <a:off x="36347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54" name="Patiente"/>
          <p:cNvSpPr/>
          <p:nvPr/>
        </p:nvSpPr>
        <p:spPr>
          <a:xfrm>
            <a:off x="37490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55" name="Patiente"/>
          <p:cNvSpPr/>
          <p:nvPr/>
        </p:nvSpPr>
        <p:spPr>
          <a:xfrm>
            <a:off x="38633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56" name="Patiente"/>
          <p:cNvSpPr/>
          <p:nvPr/>
        </p:nvSpPr>
        <p:spPr>
          <a:xfrm>
            <a:off x="39776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57" name="Patiente"/>
          <p:cNvSpPr/>
          <p:nvPr/>
        </p:nvSpPr>
        <p:spPr>
          <a:xfrm>
            <a:off x="40919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58" name="Patiente"/>
          <p:cNvSpPr/>
          <p:nvPr/>
        </p:nvSpPr>
        <p:spPr>
          <a:xfrm>
            <a:off x="42062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59" name="Patiente"/>
          <p:cNvSpPr/>
          <p:nvPr/>
        </p:nvSpPr>
        <p:spPr>
          <a:xfrm>
            <a:off x="43205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60" name="Patiente"/>
          <p:cNvSpPr/>
          <p:nvPr/>
        </p:nvSpPr>
        <p:spPr>
          <a:xfrm>
            <a:off x="44348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61" name="Patiente"/>
          <p:cNvSpPr/>
          <p:nvPr/>
        </p:nvSpPr>
        <p:spPr>
          <a:xfrm>
            <a:off x="45491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62" name="Patiente"/>
          <p:cNvSpPr/>
          <p:nvPr/>
        </p:nvSpPr>
        <p:spPr>
          <a:xfrm>
            <a:off x="46634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63" name="Patiente"/>
          <p:cNvSpPr/>
          <p:nvPr/>
        </p:nvSpPr>
        <p:spPr>
          <a:xfrm>
            <a:off x="47777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64" name="Patiente"/>
          <p:cNvSpPr/>
          <p:nvPr/>
        </p:nvSpPr>
        <p:spPr>
          <a:xfrm>
            <a:off x="48920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65" name="Patiente"/>
          <p:cNvSpPr/>
          <p:nvPr/>
        </p:nvSpPr>
        <p:spPr>
          <a:xfrm>
            <a:off x="50063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66" name="Patiente"/>
          <p:cNvSpPr/>
          <p:nvPr/>
        </p:nvSpPr>
        <p:spPr>
          <a:xfrm>
            <a:off x="51206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67" name="Patiente"/>
          <p:cNvSpPr/>
          <p:nvPr/>
        </p:nvSpPr>
        <p:spPr>
          <a:xfrm>
            <a:off x="52349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68" name="Patiente"/>
          <p:cNvSpPr/>
          <p:nvPr/>
        </p:nvSpPr>
        <p:spPr>
          <a:xfrm>
            <a:off x="53492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69" name="Patiente"/>
          <p:cNvSpPr/>
          <p:nvPr/>
        </p:nvSpPr>
        <p:spPr>
          <a:xfrm>
            <a:off x="54635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70" name="Patiente"/>
          <p:cNvSpPr/>
          <p:nvPr/>
        </p:nvSpPr>
        <p:spPr>
          <a:xfrm>
            <a:off x="55778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71" name="Patiente"/>
          <p:cNvSpPr/>
          <p:nvPr/>
        </p:nvSpPr>
        <p:spPr>
          <a:xfrm>
            <a:off x="5692140" y="5554980"/>
            <a:ext cx="77724" cy="77724"/>
          </a:xfrm>
          <a:prstGeom prst="ellipse">
            <a:avLst/>
          </a:prstGeom>
          <a:solidFill>
            <a:srgbClr val="D5DAE0"/>
          </a:solidFill>
          <a:ln w="12700">
            <a:solidFill>
              <a:srgbClr val="D5DAE0"/>
            </a:solidFill>
            <a:prstDash val="solid"/>
          </a:ln>
        </p:spPr>
        <p:txBody>
          <a:bodyPr/>
          <a:lstStyle/>
          <a:p>
            <a:endParaRPr lang="fr-FR"/>
          </a:p>
        </p:txBody>
      </p:sp>
      <p:sp>
        <p:nvSpPr>
          <p:cNvPr id="772" name="Patiente"/>
          <p:cNvSpPr/>
          <p:nvPr/>
        </p:nvSpPr>
        <p:spPr>
          <a:xfrm>
            <a:off x="58064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73" name="Patiente"/>
          <p:cNvSpPr/>
          <p:nvPr/>
        </p:nvSpPr>
        <p:spPr>
          <a:xfrm>
            <a:off x="5920740" y="5554980"/>
            <a:ext cx="77724" cy="77724"/>
          </a:xfrm>
          <a:prstGeom prst="ellipse">
            <a:avLst/>
          </a:prstGeom>
          <a:solidFill>
            <a:srgbClr val="0E8F7E"/>
          </a:solidFill>
          <a:ln w="12700">
            <a:solidFill>
              <a:srgbClr val="0E8F7E"/>
            </a:solidFill>
            <a:prstDash val="solid"/>
          </a:ln>
        </p:spPr>
        <p:txBody>
          <a:bodyPr/>
          <a:lstStyle/>
          <a:p>
            <a:endParaRPr lang="fr-FR"/>
          </a:p>
        </p:txBody>
      </p:sp>
      <p:sp>
        <p:nvSpPr>
          <p:cNvPr id="774" name="Légende"/>
          <p:cNvSpPr txBox="1"/>
          <p:nvPr/>
        </p:nvSpPr>
        <p:spPr>
          <a:xfrm>
            <a:off x="548640" y="5760720"/>
            <a:ext cx="5577840" cy="274320"/>
          </a:xfrm>
          <a:prstGeom prst="rect">
            <a:avLst/>
          </a:prstGeom>
          <a:noFill/>
          <a:ln/>
        </p:spPr>
        <p:txBody>
          <a:bodyPr wrap="square" lIns="0" tIns="0" rIns="0" bIns="0" rtlCol="0" anchor="t"/>
          <a:lstStyle/>
          <a:p>
            <a:pPr marL="0" indent="0">
              <a:buNone/>
            </a:pPr>
            <a:r>
              <a:rPr lang="en-US" sz="1200" dirty="0">
                <a:solidFill>
                  <a:schemeClr val="tx2"/>
                </a:solidFill>
              </a:rPr>
              <a:t>1 point = 1 patiente  ·  en vert, les diabétiques (35 %)</a:t>
            </a:r>
            <a:endParaRPr lang="en-US" sz="1200" dirty="0"/>
          </a:p>
        </p:txBody>
      </p:sp>
      <p:sp>
        <p:nvSpPr>
          <p:cNvPr id="775" name="Carte"/>
          <p:cNvSpPr/>
          <p:nvPr/>
        </p:nvSpPr>
        <p:spPr>
          <a:xfrm>
            <a:off x="6583680" y="1828800"/>
            <a:ext cx="2423160" cy="1783080"/>
          </a:xfrm>
          <a:prstGeom prst="roundRect">
            <a:avLst>
              <a:gd name="adj" fmla="val 4103"/>
            </a:avLst>
          </a:prstGeom>
          <a:solidFill>
            <a:schemeClr val="bg2"/>
          </a:solidFill>
          <a:ln w="12700">
            <a:solidFill>
              <a:schemeClr val="bg2"/>
            </a:solidFill>
            <a:prstDash val="solid"/>
          </a:ln>
        </p:spPr>
        <p:txBody>
          <a:bodyPr/>
          <a:lstStyle/>
          <a:p>
            <a:endParaRPr lang="fr-FR"/>
          </a:p>
        </p:txBody>
      </p:sp>
      <p:sp>
        <p:nvSpPr>
          <p:cNvPr id="776" name="Chiffre clé"/>
          <p:cNvSpPr txBox="1"/>
          <p:nvPr/>
        </p:nvSpPr>
        <p:spPr>
          <a:xfrm>
            <a:off x="6812280" y="2011680"/>
            <a:ext cx="2011680" cy="731520"/>
          </a:xfrm>
          <a:prstGeom prst="rect">
            <a:avLst/>
          </a:prstGeom>
          <a:noFill/>
          <a:ln/>
        </p:spPr>
        <p:txBody>
          <a:bodyPr wrap="square" lIns="0" tIns="0" rIns="0" bIns="0" rtlCol="0" anchor="ctr"/>
          <a:lstStyle/>
          <a:p>
            <a:pPr marL="0" indent="0">
              <a:buNone/>
            </a:pPr>
            <a:r>
              <a:rPr lang="en-US" sz="4000" b="1" dirty="0">
                <a:solidFill>
                  <a:schemeClr val="tx1"/>
                </a:solidFill>
              </a:rPr>
              <a:t>768</a:t>
            </a:r>
            <a:endParaRPr lang="en-US" sz="4000" dirty="0"/>
          </a:p>
        </p:txBody>
      </p:sp>
      <p:sp>
        <p:nvSpPr>
          <p:cNvPr id="777" name="Libellé"/>
          <p:cNvSpPr txBox="1"/>
          <p:nvPr/>
        </p:nvSpPr>
        <p:spPr>
          <a:xfrm>
            <a:off x="6812280" y="2788920"/>
            <a:ext cx="2011680" cy="685800"/>
          </a:xfrm>
          <a:prstGeom prst="rect">
            <a:avLst/>
          </a:prstGeom>
          <a:noFill/>
          <a:ln/>
        </p:spPr>
        <p:txBody>
          <a:bodyPr wrap="square" lIns="0" tIns="0" rIns="0" bIns="0" rtlCol="0" anchor="t"/>
          <a:lstStyle/>
          <a:p>
            <a:pPr marL="0" indent="0">
              <a:buNone/>
            </a:pPr>
            <a:r>
              <a:rPr lang="en-US" sz="1400" dirty="0">
                <a:solidFill>
                  <a:schemeClr val="tx2"/>
                </a:solidFill>
              </a:rPr>
              <a:t>patientes</a:t>
            </a:r>
            <a:endParaRPr lang="en-US" sz="1400" dirty="0"/>
          </a:p>
        </p:txBody>
      </p:sp>
      <p:sp>
        <p:nvSpPr>
          <p:cNvPr id="778" name="Carte"/>
          <p:cNvSpPr/>
          <p:nvPr/>
        </p:nvSpPr>
        <p:spPr>
          <a:xfrm>
            <a:off x="9281160" y="1828800"/>
            <a:ext cx="2423160" cy="1783080"/>
          </a:xfrm>
          <a:prstGeom prst="roundRect">
            <a:avLst>
              <a:gd name="adj" fmla="val 4103"/>
            </a:avLst>
          </a:prstGeom>
          <a:solidFill>
            <a:schemeClr val="bg2"/>
          </a:solidFill>
          <a:ln w="12700">
            <a:solidFill>
              <a:schemeClr val="bg2"/>
            </a:solidFill>
            <a:prstDash val="solid"/>
          </a:ln>
        </p:spPr>
        <p:txBody>
          <a:bodyPr/>
          <a:lstStyle/>
          <a:p>
            <a:endParaRPr lang="fr-FR"/>
          </a:p>
        </p:txBody>
      </p:sp>
      <p:sp>
        <p:nvSpPr>
          <p:cNvPr id="779" name="Chiffre clé"/>
          <p:cNvSpPr txBox="1"/>
          <p:nvPr/>
        </p:nvSpPr>
        <p:spPr>
          <a:xfrm>
            <a:off x="9509760" y="2011680"/>
            <a:ext cx="2011680" cy="731520"/>
          </a:xfrm>
          <a:prstGeom prst="rect">
            <a:avLst/>
          </a:prstGeom>
          <a:noFill/>
          <a:ln/>
        </p:spPr>
        <p:txBody>
          <a:bodyPr wrap="square" lIns="0" tIns="0" rIns="0" bIns="0" rtlCol="0" anchor="ctr"/>
          <a:lstStyle/>
          <a:p>
            <a:pPr marL="0" indent="0">
              <a:buNone/>
            </a:pPr>
            <a:r>
              <a:rPr lang="en-US" sz="4000" b="1" dirty="0">
                <a:solidFill>
                  <a:schemeClr val="tx1"/>
                </a:solidFill>
              </a:rPr>
              <a:t>8</a:t>
            </a:r>
            <a:endParaRPr lang="en-US" sz="4000" dirty="0"/>
          </a:p>
        </p:txBody>
      </p:sp>
      <p:sp>
        <p:nvSpPr>
          <p:cNvPr id="780" name="Libellé"/>
          <p:cNvSpPr txBox="1"/>
          <p:nvPr/>
        </p:nvSpPr>
        <p:spPr>
          <a:xfrm>
            <a:off x="9509760" y="2788920"/>
            <a:ext cx="2011680" cy="685800"/>
          </a:xfrm>
          <a:prstGeom prst="rect">
            <a:avLst/>
          </a:prstGeom>
          <a:noFill/>
          <a:ln/>
        </p:spPr>
        <p:txBody>
          <a:bodyPr wrap="square" lIns="0" tIns="0" rIns="0" bIns="0" rtlCol="0" anchor="t"/>
          <a:lstStyle/>
          <a:p>
            <a:pPr marL="0" indent="0">
              <a:buNone/>
            </a:pPr>
            <a:r>
              <a:rPr lang="en-US" sz="1400" dirty="0">
                <a:solidFill>
                  <a:schemeClr val="tx2"/>
                </a:solidFill>
              </a:rPr>
              <a:t>mesures : glycémie, IMC, âge, pression…</a:t>
            </a:r>
            <a:endParaRPr lang="en-US" sz="1400" dirty="0"/>
          </a:p>
        </p:txBody>
      </p:sp>
      <p:sp>
        <p:nvSpPr>
          <p:cNvPr id="781" name="Carte"/>
          <p:cNvSpPr/>
          <p:nvPr/>
        </p:nvSpPr>
        <p:spPr>
          <a:xfrm>
            <a:off x="6583680" y="3886200"/>
            <a:ext cx="2423160" cy="1783080"/>
          </a:xfrm>
          <a:prstGeom prst="roundRect">
            <a:avLst>
              <a:gd name="adj" fmla="val 4103"/>
            </a:avLst>
          </a:prstGeom>
          <a:solidFill>
            <a:schemeClr val="bg2"/>
          </a:solidFill>
          <a:ln w="12700">
            <a:solidFill>
              <a:schemeClr val="bg2"/>
            </a:solidFill>
            <a:prstDash val="solid"/>
          </a:ln>
        </p:spPr>
        <p:txBody>
          <a:bodyPr/>
          <a:lstStyle/>
          <a:p>
            <a:endParaRPr lang="fr-FR"/>
          </a:p>
        </p:txBody>
      </p:sp>
      <p:sp>
        <p:nvSpPr>
          <p:cNvPr id="782" name="Chiffre clé"/>
          <p:cNvSpPr txBox="1"/>
          <p:nvPr/>
        </p:nvSpPr>
        <p:spPr>
          <a:xfrm>
            <a:off x="6812280" y="4069080"/>
            <a:ext cx="2011680" cy="731520"/>
          </a:xfrm>
          <a:prstGeom prst="rect">
            <a:avLst/>
          </a:prstGeom>
          <a:noFill/>
          <a:ln/>
        </p:spPr>
        <p:txBody>
          <a:bodyPr wrap="square" lIns="0" tIns="0" rIns="0" bIns="0" rtlCol="0" anchor="ctr"/>
          <a:lstStyle/>
          <a:p>
            <a:pPr marL="0" indent="0">
              <a:buNone/>
            </a:pPr>
            <a:r>
              <a:rPr lang="en-US" sz="4000" b="1" dirty="0">
                <a:solidFill>
                  <a:schemeClr val="tx1"/>
                </a:solidFill>
              </a:rPr>
              <a:t>35 %</a:t>
            </a:r>
            <a:endParaRPr lang="en-US" sz="4000" dirty="0"/>
          </a:p>
        </p:txBody>
      </p:sp>
      <p:sp>
        <p:nvSpPr>
          <p:cNvPr id="783" name="Libellé"/>
          <p:cNvSpPr txBox="1"/>
          <p:nvPr/>
        </p:nvSpPr>
        <p:spPr>
          <a:xfrm>
            <a:off x="6812280" y="4846320"/>
            <a:ext cx="2011680" cy="685800"/>
          </a:xfrm>
          <a:prstGeom prst="rect">
            <a:avLst/>
          </a:prstGeom>
          <a:noFill/>
          <a:ln/>
        </p:spPr>
        <p:txBody>
          <a:bodyPr wrap="square" lIns="0" tIns="0" rIns="0" bIns="0" rtlCol="0" anchor="t"/>
          <a:lstStyle/>
          <a:p>
            <a:pPr marL="0" indent="0">
              <a:buNone/>
            </a:pPr>
            <a:r>
              <a:rPr lang="en-US" sz="1400" dirty="0">
                <a:solidFill>
                  <a:schemeClr val="tx2"/>
                </a:solidFill>
              </a:rPr>
              <a:t>de patientes diabétiques</a:t>
            </a:r>
            <a:endParaRPr lang="en-US" sz="1400" dirty="0"/>
          </a:p>
        </p:txBody>
      </p:sp>
      <p:sp>
        <p:nvSpPr>
          <p:cNvPr id="784" name="Carte"/>
          <p:cNvSpPr/>
          <p:nvPr/>
        </p:nvSpPr>
        <p:spPr>
          <a:xfrm>
            <a:off x="9281160" y="3886200"/>
            <a:ext cx="2423160" cy="1783080"/>
          </a:xfrm>
          <a:prstGeom prst="roundRect">
            <a:avLst>
              <a:gd name="adj" fmla="val 4103"/>
            </a:avLst>
          </a:prstGeom>
          <a:solidFill>
            <a:schemeClr val="bg2"/>
          </a:solidFill>
          <a:ln w="12700">
            <a:solidFill>
              <a:schemeClr val="bg2"/>
            </a:solidFill>
            <a:prstDash val="solid"/>
          </a:ln>
        </p:spPr>
        <p:txBody>
          <a:bodyPr/>
          <a:lstStyle/>
          <a:p>
            <a:endParaRPr lang="fr-FR"/>
          </a:p>
        </p:txBody>
      </p:sp>
      <p:sp>
        <p:nvSpPr>
          <p:cNvPr id="785" name="Chiffre clé"/>
          <p:cNvSpPr txBox="1"/>
          <p:nvPr/>
        </p:nvSpPr>
        <p:spPr>
          <a:xfrm>
            <a:off x="9509760" y="4069080"/>
            <a:ext cx="2011680" cy="731520"/>
          </a:xfrm>
          <a:prstGeom prst="rect">
            <a:avLst/>
          </a:prstGeom>
          <a:noFill/>
          <a:ln/>
        </p:spPr>
        <p:txBody>
          <a:bodyPr wrap="square" lIns="0" tIns="0" rIns="0" bIns="0" rtlCol="0" anchor="ctr"/>
          <a:lstStyle/>
          <a:p>
            <a:pPr marL="0" indent="0">
              <a:buNone/>
            </a:pPr>
            <a:r>
              <a:rPr lang="en-US" sz="4000" b="1" dirty="0">
                <a:solidFill>
                  <a:schemeClr val="tx1"/>
                </a:solidFill>
              </a:rPr>
              <a:t>≥ 21 ans</a:t>
            </a:r>
            <a:endParaRPr lang="en-US" sz="4000" dirty="0"/>
          </a:p>
        </p:txBody>
      </p:sp>
      <p:sp>
        <p:nvSpPr>
          <p:cNvPr id="786" name="Libellé"/>
          <p:cNvSpPr txBox="1"/>
          <p:nvPr/>
        </p:nvSpPr>
        <p:spPr>
          <a:xfrm>
            <a:off x="9509760" y="4846320"/>
            <a:ext cx="2011680" cy="685800"/>
          </a:xfrm>
          <a:prstGeom prst="rect">
            <a:avLst/>
          </a:prstGeom>
          <a:noFill/>
          <a:ln/>
        </p:spPr>
        <p:txBody>
          <a:bodyPr wrap="square" lIns="0" tIns="0" rIns="0" bIns="0" rtlCol="0" anchor="t"/>
          <a:lstStyle/>
          <a:p>
            <a:pPr marL="0" indent="0">
              <a:buNone/>
            </a:pPr>
            <a:r>
              <a:rPr lang="en-US" sz="1400" dirty="0">
                <a:solidFill>
                  <a:schemeClr val="tx2"/>
                </a:solidFill>
              </a:rPr>
              <a:t>femmes Pima : population très particulière</a:t>
            </a:r>
            <a:endParaRPr lang="en-US" sz="1400" dirty="0"/>
          </a:p>
        </p:txBody>
      </p:sp>
      <p:sp>
        <p:nvSpPr>
          <p:cNvPr id="787"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MÉTHODE</a:t>
            </a:r>
            <a:endParaRPr lang="en-US" sz="1200" dirty="0"/>
          </a:p>
        </p:txBody>
      </p:sp>
      <p:sp>
        <p:nvSpPr>
          <p:cNvPr id="4"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Un protocole sans fuite d'information</a:t>
            </a:r>
            <a:endParaRPr lang="en-US" sz="3400" dirty="0"/>
          </a:p>
        </p:txBody>
      </p:sp>
      <p:sp>
        <p:nvSpPr>
          <p:cNvPr id="5" name="Étape 1"/>
          <p:cNvSpPr/>
          <p:nvPr/>
        </p:nvSpPr>
        <p:spPr>
          <a:xfrm>
            <a:off x="548640" y="1965960"/>
            <a:ext cx="2423160" cy="1920240"/>
          </a:xfrm>
          <a:prstGeom prst="roundRect">
            <a:avLst>
              <a:gd name="adj" fmla="val 3810"/>
            </a:avLst>
          </a:prstGeom>
          <a:solidFill>
            <a:schemeClr val="bg2"/>
          </a:solidFill>
          <a:ln w="12700">
            <a:solidFill>
              <a:schemeClr val="bg2"/>
            </a:solidFill>
            <a:prstDash val="solid"/>
          </a:ln>
        </p:spPr>
        <p:txBody>
          <a:bodyPr/>
          <a:lstStyle/>
          <a:p>
            <a:endParaRPr lang="fr-FR"/>
          </a:p>
        </p:txBody>
      </p:sp>
      <p:sp>
        <p:nvSpPr>
          <p:cNvPr id="6" name="Numéro"/>
          <p:cNvSpPr txBox="1"/>
          <p:nvPr/>
        </p:nvSpPr>
        <p:spPr>
          <a:xfrm>
            <a:off x="777240" y="2103120"/>
            <a:ext cx="457200" cy="365760"/>
          </a:xfrm>
          <a:prstGeom prst="rect">
            <a:avLst/>
          </a:prstGeom>
          <a:noFill/>
          <a:ln/>
        </p:spPr>
        <p:txBody>
          <a:bodyPr wrap="square" lIns="0" tIns="0" rIns="0" bIns="0" rtlCol="0" anchor="ctr"/>
          <a:lstStyle/>
          <a:p>
            <a:pPr marL="0" indent="0">
              <a:buNone/>
            </a:pPr>
            <a:r>
              <a:rPr lang="en-US" sz="1400" b="1" dirty="0">
                <a:solidFill>
                  <a:schemeClr val="accent1"/>
                </a:solidFill>
              </a:rPr>
              <a:t>1</a:t>
            </a:r>
            <a:endParaRPr lang="en-US" sz="1400" dirty="0"/>
          </a:p>
        </p:txBody>
      </p:sp>
      <p:sp>
        <p:nvSpPr>
          <p:cNvPr id="7" name="Titre d&amp;apos;étape"/>
          <p:cNvSpPr txBox="1"/>
          <p:nvPr/>
        </p:nvSpPr>
        <p:spPr>
          <a:xfrm>
            <a:off x="777240" y="2468880"/>
            <a:ext cx="2011680" cy="365760"/>
          </a:xfrm>
          <a:prstGeom prst="rect">
            <a:avLst/>
          </a:prstGeom>
          <a:noFill/>
          <a:ln/>
        </p:spPr>
        <p:txBody>
          <a:bodyPr wrap="square" lIns="0" tIns="0" rIns="0" bIns="0" rtlCol="0" anchor="t"/>
          <a:lstStyle/>
          <a:p>
            <a:pPr marL="0" indent="0">
              <a:buNone/>
            </a:pPr>
            <a:r>
              <a:rPr lang="en-US" sz="1600" b="1" dirty="0">
                <a:solidFill>
                  <a:schemeClr val="tx1"/>
                </a:solidFill>
              </a:rPr>
              <a:t>Données nettoyées</a:t>
            </a:r>
            <a:endParaRPr lang="en-US" sz="1600" dirty="0"/>
          </a:p>
        </p:txBody>
      </p:sp>
      <p:sp>
        <p:nvSpPr>
          <p:cNvPr id="8" name="Description d&amp;apos;étape"/>
          <p:cNvSpPr txBox="1"/>
          <p:nvPr/>
        </p:nvSpPr>
        <p:spPr>
          <a:xfrm>
            <a:off x="777240" y="2880360"/>
            <a:ext cx="2011680" cy="914400"/>
          </a:xfrm>
          <a:prstGeom prst="rect">
            <a:avLst/>
          </a:prstGeom>
          <a:noFill/>
          <a:ln/>
        </p:spPr>
        <p:txBody>
          <a:bodyPr wrap="square" lIns="0" tIns="0" rIns="0" bIns="0" rtlCol="0" anchor="t"/>
          <a:lstStyle/>
          <a:p>
            <a:pPr marL="0" indent="0">
              <a:buNone/>
            </a:pPr>
            <a:r>
              <a:rPr lang="en-US" sz="1400" dirty="0">
                <a:solidFill>
                  <a:schemeClr val="tx2"/>
                </a:solidFill>
              </a:rPr>
              <a:t>Un 0 impossible devient une valeur manquante. Les 768 lignes sont conservées.</a:t>
            </a:r>
            <a:endParaRPr lang="en-US" sz="1400" dirty="0"/>
          </a:p>
        </p:txBody>
      </p:sp>
      <p:sp>
        <p:nvSpPr>
          <p:cNvPr id="9" name="Flèche"/>
          <p:cNvSpPr/>
          <p:nvPr/>
        </p:nvSpPr>
        <p:spPr>
          <a:xfrm>
            <a:off x="3035808" y="2788920"/>
            <a:ext cx="274320" cy="274320"/>
          </a:xfrm>
          <a:prstGeom prst="rightArrow">
            <a:avLst/>
          </a:prstGeom>
          <a:solidFill>
            <a:schemeClr val="accent3"/>
          </a:solidFill>
          <a:ln w="12700">
            <a:solidFill>
              <a:schemeClr val="accent3"/>
            </a:solidFill>
            <a:prstDash val="solid"/>
          </a:ln>
        </p:spPr>
        <p:txBody>
          <a:bodyPr/>
          <a:lstStyle/>
          <a:p>
            <a:endParaRPr lang="fr-FR"/>
          </a:p>
        </p:txBody>
      </p:sp>
      <p:sp>
        <p:nvSpPr>
          <p:cNvPr id="10" name="Étape 2"/>
          <p:cNvSpPr/>
          <p:nvPr/>
        </p:nvSpPr>
        <p:spPr>
          <a:xfrm>
            <a:off x="3429000" y="1965960"/>
            <a:ext cx="2423160" cy="1920240"/>
          </a:xfrm>
          <a:prstGeom prst="roundRect">
            <a:avLst>
              <a:gd name="adj" fmla="val 3810"/>
            </a:avLst>
          </a:prstGeom>
          <a:solidFill>
            <a:schemeClr val="bg2"/>
          </a:solidFill>
          <a:ln w="12700">
            <a:solidFill>
              <a:schemeClr val="bg2"/>
            </a:solidFill>
            <a:prstDash val="solid"/>
          </a:ln>
        </p:spPr>
        <p:txBody>
          <a:bodyPr/>
          <a:lstStyle/>
          <a:p>
            <a:endParaRPr lang="fr-FR"/>
          </a:p>
        </p:txBody>
      </p:sp>
      <p:sp>
        <p:nvSpPr>
          <p:cNvPr id="11" name="Numéro"/>
          <p:cNvSpPr txBox="1"/>
          <p:nvPr/>
        </p:nvSpPr>
        <p:spPr>
          <a:xfrm>
            <a:off x="3657600" y="2103120"/>
            <a:ext cx="457200" cy="365760"/>
          </a:xfrm>
          <a:prstGeom prst="rect">
            <a:avLst/>
          </a:prstGeom>
          <a:noFill/>
          <a:ln/>
        </p:spPr>
        <p:txBody>
          <a:bodyPr wrap="square" lIns="0" tIns="0" rIns="0" bIns="0" rtlCol="0" anchor="ctr"/>
          <a:lstStyle/>
          <a:p>
            <a:pPr marL="0" indent="0">
              <a:buNone/>
            </a:pPr>
            <a:r>
              <a:rPr lang="en-US" sz="1400" b="1" dirty="0">
                <a:solidFill>
                  <a:schemeClr val="accent1"/>
                </a:solidFill>
              </a:rPr>
              <a:t>2</a:t>
            </a:r>
            <a:endParaRPr lang="en-US" sz="1400" dirty="0"/>
          </a:p>
        </p:txBody>
      </p:sp>
      <p:sp>
        <p:nvSpPr>
          <p:cNvPr id="12" name="Titre d&amp;apos;étape"/>
          <p:cNvSpPr txBox="1"/>
          <p:nvPr/>
        </p:nvSpPr>
        <p:spPr>
          <a:xfrm>
            <a:off x="3657600" y="2468880"/>
            <a:ext cx="2011680" cy="365760"/>
          </a:xfrm>
          <a:prstGeom prst="rect">
            <a:avLst/>
          </a:prstGeom>
          <a:noFill/>
          <a:ln/>
        </p:spPr>
        <p:txBody>
          <a:bodyPr wrap="square" lIns="0" tIns="0" rIns="0" bIns="0" rtlCol="0" anchor="t"/>
          <a:lstStyle/>
          <a:p>
            <a:pPr marL="0" indent="0">
              <a:buNone/>
            </a:pPr>
            <a:r>
              <a:rPr lang="en-US" sz="1600" b="1" dirty="0">
                <a:solidFill>
                  <a:schemeClr val="tx1"/>
                </a:solidFill>
              </a:rPr>
              <a:t>Référence</a:t>
            </a:r>
            <a:endParaRPr lang="en-US" sz="1600" dirty="0"/>
          </a:p>
        </p:txBody>
      </p:sp>
      <p:sp>
        <p:nvSpPr>
          <p:cNvPr id="13" name="Description d&amp;apos;étape"/>
          <p:cNvSpPr txBox="1"/>
          <p:nvPr/>
        </p:nvSpPr>
        <p:spPr>
          <a:xfrm>
            <a:off x="3657600" y="2880360"/>
            <a:ext cx="2011680" cy="914400"/>
          </a:xfrm>
          <a:prstGeom prst="rect">
            <a:avLst/>
          </a:prstGeom>
          <a:noFill/>
          <a:ln/>
        </p:spPr>
        <p:txBody>
          <a:bodyPr wrap="square" lIns="0" tIns="0" rIns="0" bIns="0" rtlCol="0" anchor="t"/>
          <a:lstStyle/>
          <a:p>
            <a:pPr marL="0" indent="0">
              <a:buNone/>
            </a:pPr>
            <a:r>
              <a:rPr lang="en-US" sz="1400" dirty="0">
                <a:solidFill>
                  <a:schemeClr val="tx2"/>
                </a:solidFill>
              </a:rPr>
              <a:t>Non hybride : régression logistique et XGBoost, sans aucune règle.</a:t>
            </a:r>
            <a:endParaRPr lang="en-US" sz="1400" dirty="0"/>
          </a:p>
        </p:txBody>
      </p:sp>
      <p:sp>
        <p:nvSpPr>
          <p:cNvPr id="14" name="Flèche"/>
          <p:cNvSpPr/>
          <p:nvPr/>
        </p:nvSpPr>
        <p:spPr>
          <a:xfrm>
            <a:off x="5916168" y="2788920"/>
            <a:ext cx="274320" cy="274320"/>
          </a:xfrm>
          <a:prstGeom prst="rightArrow">
            <a:avLst/>
          </a:prstGeom>
          <a:solidFill>
            <a:schemeClr val="accent3"/>
          </a:solidFill>
          <a:ln w="12700">
            <a:solidFill>
              <a:schemeClr val="accent3"/>
            </a:solidFill>
            <a:prstDash val="solid"/>
          </a:ln>
        </p:spPr>
        <p:txBody>
          <a:bodyPr/>
          <a:lstStyle/>
          <a:p>
            <a:endParaRPr lang="fr-FR"/>
          </a:p>
        </p:txBody>
      </p:sp>
      <p:sp>
        <p:nvSpPr>
          <p:cNvPr id="15" name="Étape 3"/>
          <p:cNvSpPr/>
          <p:nvPr/>
        </p:nvSpPr>
        <p:spPr>
          <a:xfrm>
            <a:off x="6309360" y="1965960"/>
            <a:ext cx="2423160" cy="1920240"/>
          </a:xfrm>
          <a:prstGeom prst="roundRect">
            <a:avLst>
              <a:gd name="adj" fmla="val 3810"/>
            </a:avLst>
          </a:prstGeom>
          <a:solidFill>
            <a:schemeClr val="accent1"/>
          </a:solidFill>
          <a:ln w="12700">
            <a:solidFill>
              <a:schemeClr val="accent1"/>
            </a:solidFill>
            <a:prstDash val="solid"/>
          </a:ln>
        </p:spPr>
        <p:txBody>
          <a:bodyPr/>
          <a:lstStyle/>
          <a:p>
            <a:endParaRPr lang="fr-FR"/>
          </a:p>
        </p:txBody>
      </p:sp>
      <p:sp>
        <p:nvSpPr>
          <p:cNvPr id="16" name="Numéro"/>
          <p:cNvSpPr txBox="1"/>
          <p:nvPr/>
        </p:nvSpPr>
        <p:spPr>
          <a:xfrm>
            <a:off x="6537960" y="2103120"/>
            <a:ext cx="457200" cy="365760"/>
          </a:xfrm>
          <a:prstGeom prst="rect">
            <a:avLst/>
          </a:prstGeom>
          <a:noFill/>
          <a:ln/>
        </p:spPr>
        <p:txBody>
          <a:bodyPr wrap="square" lIns="0" tIns="0" rIns="0" bIns="0" rtlCol="0" anchor="ctr"/>
          <a:lstStyle/>
          <a:p>
            <a:pPr marL="0" indent="0">
              <a:buNone/>
            </a:pPr>
            <a:r>
              <a:rPr lang="en-US" sz="1400" b="1" dirty="0">
                <a:solidFill>
                  <a:schemeClr val="bg1"/>
                </a:solidFill>
              </a:rPr>
              <a:t>3</a:t>
            </a:r>
            <a:endParaRPr lang="en-US" sz="1400" dirty="0"/>
          </a:p>
        </p:txBody>
      </p:sp>
      <p:sp>
        <p:nvSpPr>
          <p:cNvPr id="17" name="Titre d&amp;apos;étape"/>
          <p:cNvSpPr txBox="1"/>
          <p:nvPr/>
        </p:nvSpPr>
        <p:spPr>
          <a:xfrm>
            <a:off x="6537960" y="2468880"/>
            <a:ext cx="2011680" cy="365760"/>
          </a:xfrm>
          <a:prstGeom prst="rect">
            <a:avLst/>
          </a:prstGeom>
          <a:noFill/>
          <a:ln/>
        </p:spPr>
        <p:txBody>
          <a:bodyPr wrap="square" lIns="0" tIns="0" rIns="0" bIns="0" rtlCol="0" anchor="t"/>
          <a:lstStyle/>
          <a:p>
            <a:pPr marL="0" indent="0">
              <a:buNone/>
            </a:pPr>
            <a:r>
              <a:rPr lang="en-US" sz="1600" b="1" dirty="0">
                <a:solidFill>
                  <a:schemeClr val="bg1"/>
                </a:solidFill>
              </a:rPr>
              <a:t>+ Règles en entrée</a:t>
            </a:r>
            <a:endParaRPr lang="en-US" sz="1600" dirty="0"/>
          </a:p>
        </p:txBody>
      </p:sp>
      <p:sp>
        <p:nvSpPr>
          <p:cNvPr id="18" name="Description d&amp;apos;étape"/>
          <p:cNvSpPr txBox="1"/>
          <p:nvPr/>
        </p:nvSpPr>
        <p:spPr>
          <a:xfrm>
            <a:off x="6537960" y="2880360"/>
            <a:ext cx="2011680" cy="914400"/>
          </a:xfrm>
          <a:prstGeom prst="rect">
            <a:avLst/>
          </a:prstGeom>
          <a:noFill/>
          <a:ln/>
        </p:spPr>
        <p:txBody>
          <a:bodyPr wrap="square" lIns="0" tIns="0" rIns="0" bIns="0" rtlCol="0" anchor="t"/>
          <a:lstStyle/>
          <a:p>
            <a:pPr marL="0" indent="0">
              <a:buNone/>
            </a:pPr>
            <a:r>
              <a:rPr lang="en-US" sz="1400" dirty="0">
                <a:solidFill>
                  <a:schemeClr val="bg1"/>
                </a:solidFill>
              </a:rPr>
              <a:t>6 variables expertes ajoutées aux 8 mesures.</a:t>
            </a:r>
            <a:endParaRPr lang="en-US" sz="1400" dirty="0"/>
          </a:p>
        </p:txBody>
      </p:sp>
      <p:sp>
        <p:nvSpPr>
          <p:cNvPr id="19" name="Flèche"/>
          <p:cNvSpPr/>
          <p:nvPr/>
        </p:nvSpPr>
        <p:spPr>
          <a:xfrm>
            <a:off x="8796528" y="2788920"/>
            <a:ext cx="274320" cy="274320"/>
          </a:xfrm>
          <a:prstGeom prst="rightArrow">
            <a:avLst/>
          </a:prstGeom>
          <a:solidFill>
            <a:schemeClr val="accent3"/>
          </a:solidFill>
          <a:ln w="12700">
            <a:solidFill>
              <a:schemeClr val="accent3"/>
            </a:solidFill>
            <a:prstDash val="solid"/>
          </a:ln>
        </p:spPr>
        <p:txBody>
          <a:bodyPr/>
          <a:lstStyle/>
          <a:p>
            <a:endParaRPr lang="fr-FR"/>
          </a:p>
        </p:txBody>
      </p:sp>
      <p:sp>
        <p:nvSpPr>
          <p:cNvPr id="20" name="Étape 4"/>
          <p:cNvSpPr/>
          <p:nvPr/>
        </p:nvSpPr>
        <p:spPr>
          <a:xfrm>
            <a:off x="9189720" y="1965960"/>
            <a:ext cx="2423160" cy="1920240"/>
          </a:xfrm>
          <a:prstGeom prst="roundRect">
            <a:avLst>
              <a:gd name="adj" fmla="val 3810"/>
            </a:avLst>
          </a:prstGeom>
          <a:solidFill>
            <a:schemeClr val="accent1"/>
          </a:solidFill>
          <a:ln w="12700">
            <a:solidFill>
              <a:schemeClr val="accent1"/>
            </a:solidFill>
            <a:prstDash val="solid"/>
          </a:ln>
        </p:spPr>
        <p:txBody>
          <a:bodyPr/>
          <a:lstStyle/>
          <a:p>
            <a:endParaRPr lang="fr-FR"/>
          </a:p>
        </p:txBody>
      </p:sp>
      <p:sp>
        <p:nvSpPr>
          <p:cNvPr id="21" name="Numéro"/>
          <p:cNvSpPr txBox="1"/>
          <p:nvPr/>
        </p:nvSpPr>
        <p:spPr>
          <a:xfrm>
            <a:off x="9418320" y="2103120"/>
            <a:ext cx="457200" cy="365760"/>
          </a:xfrm>
          <a:prstGeom prst="rect">
            <a:avLst/>
          </a:prstGeom>
          <a:noFill/>
          <a:ln/>
        </p:spPr>
        <p:txBody>
          <a:bodyPr wrap="square" lIns="0" tIns="0" rIns="0" bIns="0" rtlCol="0" anchor="ctr"/>
          <a:lstStyle/>
          <a:p>
            <a:pPr marL="0" indent="0">
              <a:buNone/>
            </a:pPr>
            <a:r>
              <a:rPr lang="en-US" sz="1400" b="1" dirty="0">
                <a:solidFill>
                  <a:schemeClr val="bg1"/>
                </a:solidFill>
              </a:rPr>
              <a:t>4</a:t>
            </a:r>
            <a:endParaRPr lang="en-US" sz="1400" dirty="0"/>
          </a:p>
        </p:txBody>
      </p:sp>
      <p:sp>
        <p:nvSpPr>
          <p:cNvPr id="22" name="Titre d&amp;apos;étape"/>
          <p:cNvSpPr txBox="1"/>
          <p:nvPr/>
        </p:nvSpPr>
        <p:spPr>
          <a:xfrm>
            <a:off x="9418320" y="2468880"/>
            <a:ext cx="2011680" cy="365760"/>
          </a:xfrm>
          <a:prstGeom prst="rect">
            <a:avLst/>
          </a:prstGeom>
          <a:noFill/>
          <a:ln/>
        </p:spPr>
        <p:txBody>
          <a:bodyPr wrap="square" lIns="0" tIns="0" rIns="0" bIns="0" rtlCol="0" anchor="t"/>
          <a:lstStyle/>
          <a:p>
            <a:pPr marL="0" indent="0">
              <a:buNone/>
            </a:pPr>
            <a:r>
              <a:rPr lang="en-US" sz="1600" b="1" dirty="0">
                <a:solidFill>
                  <a:schemeClr val="bg1"/>
                </a:solidFill>
              </a:rPr>
              <a:t>+ Règles en sortie</a:t>
            </a:r>
            <a:endParaRPr lang="en-US" sz="1600" dirty="0"/>
          </a:p>
        </p:txBody>
      </p:sp>
      <p:sp>
        <p:nvSpPr>
          <p:cNvPr id="23" name="Description d&amp;apos;étape"/>
          <p:cNvSpPr txBox="1"/>
          <p:nvPr/>
        </p:nvSpPr>
        <p:spPr>
          <a:xfrm>
            <a:off x="9418320" y="2880360"/>
            <a:ext cx="2011680" cy="914400"/>
          </a:xfrm>
          <a:prstGeom prst="rect">
            <a:avLst/>
          </a:prstGeom>
          <a:noFill/>
          <a:ln/>
        </p:spPr>
        <p:txBody>
          <a:bodyPr wrap="square" lIns="0" tIns="0" rIns="0" bIns="0" rtlCol="0" anchor="t"/>
          <a:lstStyle/>
          <a:p>
            <a:pPr marL="0" indent="0">
              <a:buNone/>
            </a:pPr>
            <a:r>
              <a:rPr lang="en-US" sz="1400" dirty="0">
                <a:solidFill>
                  <a:schemeClr val="bg1"/>
                </a:solidFill>
              </a:rPr>
              <a:t>Plancher ou plafond de risque, avec la source de chaque décision.</a:t>
            </a:r>
            <a:endParaRPr lang="en-US" sz="1400" dirty="0"/>
          </a:p>
        </p:txBody>
      </p:sp>
      <p:sp>
        <p:nvSpPr>
          <p:cNvPr id="24" name="Légende"/>
          <p:cNvSpPr txBox="1"/>
          <p:nvPr/>
        </p:nvSpPr>
        <p:spPr>
          <a:xfrm>
            <a:off x="6309360" y="4023360"/>
            <a:ext cx="5303520" cy="274320"/>
          </a:xfrm>
          <a:prstGeom prst="rect">
            <a:avLst/>
          </a:prstGeom>
          <a:noFill/>
          <a:ln/>
        </p:spPr>
        <p:txBody>
          <a:bodyPr wrap="square" lIns="0" tIns="0" rIns="0" bIns="0" rtlCol="0" anchor="t"/>
          <a:lstStyle/>
          <a:p>
            <a:pPr marL="0" indent="0">
              <a:buNone/>
            </a:pPr>
            <a:r>
              <a:rPr lang="en-US" sz="1200" dirty="0">
                <a:solidFill>
                  <a:schemeClr val="tx2"/>
                </a:solidFill>
              </a:rPr>
              <a:t>Briques hybrides en vert : les ablations retirent l'une, l'autre ou les deux.</a:t>
            </a:r>
            <a:endParaRPr lang="en-US" sz="1200" dirty="0"/>
          </a:p>
        </p:txBody>
      </p:sp>
      <p:sp>
        <p:nvSpPr>
          <p:cNvPr id="25" name="Pastille"/>
          <p:cNvSpPr/>
          <p:nvPr/>
        </p:nvSpPr>
        <p:spPr>
          <a:xfrm>
            <a:off x="548640" y="4617720"/>
            <a:ext cx="384048" cy="384048"/>
          </a:xfrm>
          <a:prstGeom prst="ellipse">
            <a:avLst/>
          </a:prstGeom>
          <a:solidFill>
            <a:schemeClr val="tx1"/>
          </a:solidFill>
          <a:ln w="12700">
            <a:solidFill>
              <a:schemeClr val="tx1"/>
            </a:solidFill>
            <a:prstDash val="solid"/>
          </a:ln>
        </p:spPr>
        <p:txBody>
          <a:bodyPr/>
          <a:lstStyle/>
          <a:p>
            <a:endParaRPr lang="fr-FR"/>
          </a:p>
        </p:txBody>
      </p:sp>
      <p:sp>
        <p:nvSpPr>
          <p:cNvPr id="26" name="Numéro de garde-fou"/>
          <p:cNvSpPr txBox="1"/>
          <p:nvPr/>
        </p:nvSpPr>
        <p:spPr>
          <a:xfrm>
            <a:off x="54864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7" name="Titre de garde-fou"/>
          <p:cNvSpPr txBox="1"/>
          <p:nvPr/>
        </p:nvSpPr>
        <p:spPr>
          <a:xfrm>
            <a:off x="1097280" y="4590288"/>
            <a:ext cx="2926080" cy="365760"/>
          </a:xfrm>
          <a:prstGeom prst="rect">
            <a:avLst/>
          </a:prstGeom>
          <a:noFill/>
          <a:ln/>
        </p:spPr>
        <p:txBody>
          <a:bodyPr wrap="square" lIns="0" tIns="0" rIns="0" bIns="0" rtlCol="0" anchor="ctr"/>
          <a:lstStyle/>
          <a:p>
            <a:pPr marL="0" indent="0">
              <a:buNone/>
            </a:pPr>
            <a:r>
              <a:rPr lang="en-US" sz="1600" b="1" dirty="0">
                <a:solidFill>
                  <a:schemeClr val="tx1"/>
                </a:solidFill>
              </a:rPr>
              <a:t>Pipeline complet</a:t>
            </a:r>
            <a:endParaRPr lang="en-US" sz="1600" dirty="0"/>
          </a:p>
        </p:txBody>
      </p:sp>
      <p:sp>
        <p:nvSpPr>
          <p:cNvPr id="28" name="Description de garde-fou"/>
          <p:cNvSpPr txBox="1"/>
          <p:nvPr/>
        </p:nvSpPr>
        <p:spPr>
          <a:xfrm>
            <a:off x="1097280" y="5029200"/>
            <a:ext cx="3017520" cy="1097280"/>
          </a:xfrm>
          <a:prstGeom prst="rect">
            <a:avLst/>
          </a:prstGeom>
          <a:noFill/>
          <a:ln/>
        </p:spPr>
        <p:txBody>
          <a:bodyPr wrap="square" lIns="0" tIns="0" rIns="0" bIns="0" rtlCol="0" anchor="t"/>
          <a:lstStyle/>
          <a:p>
            <a:pPr marL="0" indent="0">
              <a:buNone/>
            </a:pPr>
            <a:r>
              <a:rPr lang="en-US" sz="1400" dirty="0">
                <a:solidFill>
                  <a:schemeClr val="tx2"/>
                </a:solidFill>
              </a:rPr>
              <a:t>Imputation KNN, standardisation et règles sont ajustés sur chaque pli d'entraînement : rien ne fuit vers le test.</a:t>
            </a:r>
            <a:endParaRPr lang="en-US" sz="1400" dirty="0"/>
          </a:p>
        </p:txBody>
      </p:sp>
      <p:sp>
        <p:nvSpPr>
          <p:cNvPr id="29" name="Pastille"/>
          <p:cNvSpPr/>
          <p:nvPr/>
        </p:nvSpPr>
        <p:spPr>
          <a:xfrm>
            <a:off x="4297680" y="4617720"/>
            <a:ext cx="384048" cy="384048"/>
          </a:xfrm>
          <a:prstGeom prst="ellipse">
            <a:avLst/>
          </a:prstGeom>
          <a:solidFill>
            <a:schemeClr val="tx1"/>
          </a:solidFill>
          <a:ln w="12700">
            <a:solidFill>
              <a:schemeClr val="tx1"/>
            </a:solidFill>
            <a:prstDash val="solid"/>
          </a:ln>
        </p:spPr>
        <p:txBody>
          <a:bodyPr/>
          <a:lstStyle/>
          <a:p>
            <a:endParaRPr lang="fr-FR"/>
          </a:p>
        </p:txBody>
      </p:sp>
      <p:sp>
        <p:nvSpPr>
          <p:cNvPr id="30" name="Numéro de garde-fou"/>
          <p:cNvSpPr txBox="1"/>
          <p:nvPr/>
        </p:nvSpPr>
        <p:spPr>
          <a:xfrm>
            <a:off x="429768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1" name="Titre de garde-fou"/>
          <p:cNvSpPr txBox="1"/>
          <p:nvPr/>
        </p:nvSpPr>
        <p:spPr>
          <a:xfrm>
            <a:off x="4846320" y="4590288"/>
            <a:ext cx="2926080" cy="365760"/>
          </a:xfrm>
          <a:prstGeom prst="rect">
            <a:avLst/>
          </a:prstGeom>
          <a:noFill/>
          <a:ln/>
        </p:spPr>
        <p:txBody>
          <a:bodyPr wrap="square" lIns="0" tIns="0" rIns="0" bIns="0" rtlCol="0" anchor="ctr"/>
          <a:lstStyle/>
          <a:p>
            <a:pPr marL="0" indent="0">
              <a:buNone/>
            </a:pPr>
            <a:r>
              <a:rPr lang="en-US" sz="1600" b="1" dirty="0">
                <a:solidFill>
                  <a:schemeClr val="tx1"/>
                </a:solidFill>
              </a:rPr>
              <a:t>Seuil choisi sur le train</a:t>
            </a:r>
            <a:endParaRPr lang="en-US" sz="1600" dirty="0"/>
          </a:p>
        </p:txBody>
      </p:sp>
      <p:sp>
        <p:nvSpPr>
          <p:cNvPr id="32" name="Description de garde-fou"/>
          <p:cNvSpPr txBox="1"/>
          <p:nvPr/>
        </p:nvSpPr>
        <p:spPr>
          <a:xfrm>
            <a:off x="4846320" y="5029200"/>
            <a:ext cx="3017520" cy="1097280"/>
          </a:xfrm>
          <a:prstGeom prst="rect">
            <a:avLst/>
          </a:prstGeom>
          <a:noFill/>
          <a:ln/>
        </p:spPr>
        <p:txBody>
          <a:bodyPr wrap="square" lIns="0" tIns="0" rIns="0" bIns="0" rtlCol="0" anchor="t"/>
          <a:lstStyle/>
          <a:p>
            <a:pPr marL="0" indent="0">
              <a:buNone/>
            </a:pPr>
            <a:r>
              <a:rPr lang="en-US" sz="1400" dirty="0">
                <a:solidFill>
                  <a:schemeClr val="tx2"/>
                </a:solidFill>
              </a:rPr>
              <a:t>Cible de 80 % de rappel sur des prédictions hors-pli. Le test sert uniquement à évaluer.</a:t>
            </a:r>
            <a:endParaRPr lang="en-US" sz="1400" dirty="0"/>
          </a:p>
        </p:txBody>
      </p:sp>
      <p:sp>
        <p:nvSpPr>
          <p:cNvPr id="33" name="Pastille"/>
          <p:cNvSpPr/>
          <p:nvPr/>
        </p:nvSpPr>
        <p:spPr>
          <a:xfrm>
            <a:off x="8046720" y="4617720"/>
            <a:ext cx="384048" cy="384048"/>
          </a:xfrm>
          <a:prstGeom prst="ellipse">
            <a:avLst/>
          </a:prstGeom>
          <a:solidFill>
            <a:schemeClr val="tx1"/>
          </a:solidFill>
          <a:ln w="12700">
            <a:solidFill>
              <a:schemeClr val="tx1"/>
            </a:solidFill>
            <a:prstDash val="solid"/>
          </a:ln>
        </p:spPr>
        <p:txBody>
          <a:bodyPr/>
          <a:lstStyle/>
          <a:p>
            <a:endParaRPr lang="fr-FR"/>
          </a:p>
        </p:txBody>
      </p:sp>
      <p:sp>
        <p:nvSpPr>
          <p:cNvPr id="34" name="Numéro de garde-fou"/>
          <p:cNvSpPr txBox="1"/>
          <p:nvPr/>
        </p:nvSpPr>
        <p:spPr>
          <a:xfrm>
            <a:off x="8046720" y="4617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5" name="Titre de garde-fou"/>
          <p:cNvSpPr txBox="1"/>
          <p:nvPr/>
        </p:nvSpPr>
        <p:spPr>
          <a:xfrm>
            <a:off x="8595360" y="4590288"/>
            <a:ext cx="2926080" cy="365760"/>
          </a:xfrm>
          <a:prstGeom prst="rect">
            <a:avLst/>
          </a:prstGeom>
          <a:noFill/>
          <a:ln/>
        </p:spPr>
        <p:txBody>
          <a:bodyPr wrap="square" lIns="0" tIns="0" rIns="0" bIns="0" rtlCol="0" anchor="ctr"/>
          <a:lstStyle/>
          <a:p>
            <a:pPr marL="0" indent="0">
              <a:buNone/>
            </a:pPr>
            <a:r>
              <a:rPr lang="en-US" sz="1600" b="1" dirty="0">
                <a:solidFill>
                  <a:schemeClr val="tx1"/>
                </a:solidFill>
              </a:rPr>
              <a:t>Incertitude mesurée</a:t>
            </a:r>
            <a:endParaRPr lang="en-US" sz="1600" dirty="0"/>
          </a:p>
        </p:txBody>
      </p:sp>
      <p:sp>
        <p:nvSpPr>
          <p:cNvPr id="36" name="Description de garde-fou"/>
          <p:cNvSpPr txBox="1"/>
          <p:nvPr/>
        </p:nvSpPr>
        <p:spPr>
          <a:xfrm>
            <a:off x="8595360" y="5029200"/>
            <a:ext cx="3017520" cy="1097280"/>
          </a:xfrm>
          <a:prstGeom prst="rect">
            <a:avLst/>
          </a:prstGeom>
          <a:noFill/>
          <a:ln/>
        </p:spPr>
        <p:txBody>
          <a:bodyPr wrap="square" lIns="0" tIns="0" rIns="0" bIns="0" rtlCol="0" anchor="t"/>
          <a:lstStyle/>
          <a:p>
            <a:pPr marL="0" indent="0">
              <a:buNone/>
            </a:pPr>
            <a:r>
              <a:rPr lang="en-US" sz="1400" dirty="0">
                <a:solidFill>
                  <a:schemeClr val="tx2"/>
                </a:solidFill>
              </a:rPr>
              <a:t>Validation croisée 5×5 et bootstrap apparié (1 000 tirages) pour chaque écart annoncé.</a:t>
            </a:r>
            <a:endParaRPr lang="en-US" sz="1400" dirty="0"/>
          </a:p>
        </p:txBody>
      </p:sp>
      <p:sp>
        <p:nvSpPr>
          <p:cNvPr id="37"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MÉTHODE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Deux pièges visibles dès les données : les valeurs manquantes et la fuite d'information.</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Les données piègent avant les modèles</a:t>
            </a:r>
            <a:endParaRPr lang="en-US" sz="3400" dirty="0"/>
          </a:p>
        </p:txBody>
      </p:sp>
      <p:sp>
        <p:nvSpPr>
          <p:cNvPr id="6" name="Titre de graphique"/>
          <p:cNvSpPr txBox="1"/>
          <p:nvPr/>
        </p:nvSpPr>
        <p:spPr>
          <a:xfrm>
            <a:off x="548640" y="2011680"/>
            <a:ext cx="5303520" cy="320040"/>
          </a:xfrm>
          <a:prstGeom prst="rect">
            <a:avLst/>
          </a:prstGeom>
          <a:noFill/>
          <a:ln/>
        </p:spPr>
        <p:txBody>
          <a:bodyPr wrap="square" lIns="0" tIns="0" rIns="0" bIns="0" rtlCol="0" anchor="ctr"/>
          <a:lstStyle/>
          <a:p>
            <a:pPr marL="0" indent="0">
              <a:buNone/>
            </a:pPr>
            <a:r>
              <a:rPr lang="en-US" sz="1400" b="1" dirty="0">
                <a:solidFill>
                  <a:schemeClr val="tx1"/>
                </a:solidFill>
              </a:rPr>
              <a:t>Valeurs « 0 » traitées comme manquantes (%)</a:t>
            </a:r>
            <a:endParaRPr lang="en-US" sz="1400" dirty="0"/>
          </a:p>
        </p:txBody>
      </p:sp>
      <p:graphicFrame>
        <p:nvGraphicFramePr>
          <p:cNvPr id="7" name="Chart 0"/>
          <p:cNvGraphicFramePr/>
          <p:nvPr/>
        </p:nvGraphicFramePr>
        <p:xfrm>
          <a:off x="548640" y="2377440"/>
          <a:ext cx="53035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8" name="Légende"/>
          <p:cNvSpPr txBox="1"/>
          <p:nvPr/>
        </p:nvSpPr>
        <p:spPr>
          <a:xfrm>
            <a:off x="548640" y="5623560"/>
            <a:ext cx="5303520" cy="548640"/>
          </a:xfrm>
          <a:prstGeom prst="rect">
            <a:avLst/>
          </a:prstGeom>
          <a:noFill/>
          <a:ln/>
        </p:spPr>
        <p:txBody>
          <a:bodyPr wrap="square" lIns="0" tIns="0" rIns="0" bIns="0" rtlCol="0" anchor="t"/>
          <a:lstStyle/>
          <a:p>
            <a:pPr marL="0" indent="0">
              <a:buNone/>
            </a:pPr>
            <a:r>
              <a:rPr lang="en-US" sz="1200" dirty="0">
                <a:solidFill>
                  <a:schemeClr val="tx2"/>
                </a:solidFill>
              </a:rPr>
              <a:t>On garde les 768 lignes : l'imputation se fait dans le Pipeline, sur l'entraînement seulement.</a:t>
            </a:r>
            <a:endParaRPr lang="en-US" sz="1200" dirty="0"/>
          </a:p>
        </p:txBody>
      </p:sp>
      <p:sp>
        <p:nvSpPr>
          <p:cNvPr id="9" name="Titre de graphique"/>
          <p:cNvSpPr txBox="1"/>
          <p:nvPr/>
        </p:nvSpPr>
        <p:spPr>
          <a:xfrm>
            <a:off x="6400800" y="2011680"/>
            <a:ext cx="5212080" cy="320040"/>
          </a:xfrm>
          <a:prstGeom prst="rect">
            <a:avLst/>
          </a:prstGeom>
          <a:noFill/>
          <a:ln/>
        </p:spPr>
        <p:txBody>
          <a:bodyPr wrap="square" lIns="0" tIns="0" rIns="0" bIns="0" rtlCol="0" anchor="ctr"/>
          <a:lstStyle/>
          <a:p>
            <a:pPr marL="0" indent="0">
              <a:buNone/>
            </a:pPr>
            <a:r>
              <a:rPr lang="en-US" sz="1400" b="1" dirty="0">
                <a:solidFill>
                  <a:schemeClr val="tx1"/>
                </a:solidFill>
              </a:rPr>
              <a:t>AUC sur le test selon le remplissage des manquants</a:t>
            </a:r>
            <a:endParaRPr lang="en-US" sz="1400" dirty="0"/>
          </a:p>
        </p:txBody>
      </p:sp>
      <p:graphicFrame>
        <p:nvGraphicFramePr>
          <p:cNvPr id="10" name="Chart 1"/>
          <p:cNvGraphicFramePr/>
          <p:nvPr/>
        </p:nvGraphicFramePr>
        <p:xfrm>
          <a:off x="6400800" y="2377440"/>
          <a:ext cx="521208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1" name="Légende"/>
          <p:cNvSpPr txBox="1"/>
          <p:nvPr/>
        </p:nvSpPr>
        <p:spPr>
          <a:xfrm>
            <a:off x="6400800" y="5623560"/>
            <a:ext cx="5212080" cy="548640"/>
          </a:xfrm>
          <a:prstGeom prst="rect">
            <a:avLst/>
          </a:prstGeom>
          <a:noFill/>
          <a:ln/>
        </p:spPr>
        <p:txBody>
          <a:bodyPr wrap="square" lIns="0" tIns="0" rIns="0" bIns="0" rtlCol="0" anchor="t"/>
          <a:lstStyle/>
          <a:p>
            <a:pPr marL="0" indent="0">
              <a:buNone/>
            </a:pPr>
            <a:r>
              <a:rPr lang="en-US" sz="1200" dirty="0">
                <a:solidFill>
                  <a:schemeClr val="tx2"/>
                </a:solidFill>
              </a:rPr>
              <a:t>Remplir selon l'étiquette gonfle l'AUC de 0,04 (axe à partir de 0,5 = hasard). Médiane, KNN et MICE donnent le même résultat (AUC 0,84).</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MÉTHODE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Seuils médicaux et sources ; R1 ne se déclenche jamais, R6 est une règle dérivée (non officielle).</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Six règles médicales, chacune sourcée</a:t>
            </a:r>
            <a:endParaRPr lang="en-US" sz="3400" dirty="0"/>
          </a:p>
        </p:txBody>
      </p:sp>
      <p:sp>
        <p:nvSpPr>
          <p:cNvPr id="6" name="Titre de graphique"/>
          <p:cNvSpPr txBox="1"/>
          <p:nvPr/>
        </p:nvSpPr>
        <p:spPr>
          <a:xfrm>
            <a:off x="548640" y="2011680"/>
            <a:ext cx="5120640" cy="320040"/>
          </a:xfrm>
          <a:prstGeom prst="rect">
            <a:avLst/>
          </a:prstGeom>
          <a:noFill/>
          <a:ln/>
        </p:spPr>
        <p:txBody>
          <a:bodyPr wrap="square" lIns="0" tIns="0" rIns="0" bIns="0" rtlCol="0" anchor="ctr"/>
          <a:lstStyle/>
          <a:p>
            <a:pPr marL="0" indent="0">
              <a:buNone/>
            </a:pPr>
            <a:r>
              <a:rPr lang="en-US" sz="1400" b="1" dirty="0">
                <a:solidFill>
                  <a:schemeClr val="tx1"/>
                </a:solidFill>
              </a:rPr>
              <a:t>Taux de diabète selon la règle (train)</a:t>
            </a:r>
            <a:endParaRPr lang="en-US" sz="1400" dirty="0"/>
          </a:p>
        </p:txBody>
      </p:sp>
      <p:graphicFrame>
        <p:nvGraphicFramePr>
          <p:cNvPr id="7" name="Chart 0"/>
          <p:cNvGraphicFramePr/>
          <p:nvPr/>
        </p:nvGraphicFramePr>
        <p:xfrm>
          <a:off x="548640" y="2377440"/>
          <a:ext cx="512064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au des règles"/>
          <p:cNvGraphicFramePr>
            <a:graphicFrameLocks noGrp="1"/>
          </p:cNvGraphicFramePr>
          <p:nvPr>
            <p:extLst>
              <p:ext uri="{D42A27DB-BD31-4B8C-83A1-F6EECF244321}">
                <p14:modId xmlns:p14="http://schemas.microsoft.com/office/powerpoint/2010/main" val="1579011935"/>
              </p:ext>
            </p:extLst>
          </p:nvPr>
        </p:nvGraphicFramePr>
        <p:xfrm>
          <a:off x="6126480" y="2011680"/>
          <a:ext cx="5486400" cy="3328416"/>
        </p:xfrm>
        <a:graphic>
          <a:graphicData uri="http://schemas.openxmlformats.org/drawingml/2006/table">
            <a:tbl>
              <a:tblPr/>
              <a:tblGrid>
                <a:gridCol w="6858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5B6470"/>
                          </a:solidFill>
                        </a:rPr>
                        <a:t>Règle</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Condition</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Source</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0E8F7E"/>
                          </a:solidFill>
                        </a:rPr>
                        <a:t>R1</a:t>
                      </a:r>
                      <a:endParaRPr lang="en-US" sz="12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101418"/>
                          </a:solidFill>
                        </a:rPr>
                        <a:t>Glycémie ≥ 200 mg/dL</a:t>
                      </a:r>
                      <a:endParaRPr lang="en-US" sz="12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5B6470"/>
                          </a:solidFill>
                        </a:rPr>
                        <a:t>ADA 2024 (max du jeu : 199)</a:t>
                      </a:r>
                      <a:endParaRPr lang="en-US" sz="12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0E8F7E"/>
                          </a:solidFill>
                        </a:rPr>
                        <a:t>R2</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101418"/>
                          </a:solidFill>
                        </a:rPr>
                        <a:t>Glycémie 140 à 199 mg/dL</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5B6470"/>
                          </a:solidFill>
                        </a:rPr>
                        <a:t>ADA 2024  ·  OMS 2006</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0E8F7E"/>
                          </a:solidFill>
                        </a:rPr>
                        <a:t>R3</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101418"/>
                          </a:solidFill>
                        </a:rPr>
                        <a:t>IMC ≥ 30</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5B6470"/>
                          </a:solidFill>
                        </a:rPr>
                        <a:t>OMS</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0E8F7E"/>
                          </a:solidFill>
                        </a:rPr>
                        <a:t>R4</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101418"/>
                          </a:solidFill>
                        </a:rPr>
                        <a:t>IMC ≥ 25 et âge ≥ 35 ans</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5B6470"/>
                          </a:solidFill>
                        </a:rPr>
                        <a:t>USPSTF 2021</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0E8F7E"/>
                          </a:solidFill>
                        </a:rPr>
                        <a:t>R5</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101418"/>
                          </a:solidFill>
                        </a:rPr>
                        <a:t>Pression diastolique ≥ 90</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5B6470"/>
                          </a:solidFill>
                        </a:rPr>
                        <a:t>ESC/ESH 2018</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0E8F7E"/>
                          </a:solidFill>
                        </a:rPr>
                        <a:t>R6</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101418"/>
                          </a:solidFill>
                        </a:rPr>
                        <a:t>Glycémie &lt; 140, IMC &lt; 25, âge &lt; 35</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200" dirty="0">
                          <a:solidFill>
                            <a:srgbClr val="5B6470"/>
                          </a:solidFill>
                        </a:rPr>
                        <a:t>Dérivée : USPSTF 2021 / ADA</a:t>
                      </a:r>
                      <a:endParaRPr lang="en-US" sz="12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RÉSULTATS</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Rappel et fausses alertes selon le seuil, mesurés sur des prédictions hors-pli du train (XGBoost).</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Le seuil se choisit sur le train</a:t>
            </a:r>
            <a:endParaRPr lang="en-US" sz="3400" dirty="0"/>
          </a:p>
        </p:txBody>
      </p:sp>
      <p:graphicFrame>
        <p:nvGraphicFramePr>
          <p:cNvPr id="6" name="Chart 0"/>
          <p:cNvGraphicFramePr/>
          <p:nvPr/>
        </p:nvGraphicFramePr>
        <p:xfrm>
          <a:off x="548640" y="201168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Chiffre clé"/>
          <p:cNvSpPr txBox="1"/>
          <p:nvPr/>
        </p:nvSpPr>
        <p:spPr>
          <a:xfrm>
            <a:off x="7863840" y="2103120"/>
            <a:ext cx="3749040" cy="731520"/>
          </a:xfrm>
          <a:prstGeom prst="rect">
            <a:avLst/>
          </a:prstGeom>
          <a:noFill/>
          <a:ln/>
        </p:spPr>
        <p:txBody>
          <a:bodyPr wrap="square" lIns="0" tIns="0" rIns="0" bIns="0" rtlCol="0" anchor="ctr"/>
          <a:lstStyle/>
          <a:p>
            <a:pPr marL="0" indent="0">
              <a:buNone/>
            </a:pPr>
            <a:r>
              <a:rPr lang="en-US" sz="4800" b="1" dirty="0">
                <a:solidFill>
                  <a:schemeClr val="accent1"/>
                </a:solidFill>
              </a:rPr>
              <a:t>17 → 6</a:t>
            </a:r>
            <a:endParaRPr lang="en-US" sz="4800" dirty="0"/>
          </a:p>
        </p:txBody>
      </p:sp>
      <p:sp>
        <p:nvSpPr>
          <p:cNvPr id="8" name="Libellé du chiffre"/>
          <p:cNvSpPr txBox="1"/>
          <p:nvPr/>
        </p:nvSpPr>
        <p:spPr>
          <a:xfrm>
            <a:off x="7863840" y="2852928"/>
            <a:ext cx="3749040" cy="502920"/>
          </a:xfrm>
          <a:prstGeom prst="rect">
            <a:avLst/>
          </a:prstGeom>
          <a:noFill/>
          <a:ln/>
        </p:spPr>
        <p:txBody>
          <a:bodyPr wrap="square" lIns="0" tIns="0" rIns="0" bIns="0" rtlCol="0" anchor="t"/>
          <a:lstStyle/>
          <a:p>
            <a:pPr marL="0" indent="0">
              <a:buNone/>
            </a:pPr>
            <a:r>
              <a:rPr lang="en-US" sz="1400" dirty="0">
                <a:solidFill>
                  <a:schemeClr val="tx2"/>
                </a:solidFill>
              </a:rPr>
              <a:t>malades ratées sur 54, au seuil 0,24 (XGBoost, test)</a:t>
            </a:r>
            <a:endParaRPr lang="en-US" sz="1400" dirty="0"/>
          </a:p>
        </p:txBody>
      </p:sp>
      <p:sp>
        <p:nvSpPr>
          <p:cNvPr id="9" name="Chiffre clé"/>
          <p:cNvSpPr txBox="1"/>
          <p:nvPr/>
        </p:nvSpPr>
        <p:spPr>
          <a:xfrm>
            <a:off x="7863840" y="3657600"/>
            <a:ext cx="3749040" cy="731520"/>
          </a:xfrm>
          <a:prstGeom prst="rect">
            <a:avLst/>
          </a:prstGeom>
          <a:noFill/>
          <a:ln/>
        </p:spPr>
        <p:txBody>
          <a:bodyPr wrap="square" lIns="0" tIns="0" rIns="0" bIns="0" rtlCol="0" anchor="ctr"/>
          <a:lstStyle/>
          <a:p>
            <a:pPr marL="0" indent="0">
              <a:buNone/>
            </a:pPr>
            <a:r>
              <a:rPr lang="en-US" sz="4800" b="1" dirty="0">
                <a:solidFill>
                  <a:schemeClr val="accent2"/>
                </a:solidFill>
              </a:rPr>
              <a:t>16 → 32</a:t>
            </a:r>
            <a:endParaRPr lang="en-US" sz="4800" dirty="0"/>
          </a:p>
        </p:txBody>
      </p:sp>
      <p:sp>
        <p:nvSpPr>
          <p:cNvPr id="10" name="Libellé du chiffre"/>
          <p:cNvSpPr txBox="1"/>
          <p:nvPr/>
        </p:nvSpPr>
        <p:spPr>
          <a:xfrm>
            <a:off x="7863840" y="4407408"/>
            <a:ext cx="3749040" cy="502920"/>
          </a:xfrm>
          <a:prstGeom prst="rect">
            <a:avLst/>
          </a:prstGeom>
          <a:noFill/>
          <a:ln/>
        </p:spPr>
        <p:txBody>
          <a:bodyPr wrap="square" lIns="0" tIns="0" rIns="0" bIns="0" rtlCol="0" anchor="t"/>
          <a:lstStyle/>
          <a:p>
            <a:pPr marL="0" indent="0">
              <a:buNone/>
            </a:pPr>
            <a:r>
              <a:rPr lang="en-US" sz="1400" dirty="0">
                <a:solidFill>
                  <a:schemeClr val="tx2"/>
                </a:solidFill>
              </a:rPr>
              <a:t>fausses alertes pour 100 non-malades : le prix du rappel</a:t>
            </a:r>
            <a:endParaRPr lang="en-US" sz="1400" dirty="0"/>
          </a:p>
        </p:txBody>
      </p:sp>
      <p:sp>
        <p:nvSpPr>
          <p:cNvPr id="11" name="Légende"/>
          <p:cNvSpPr txBox="1"/>
          <p:nvPr/>
        </p:nvSpPr>
        <p:spPr>
          <a:xfrm>
            <a:off x="7863840" y="5257800"/>
            <a:ext cx="3749040" cy="822960"/>
          </a:xfrm>
          <a:prstGeom prst="rect">
            <a:avLst/>
          </a:prstGeom>
          <a:noFill/>
          <a:ln/>
        </p:spPr>
        <p:txBody>
          <a:bodyPr wrap="square" lIns="0" tIns="0" rIns="0" bIns="0" rtlCol="0" anchor="t"/>
          <a:lstStyle/>
          <a:p>
            <a:pPr marL="0" indent="0">
              <a:buNone/>
            </a:pPr>
            <a:r>
              <a:rPr lang="en-US" sz="1200" dirty="0">
                <a:solidFill>
                  <a:schemeClr val="tx2"/>
                </a:solidFill>
              </a:rPr>
              <a:t>Cible : 80 % de rappel. Seuils retenus : 0,24 (XGBoost) et 0,29 (régression logistique). SMOTE n'apporte rien de plus à rappel égal (annexe).</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RÉSULTATS</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Variation d'AUC par rapport à la référence, validation croisée 5×5 sur 768 patientes, IC à 95 % (bootstrap apparié).</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Les règles n'améliorent pas l'AUC</a:t>
            </a:r>
            <a:endParaRPr lang="en-US" sz="3400" dirty="0"/>
          </a:p>
        </p:txBody>
      </p:sp>
      <p:sp>
        <p:nvSpPr>
          <p:cNvPr id="6" name="Axe zéro"/>
          <p:cNvSpPr/>
          <p:nvPr/>
        </p:nvSpPr>
        <p:spPr>
          <a:xfrm>
            <a:off x="4306824" y="2103120"/>
            <a:ext cx="0" cy="3246120"/>
          </a:xfrm>
          <a:prstGeom prst="line">
            <a:avLst/>
          </a:prstGeom>
          <a:noFill/>
          <a:ln w="12700">
            <a:solidFill>
              <a:srgbClr val="101418"/>
            </a:solidFill>
            <a:prstDash val="dash"/>
          </a:ln>
        </p:spPr>
        <p:txBody>
          <a:bodyPr/>
          <a:lstStyle/>
          <a:p>
            <a:endParaRPr lang="fr-FR"/>
          </a:p>
        </p:txBody>
      </p:sp>
      <p:sp>
        <p:nvSpPr>
          <p:cNvPr id="7" name="Libellé 1"/>
          <p:cNvSpPr txBox="1"/>
          <p:nvPr/>
        </p:nvSpPr>
        <p:spPr>
          <a:xfrm>
            <a:off x="548640" y="2240280"/>
            <a:ext cx="2423160" cy="365760"/>
          </a:xfrm>
          <a:prstGeom prst="rect">
            <a:avLst/>
          </a:prstGeom>
          <a:noFill/>
          <a:ln/>
        </p:spPr>
        <p:txBody>
          <a:bodyPr wrap="square" lIns="0" tIns="0" rIns="0" bIns="0" rtlCol="0" anchor="ctr"/>
          <a:lstStyle/>
          <a:p>
            <a:pPr marL="0" indent="0">
              <a:buNone/>
            </a:pPr>
            <a:r>
              <a:rPr lang="en-US" sz="1300" dirty="0">
                <a:solidFill>
                  <a:schemeClr val="tx1"/>
                </a:solidFill>
              </a:rPr>
              <a:t>Rég. log. · règles en entrée</a:t>
            </a:r>
            <a:endParaRPr lang="en-US" sz="1300" dirty="0"/>
          </a:p>
        </p:txBody>
      </p:sp>
      <p:sp>
        <p:nvSpPr>
          <p:cNvPr id="8" name="Intervalle 1"/>
          <p:cNvSpPr/>
          <p:nvPr/>
        </p:nvSpPr>
        <p:spPr>
          <a:xfrm>
            <a:off x="3197962" y="2423160"/>
            <a:ext cx="1720291" cy="0"/>
          </a:xfrm>
          <a:prstGeom prst="line">
            <a:avLst/>
          </a:prstGeom>
          <a:noFill/>
          <a:ln w="38100">
            <a:solidFill>
              <a:srgbClr val="AEB6BF"/>
            </a:solidFill>
            <a:prstDash val="solid"/>
          </a:ln>
        </p:spPr>
        <p:txBody>
          <a:bodyPr/>
          <a:lstStyle/>
          <a:p>
            <a:endParaRPr lang="fr-FR"/>
          </a:p>
        </p:txBody>
      </p:sp>
      <p:sp>
        <p:nvSpPr>
          <p:cNvPr id="9" name="Point 1"/>
          <p:cNvSpPr/>
          <p:nvPr/>
        </p:nvSpPr>
        <p:spPr>
          <a:xfrm>
            <a:off x="3974592" y="2350008"/>
            <a:ext cx="146304" cy="146304"/>
          </a:xfrm>
          <a:prstGeom prst="ellipse">
            <a:avLst/>
          </a:prstGeom>
          <a:solidFill>
            <a:srgbClr val="2B3440"/>
          </a:solidFill>
          <a:ln w="12700">
            <a:solidFill>
              <a:srgbClr val="2B3440"/>
            </a:solidFill>
            <a:prstDash val="solid"/>
          </a:ln>
        </p:spPr>
        <p:txBody>
          <a:bodyPr/>
          <a:lstStyle/>
          <a:p>
            <a:endParaRPr lang="fr-FR"/>
          </a:p>
        </p:txBody>
      </p:sp>
      <p:sp>
        <p:nvSpPr>
          <p:cNvPr id="10" name="Valeur 1"/>
          <p:cNvSpPr txBox="1"/>
          <p:nvPr/>
        </p:nvSpPr>
        <p:spPr>
          <a:xfrm>
            <a:off x="6355080" y="2240280"/>
            <a:ext cx="1005840" cy="365760"/>
          </a:xfrm>
          <a:prstGeom prst="rect">
            <a:avLst/>
          </a:prstGeom>
          <a:noFill/>
          <a:ln/>
        </p:spPr>
        <p:txBody>
          <a:bodyPr wrap="square" lIns="0" tIns="0" rIns="0" bIns="0" rtlCol="0" anchor="ctr"/>
          <a:lstStyle/>
          <a:p>
            <a:pPr marL="0" indent="0">
              <a:buNone/>
            </a:pPr>
            <a:r>
              <a:rPr lang="en-US" sz="1300" dirty="0">
                <a:solidFill>
                  <a:srgbClr val="5B6470"/>
                </a:solidFill>
              </a:rPr>
              <a:t>−0,0025</a:t>
            </a:r>
            <a:endParaRPr lang="en-US" sz="1300" dirty="0"/>
          </a:p>
        </p:txBody>
      </p:sp>
      <p:sp>
        <p:nvSpPr>
          <p:cNvPr id="11" name="Libellé 2"/>
          <p:cNvSpPr txBox="1"/>
          <p:nvPr/>
        </p:nvSpPr>
        <p:spPr>
          <a:xfrm>
            <a:off x="548640" y="2697480"/>
            <a:ext cx="2423160" cy="365760"/>
          </a:xfrm>
          <a:prstGeom prst="rect">
            <a:avLst/>
          </a:prstGeom>
          <a:noFill/>
          <a:ln/>
        </p:spPr>
        <p:txBody>
          <a:bodyPr wrap="square" lIns="0" tIns="0" rIns="0" bIns="0" rtlCol="0" anchor="ctr"/>
          <a:lstStyle/>
          <a:p>
            <a:pPr marL="0" indent="0">
              <a:buNone/>
            </a:pPr>
            <a:r>
              <a:rPr lang="en-US" sz="1300" dirty="0">
                <a:solidFill>
                  <a:schemeClr val="tx1"/>
                </a:solidFill>
              </a:rPr>
              <a:t>Rég. log. · règles en sortie</a:t>
            </a:r>
            <a:endParaRPr lang="en-US" sz="1300" dirty="0"/>
          </a:p>
        </p:txBody>
      </p:sp>
      <p:sp>
        <p:nvSpPr>
          <p:cNvPr id="12" name="Intervalle 2"/>
          <p:cNvSpPr/>
          <p:nvPr/>
        </p:nvSpPr>
        <p:spPr>
          <a:xfrm>
            <a:off x="4337914" y="2880360"/>
            <a:ext cx="269443" cy="0"/>
          </a:xfrm>
          <a:prstGeom prst="line">
            <a:avLst/>
          </a:prstGeom>
          <a:noFill/>
          <a:ln w="38100">
            <a:solidFill>
              <a:srgbClr val="0E8F7E"/>
            </a:solidFill>
            <a:prstDash val="solid"/>
          </a:ln>
        </p:spPr>
        <p:txBody>
          <a:bodyPr/>
          <a:lstStyle/>
          <a:p>
            <a:endParaRPr lang="fr-FR"/>
          </a:p>
        </p:txBody>
      </p:sp>
      <p:sp>
        <p:nvSpPr>
          <p:cNvPr id="13" name="Point 2"/>
          <p:cNvSpPr/>
          <p:nvPr/>
        </p:nvSpPr>
        <p:spPr>
          <a:xfrm>
            <a:off x="4368394" y="2807208"/>
            <a:ext cx="146304" cy="146304"/>
          </a:xfrm>
          <a:prstGeom prst="ellipse">
            <a:avLst/>
          </a:prstGeom>
          <a:solidFill>
            <a:srgbClr val="0E8F7E"/>
          </a:solidFill>
          <a:ln w="12700">
            <a:solidFill>
              <a:srgbClr val="0E8F7E"/>
            </a:solidFill>
            <a:prstDash val="solid"/>
          </a:ln>
        </p:spPr>
        <p:txBody>
          <a:bodyPr/>
          <a:lstStyle/>
          <a:p>
            <a:endParaRPr lang="fr-FR"/>
          </a:p>
        </p:txBody>
      </p:sp>
      <p:sp>
        <p:nvSpPr>
          <p:cNvPr id="14" name="Valeur 2"/>
          <p:cNvSpPr txBox="1"/>
          <p:nvPr/>
        </p:nvSpPr>
        <p:spPr>
          <a:xfrm>
            <a:off x="6355080" y="2697480"/>
            <a:ext cx="1005840" cy="365760"/>
          </a:xfrm>
          <a:prstGeom prst="rect">
            <a:avLst/>
          </a:prstGeom>
          <a:noFill/>
          <a:ln/>
        </p:spPr>
        <p:txBody>
          <a:bodyPr wrap="square" lIns="0" tIns="0" rIns="0" bIns="0" rtlCol="0" anchor="ctr"/>
          <a:lstStyle/>
          <a:p>
            <a:pPr marL="0" indent="0">
              <a:buNone/>
            </a:pPr>
            <a:r>
              <a:rPr lang="en-US" sz="1300" b="1" dirty="0">
                <a:solidFill>
                  <a:srgbClr val="0E8F7E"/>
                </a:solidFill>
              </a:rPr>
              <a:t>+0,0013</a:t>
            </a:r>
            <a:endParaRPr lang="en-US" sz="1300" dirty="0"/>
          </a:p>
        </p:txBody>
      </p:sp>
      <p:sp>
        <p:nvSpPr>
          <p:cNvPr id="15" name="Libellé 3"/>
          <p:cNvSpPr txBox="1"/>
          <p:nvPr/>
        </p:nvSpPr>
        <p:spPr>
          <a:xfrm>
            <a:off x="548640" y="3154680"/>
            <a:ext cx="2423160" cy="365760"/>
          </a:xfrm>
          <a:prstGeom prst="rect">
            <a:avLst/>
          </a:prstGeom>
          <a:noFill/>
          <a:ln/>
        </p:spPr>
        <p:txBody>
          <a:bodyPr wrap="square" lIns="0" tIns="0" rIns="0" bIns="0" rtlCol="0" anchor="ctr"/>
          <a:lstStyle/>
          <a:p>
            <a:pPr marL="0" indent="0">
              <a:buNone/>
            </a:pPr>
            <a:r>
              <a:rPr lang="en-US" sz="1300" dirty="0">
                <a:solidFill>
                  <a:schemeClr val="tx1"/>
                </a:solidFill>
              </a:rPr>
              <a:t>Rég. log. · complet</a:t>
            </a:r>
            <a:endParaRPr lang="en-US" sz="1300" dirty="0"/>
          </a:p>
        </p:txBody>
      </p:sp>
      <p:sp>
        <p:nvSpPr>
          <p:cNvPr id="16" name="Intervalle 3"/>
          <p:cNvSpPr/>
          <p:nvPr/>
        </p:nvSpPr>
        <p:spPr>
          <a:xfrm>
            <a:off x="3197962" y="3337560"/>
            <a:ext cx="1720291" cy="0"/>
          </a:xfrm>
          <a:prstGeom prst="line">
            <a:avLst/>
          </a:prstGeom>
          <a:noFill/>
          <a:ln w="38100">
            <a:solidFill>
              <a:srgbClr val="AEB6BF"/>
            </a:solidFill>
            <a:prstDash val="solid"/>
          </a:ln>
        </p:spPr>
        <p:txBody>
          <a:bodyPr/>
          <a:lstStyle/>
          <a:p>
            <a:endParaRPr lang="fr-FR"/>
          </a:p>
        </p:txBody>
      </p:sp>
      <p:sp>
        <p:nvSpPr>
          <p:cNvPr id="17" name="Point 3"/>
          <p:cNvSpPr/>
          <p:nvPr/>
        </p:nvSpPr>
        <p:spPr>
          <a:xfrm>
            <a:off x="3984955" y="3264408"/>
            <a:ext cx="146304" cy="146304"/>
          </a:xfrm>
          <a:prstGeom prst="ellipse">
            <a:avLst/>
          </a:prstGeom>
          <a:solidFill>
            <a:srgbClr val="2B3440"/>
          </a:solidFill>
          <a:ln w="12700">
            <a:solidFill>
              <a:srgbClr val="2B3440"/>
            </a:solidFill>
            <a:prstDash val="solid"/>
          </a:ln>
        </p:spPr>
        <p:txBody>
          <a:bodyPr/>
          <a:lstStyle/>
          <a:p>
            <a:endParaRPr lang="fr-FR"/>
          </a:p>
        </p:txBody>
      </p:sp>
      <p:sp>
        <p:nvSpPr>
          <p:cNvPr id="18" name="Valeur 3"/>
          <p:cNvSpPr txBox="1"/>
          <p:nvPr/>
        </p:nvSpPr>
        <p:spPr>
          <a:xfrm>
            <a:off x="6355080" y="3154680"/>
            <a:ext cx="1005840" cy="365760"/>
          </a:xfrm>
          <a:prstGeom prst="rect">
            <a:avLst/>
          </a:prstGeom>
          <a:noFill/>
          <a:ln/>
        </p:spPr>
        <p:txBody>
          <a:bodyPr wrap="square" lIns="0" tIns="0" rIns="0" bIns="0" rtlCol="0" anchor="ctr"/>
          <a:lstStyle/>
          <a:p>
            <a:pPr marL="0" indent="0">
              <a:buNone/>
            </a:pPr>
            <a:r>
              <a:rPr lang="en-US" sz="1300" dirty="0">
                <a:solidFill>
                  <a:srgbClr val="5B6470"/>
                </a:solidFill>
              </a:rPr>
              <a:t>−0,0024</a:t>
            </a:r>
            <a:endParaRPr lang="en-US" sz="1300" dirty="0"/>
          </a:p>
        </p:txBody>
      </p:sp>
      <p:sp>
        <p:nvSpPr>
          <p:cNvPr id="19" name="Libellé 4"/>
          <p:cNvSpPr txBox="1"/>
          <p:nvPr/>
        </p:nvSpPr>
        <p:spPr>
          <a:xfrm>
            <a:off x="548640" y="3611880"/>
            <a:ext cx="2423160" cy="365760"/>
          </a:xfrm>
          <a:prstGeom prst="rect">
            <a:avLst/>
          </a:prstGeom>
          <a:noFill/>
          <a:ln/>
        </p:spPr>
        <p:txBody>
          <a:bodyPr wrap="square" lIns="0" tIns="0" rIns="0" bIns="0" rtlCol="0" anchor="ctr"/>
          <a:lstStyle/>
          <a:p>
            <a:pPr marL="0" indent="0">
              <a:buNone/>
            </a:pPr>
            <a:r>
              <a:rPr lang="en-US" sz="1300" dirty="0">
                <a:solidFill>
                  <a:schemeClr val="tx1"/>
                </a:solidFill>
              </a:rPr>
              <a:t>XGBoost · règles en entrée</a:t>
            </a:r>
            <a:endParaRPr lang="en-US" sz="1300" dirty="0"/>
          </a:p>
        </p:txBody>
      </p:sp>
      <p:sp>
        <p:nvSpPr>
          <p:cNvPr id="20" name="Intervalle 4"/>
          <p:cNvSpPr/>
          <p:nvPr/>
        </p:nvSpPr>
        <p:spPr>
          <a:xfrm>
            <a:off x="4192829" y="3794760"/>
            <a:ext cx="632155" cy="0"/>
          </a:xfrm>
          <a:prstGeom prst="line">
            <a:avLst/>
          </a:prstGeom>
          <a:noFill/>
          <a:ln w="38100">
            <a:solidFill>
              <a:srgbClr val="AEB6BF"/>
            </a:solidFill>
            <a:prstDash val="solid"/>
          </a:ln>
        </p:spPr>
        <p:txBody>
          <a:bodyPr/>
          <a:lstStyle/>
          <a:p>
            <a:endParaRPr lang="fr-FR"/>
          </a:p>
        </p:txBody>
      </p:sp>
      <p:sp>
        <p:nvSpPr>
          <p:cNvPr id="21" name="Point 4"/>
          <p:cNvSpPr/>
          <p:nvPr/>
        </p:nvSpPr>
        <p:spPr>
          <a:xfrm>
            <a:off x="4451299" y="3721608"/>
            <a:ext cx="146304" cy="146304"/>
          </a:xfrm>
          <a:prstGeom prst="ellipse">
            <a:avLst/>
          </a:prstGeom>
          <a:solidFill>
            <a:srgbClr val="2B3440"/>
          </a:solidFill>
          <a:ln w="12700">
            <a:solidFill>
              <a:srgbClr val="2B3440"/>
            </a:solidFill>
            <a:prstDash val="solid"/>
          </a:ln>
        </p:spPr>
        <p:txBody>
          <a:bodyPr/>
          <a:lstStyle/>
          <a:p>
            <a:endParaRPr lang="fr-FR"/>
          </a:p>
        </p:txBody>
      </p:sp>
      <p:sp>
        <p:nvSpPr>
          <p:cNvPr id="22" name="Valeur 4"/>
          <p:cNvSpPr txBox="1"/>
          <p:nvPr/>
        </p:nvSpPr>
        <p:spPr>
          <a:xfrm>
            <a:off x="6355080" y="3611880"/>
            <a:ext cx="1005840" cy="365760"/>
          </a:xfrm>
          <a:prstGeom prst="rect">
            <a:avLst/>
          </a:prstGeom>
          <a:noFill/>
          <a:ln/>
        </p:spPr>
        <p:txBody>
          <a:bodyPr wrap="square" lIns="0" tIns="0" rIns="0" bIns="0" rtlCol="0" anchor="ctr"/>
          <a:lstStyle/>
          <a:p>
            <a:pPr marL="0" indent="0">
              <a:buNone/>
            </a:pPr>
            <a:r>
              <a:rPr lang="en-US" sz="1300" dirty="0">
                <a:solidFill>
                  <a:srgbClr val="5B6470"/>
                </a:solidFill>
              </a:rPr>
              <a:t>+0,0021</a:t>
            </a:r>
            <a:endParaRPr lang="en-US" sz="1300" dirty="0"/>
          </a:p>
        </p:txBody>
      </p:sp>
      <p:sp>
        <p:nvSpPr>
          <p:cNvPr id="23" name="Libellé 5"/>
          <p:cNvSpPr txBox="1"/>
          <p:nvPr/>
        </p:nvSpPr>
        <p:spPr>
          <a:xfrm>
            <a:off x="548640" y="4069080"/>
            <a:ext cx="2423160" cy="365760"/>
          </a:xfrm>
          <a:prstGeom prst="rect">
            <a:avLst/>
          </a:prstGeom>
          <a:noFill/>
          <a:ln/>
        </p:spPr>
        <p:txBody>
          <a:bodyPr wrap="square" lIns="0" tIns="0" rIns="0" bIns="0" rtlCol="0" anchor="ctr"/>
          <a:lstStyle/>
          <a:p>
            <a:pPr marL="0" indent="0">
              <a:buNone/>
            </a:pPr>
            <a:r>
              <a:rPr lang="en-US" sz="1300" dirty="0">
                <a:solidFill>
                  <a:schemeClr val="tx1"/>
                </a:solidFill>
              </a:rPr>
              <a:t>XGBoost · règles en sortie</a:t>
            </a:r>
            <a:endParaRPr lang="en-US" sz="1300" dirty="0"/>
          </a:p>
        </p:txBody>
      </p:sp>
      <p:sp>
        <p:nvSpPr>
          <p:cNvPr id="24" name="Intervalle 5"/>
          <p:cNvSpPr/>
          <p:nvPr/>
        </p:nvSpPr>
        <p:spPr>
          <a:xfrm>
            <a:off x="4306824" y="4251960"/>
            <a:ext cx="62179" cy="0"/>
          </a:xfrm>
          <a:prstGeom prst="line">
            <a:avLst/>
          </a:prstGeom>
          <a:noFill/>
          <a:ln w="38100">
            <a:solidFill>
              <a:srgbClr val="AEB6BF"/>
            </a:solidFill>
            <a:prstDash val="solid"/>
          </a:ln>
        </p:spPr>
        <p:txBody>
          <a:bodyPr/>
          <a:lstStyle/>
          <a:p>
            <a:endParaRPr lang="fr-FR"/>
          </a:p>
        </p:txBody>
      </p:sp>
      <p:sp>
        <p:nvSpPr>
          <p:cNvPr id="25" name="Point 5"/>
          <p:cNvSpPr/>
          <p:nvPr/>
        </p:nvSpPr>
        <p:spPr>
          <a:xfrm>
            <a:off x="4254398" y="4178808"/>
            <a:ext cx="146304" cy="146304"/>
          </a:xfrm>
          <a:prstGeom prst="ellipse">
            <a:avLst/>
          </a:prstGeom>
          <a:solidFill>
            <a:srgbClr val="2B3440"/>
          </a:solidFill>
          <a:ln w="12700">
            <a:solidFill>
              <a:srgbClr val="2B3440"/>
            </a:solidFill>
            <a:prstDash val="solid"/>
          </a:ln>
        </p:spPr>
        <p:txBody>
          <a:bodyPr/>
          <a:lstStyle/>
          <a:p>
            <a:endParaRPr lang="fr-FR"/>
          </a:p>
        </p:txBody>
      </p:sp>
      <p:sp>
        <p:nvSpPr>
          <p:cNvPr id="26" name="Valeur 5"/>
          <p:cNvSpPr txBox="1"/>
          <p:nvPr/>
        </p:nvSpPr>
        <p:spPr>
          <a:xfrm>
            <a:off x="6355080" y="4069080"/>
            <a:ext cx="1005840" cy="365760"/>
          </a:xfrm>
          <a:prstGeom prst="rect">
            <a:avLst/>
          </a:prstGeom>
          <a:noFill/>
          <a:ln/>
        </p:spPr>
        <p:txBody>
          <a:bodyPr wrap="square" lIns="0" tIns="0" rIns="0" bIns="0" rtlCol="0" anchor="ctr"/>
          <a:lstStyle/>
          <a:p>
            <a:pPr marL="0" indent="0">
              <a:buNone/>
            </a:pPr>
            <a:r>
              <a:rPr lang="en-US" sz="1300" dirty="0">
                <a:solidFill>
                  <a:srgbClr val="5B6470"/>
                </a:solidFill>
              </a:rPr>
              <a:t>+0,0002</a:t>
            </a:r>
            <a:endParaRPr lang="en-US" sz="1300" dirty="0"/>
          </a:p>
        </p:txBody>
      </p:sp>
      <p:sp>
        <p:nvSpPr>
          <p:cNvPr id="27" name="Libellé 6"/>
          <p:cNvSpPr txBox="1"/>
          <p:nvPr/>
        </p:nvSpPr>
        <p:spPr>
          <a:xfrm>
            <a:off x="548640" y="4526280"/>
            <a:ext cx="2423160" cy="365760"/>
          </a:xfrm>
          <a:prstGeom prst="rect">
            <a:avLst/>
          </a:prstGeom>
          <a:noFill/>
          <a:ln/>
        </p:spPr>
        <p:txBody>
          <a:bodyPr wrap="square" lIns="0" tIns="0" rIns="0" bIns="0" rtlCol="0" anchor="ctr"/>
          <a:lstStyle/>
          <a:p>
            <a:pPr marL="0" indent="0">
              <a:buNone/>
            </a:pPr>
            <a:r>
              <a:rPr lang="en-US" sz="1300" dirty="0">
                <a:solidFill>
                  <a:schemeClr val="tx1"/>
                </a:solidFill>
              </a:rPr>
              <a:t>XGBoost · complet</a:t>
            </a:r>
            <a:endParaRPr lang="en-US" sz="1300" dirty="0"/>
          </a:p>
        </p:txBody>
      </p:sp>
      <p:sp>
        <p:nvSpPr>
          <p:cNvPr id="28" name="Intervalle 6"/>
          <p:cNvSpPr/>
          <p:nvPr/>
        </p:nvSpPr>
        <p:spPr>
          <a:xfrm>
            <a:off x="4223918" y="4709160"/>
            <a:ext cx="621792" cy="0"/>
          </a:xfrm>
          <a:prstGeom prst="line">
            <a:avLst/>
          </a:prstGeom>
          <a:noFill/>
          <a:ln w="38100">
            <a:solidFill>
              <a:srgbClr val="AEB6BF"/>
            </a:solidFill>
            <a:prstDash val="solid"/>
          </a:ln>
        </p:spPr>
        <p:txBody>
          <a:bodyPr/>
          <a:lstStyle/>
          <a:p>
            <a:endParaRPr lang="fr-FR"/>
          </a:p>
        </p:txBody>
      </p:sp>
      <p:sp>
        <p:nvSpPr>
          <p:cNvPr id="29" name="Point 6"/>
          <p:cNvSpPr/>
          <p:nvPr/>
        </p:nvSpPr>
        <p:spPr>
          <a:xfrm>
            <a:off x="4482389" y="4636008"/>
            <a:ext cx="146304" cy="146304"/>
          </a:xfrm>
          <a:prstGeom prst="ellipse">
            <a:avLst/>
          </a:prstGeom>
          <a:solidFill>
            <a:srgbClr val="2B3440"/>
          </a:solidFill>
          <a:ln w="12700">
            <a:solidFill>
              <a:srgbClr val="2B3440"/>
            </a:solidFill>
            <a:prstDash val="solid"/>
          </a:ln>
        </p:spPr>
        <p:txBody>
          <a:bodyPr/>
          <a:lstStyle/>
          <a:p>
            <a:endParaRPr lang="fr-FR"/>
          </a:p>
        </p:txBody>
      </p:sp>
      <p:sp>
        <p:nvSpPr>
          <p:cNvPr id="30" name="Valeur 6"/>
          <p:cNvSpPr txBox="1"/>
          <p:nvPr/>
        </p:nvSpPr>
        <p:spPr>
          <a:xfrm>
            <a:off x="6355080" y="4526280"/>
            <a:ext cx="1005840" cy="365760"/>
          </a:xfrm>
          <a:prstGeom prst="rect">
            <a:avLst/>
          </a:prstGeom>
          <a:noFill/>
          <a:ln/>
        </p:spPr>
        <p:txBody>
          <a:bodyPr wrap="square" lIns="0" tIns="0" rIns="0" bIns="0" rtlCol="0" anchor="ctr"/>
          <a:lstStyle/>
          <a:p>
            <a:pPr marL="0" indent="0">
              <a:buNone/>
            </a:pPr>
            <a:r>
              <a:rPr lang="en-US" sz="1300" dirty="0">
                <a:solidFill>
                  <a:srgbClr val="5B6470"/>
                </a:solidFill>
              </a:rPr>
              <a:t>+0,0024</a:t>
            </a:r>
            <a:endParaRPr lang="en-US" sz="1300" dirty="0"/>
          </a:p>
        </p:txBody>
      </p:sp>
      <p:sp>
        <p:nvSpPr>
          <p:cNvPr id="31" name="Libellé 7"/>
          <p:cNvSpPr txBox="1"/>
          <p:nvPr/>
        </p:nvSpPr>
        <p:spPr>
          <a:xfrm>
            <a:off x="548640" y="4983480"/>
            <a:ext cx="2423160" cy="365760"/>
          </a:xfrm>
          <a:prstGeom prst="rect">
            <a:avLst/>
          </a:prstGeom>
          <a:noFill/>
          <a:ln/>
        </p:spPr>
        <p:txBody>
          <a:bodyPr wrap="square" lIns="0" tIns="0" rIns="0" bIns="0" rtlCol="0" anchor="ctr"/>
          <a:lstStyle/>
          <a:p>
            <a:pPr marL="0" indent="0">
              <a:buNone/>
            </a:pPr>
            <a:r>
              <a:rPr lang="en-US" sz="1300" dirty="0">
                <a:solidFill>
                  <a:schemeClr val="tx1"/>
                </a:solidFill>
              </a:rPr>
              <a:t>XGBoost monotone</a:t>
            </a:r>
            <a:endParaRPr lang="en-US" sz="1300" dirty="0"/>
          </a:p>
        </p:txBody>
      </p:sp>
      <p:sp>
        <p:nvSpPr>
          <p:cNvPr id="32" name="Intervalle 7"/>
          <p:cNvSpPr/>
          <p:nvPr/>
        </p:nvSpPr>
        <p:spPr>
          <a:xfrm>
            <a:off x="4493362" y="5166360"/>
            <a:ext cx="1481938" cy="0"/>
          </a:xfrm>
          <a:prstGeom prst="line">
            <a:avLst/>
          </a:prstGeom>
          <a:noFill/>
          <a:ln w="38100">
            <a:solidFill>
              <a:srgbClr val="0E8F7E"/>
            </a:solidFill>
            <a:prstDash val="solid"/>
          </a:ln>
        </p:spPr>
        <p:txBody>
          <a:bodyPr/>
          <a:lstStyle/>
          <a:p>
            <a:endParaRPr lang="fr-FR"/>
          </a:p>
        </p:txBody>
      </p:sp>
      <p:sp>
        <p:nvSpPr>
          <p:cNvPr id="33" name="Point 7"/>
          <p:cNvSpPr/>
          <p:nvPr/>
        </p:nvSpPr>
        <p:spPr>
          <a:xfrm>
            <a:off x="5124907" y="5093208"/>
            <a:ext cx="146304" cy="146304"/>
          </a:xfrm>
          <a:prstGeom prst="ellipse">
            <a:avLst/>
          </a:prstGeom>
          <a:solidFill>
            <a:srgbClr val="0E8F7E"/>
          </a:solidFill>
          <a:ln w="12700">
            <a:solidFill>
              <a:srgbClr val="0E8F7E"/>
            </a:solidFill>
            <a:prstDash val="solid"/>
          </a:ln>
        </p:spPr>
        <p:txBody>
          <a:bodyPr/>
          <a:lstStyle/>
          <a:p>
            <a:endParaRPr lang="fr-FR"/>
          </a:p>
        </p:txBody>
      </p:sp>
      <p:sp>
        <p:nvSpPr>
          <p:cNvPr id="34" name="Valeur 7"/>
          <p:cNvSpPr txBox="1"/>
          <p:nvPr/>
        </p:nvSpPr>
        <p:spPr>
          <a:xfrm>
            <a:off x="6355080" y="4983480"/>
            <a:ext cx="1005840" cy="365760"/>
          </a:xfrm>
          <a:prstGeom prst="rect">
            <a:avLst/>
          </a:prstGeom>
          <a:noFill/>
          <a:ln/>
        </p:spPr>
        <p:txBody>
          <a:bodyPr wrap="square" lIns="0" tIns="0" rIns="0" bIns="0" rtlCol="0" anchor="ctr"/>
          <a:lstStyle/>
          <a:p>
            <a:pPr marL="0" indent="0">
              <a:buNone/>
            </a:pPr>
            <a:r>
              <a:rPr lang="en-US" sz="1300" b="1" dirty="0">
                <a:solidFill>
                  <a:srgbClr val="0E8F7E"/>
                </a:solidFill>
              </a:rPr>
              <a:t>+0,0086</a:t>
            </a:r>
            <a:endParaRPr lang="en-US" sz="1300" dirty="0"/>
          </a:p>
        </p:txBody>
      </p:sp>
      <p:sp>
        <p:nvSpPr>
          <p:cNvPr id="35" name="Axe"/>
          <p:cNvSpPr/>
          <p:nvPr/>
        </p:nvSpPr>
        <p:spPr>
          <a:xfrm>
            <a:off x="3063240" y="5440680"/>
            <a:ext cx="3108960" cy="0"/>
          </a:xfrm>
          <a:prstGeom prst="line">
            <a:avLst/>
          </a:prstGeom>
          <a:noFill/>
          <a:ln w="9525">
            <a:solidFill>
              <a:srgbClr val="AEB6BF"/>
            </a:solidFill>
            <a:prstDash val="solid"/>
          </a:ln>
        </p:spPr>
        <p:txBody>
          <a:bodyPr/>
          <a:lstStyle/>
          <a:p>
            <a:endParaRPr lang="fr-FR"/>
          </a:p>
        </p:txBody>
      </p:sp>
      <p:sp>
        <p:nvSpPr>
          <p:cNvPr id="36" name="Graduation"/>
          <p:cNvSpPr txBox="1"/>
          <p:nvPr/>
        </p:nvSpPr>
        <p:spPr>
          <a:xfrm>
            <a:off x="2904744" y="5486400"/>
            <a:ext cx="731520" cy="274320"/>
          </a:xfrm>
          <a:prstGeom prst="rect">
            <a:avLst/>
          </a:prstGeom>
          <a:noFill/>
          <a:ln/>
        </p:spPr>
        <p:txBody>
          <a:bodyPr wrap="square" lIns="0" tIns="0" rIns="0" bIns="0" rtlCol="0" anchor="ctr"/>
          <a:lstStyle/>
          <a:p>
            <a:pPr marL="0" indent="0" algn="ctr">
              <a:buNone/>
            </a:pPr>
            <a:r>
              <a:rPr lang="en-US" sz="1200" dirty="0">
                <a:solidFill>
                  <a:schemeClr val="tx2"/>
                </a:solidFill>
              </a:rPr>
              <a:t>−0,01</a:t>
            </a:r>
            <a:endParaRPr lang="en-US" sz="1200" dirty="0"/>
          </a:p>
        </p:txBody>
      </p:sp>
      <p:sp>
        <p:nvSpPr>
          <p:cNvPr id="37" name="Graduation"/>
          <p:cNvSpPr txBox="1"/>
          <p:nvPr/>
        </p:nvSpPr>
        <p:spPr>
          <a:xfrm>
            <a:off x="3941064" y="5486400"/>
            <a:ext cx="731520" cy="274320"/>
          </a:xfrm>
          <a:prstGeom prst="rect">
            <a:avLst/>
          </a:prstGeom>
          <a:noFill/>
          <a:ln/>
        </p:spPr>
        <p:txBody>
          <a:bodyPr wrap="square" lIns="0" tIns="0" rIns="0" bIns="0" rtlCol="0" anchor="ctr"/>
          <a:lstStyle/>
          <a:p>
            <a:pPr marL="0" indent="0" algn="ctr">
              <a:buNone/>
            </a:pPr>
            <a:r>
              <a:rPr lang="en-US" sz="1200" dirty="0">
                <a:solidFill>
                  <a:schemeClr val="tx2"/>
                </a:solidFill>
              </a:rPr>
              <a:t>0</a:t>
            </a:r>
            <a:endParaRPr lang="en-US" sz="1200" dirty="0"/>
          </a:p>
        </p:txBody>
      </p:sp>
      <p:sp>
        <p:nvSpPr>
          <p:cNvPr id="38" name="Graduation"/>
          <p:cNvSpPr txBox="1"/>
          <p:nvPr/>
        </p:nvSpPr>
        <p:spPr>
          <a:xfrm>
            <a:off x="4977384" y="5486400"/>
            <a:ext cx="731520" cy="274320"/>
          </a:xfrm>
          <a:prstGeom prst="rect">
            <a:avLst/>
          </a:prstGeom>
          <a:noFill/>
          <a:ln/>
        </p:spPr>
        <p:txBody>
          <a:bodyPr wrap="square" lIns="0" tIns="0" rIns="0" bIns="0" rtlCol="0" anchor="ctr"/>
          <a:lstStyle/>
          <a:p>
            <a:pPr marL="0" indent="0" algn="ctr">
              <a:buNone/>
            </a:pPr>
            <a:r>
              <a:rPr lang="en-US" sz="1200" dirty="0">
                <a:solidFill>
                  <a:schemeClr val="tx2"/>
                </a:solidFill>
              </a:rPr>
              <a:t>+0,01</a:t>
            </a:r>
            <a:endParaRPr lang="en-US" sz="1200" dirty="0"/>
          </a:p>
        </p:txBody>
      </p:sp>
      <p:sp>
        <p:nvSpPr>
          <p:cNvPr id="39" name="Légende"/>
          <p:cNvSpPr txBox="1"/>
          <p:nvPr/>
        </p:nvSpPr>
        <p:spPr>
          <a:xfrm>
            <a:off x="548640" y="5852160"/>
            <a:ext cx="6949440" cy="502920"/>
          </a:xfrm>
          <a:prstGeom prst="rect">
            <a:avLst/>
          </a:prstGeom>
          <a:noFill/>
          <a:ln/>
        </p:spPr>
        <p:txBody>
          <a:bodyPr wrap="square" lIns="0" tIns="0" rIns="0" bIns="0" rtlCol="0" anchor="t"/>
          <a:lstStyle/>
          <a:p>
            <a:pPr marL="0" indent="0">
              <a:buNone/>
            </a:pPr>
            <a:r>
              <a:rPr lang="en-US" sz="1200" dirty="0">
                <a:solidFill>
                  <a:schemeClr val="tx2"/>
                </a:solidFill>
              </a:rPr>
              <a:t>Vert : l'intervalle ne contient pas 0. Les règles en sortie gagnent 0,001 d'AUC : sans portée pratique. « Monotone » : contrainte de monotonie sur la glycémie et l'IMC.</a:t>
            </a:r>
            <a:endParaRPr lang="en-US" sz="1200" dirty="0"/>
          </a:p>
        </p:txBody>
      </p:sp>
      <p:sp>
        <p:nvSpPr>
          <p:cNvPr id="40" name="Titre de graphique"/>
          <p:cNvSpPr txBox="1"/>
          <p:nvPr/>
        </p:nvSpPr>
        <p:spPr>
          <a:xfrm>
            <a:off x="7863840" y="2011680"/>
            <a:ext cx="3749040" cy="320040"/>
          </a:xfrm>
          <a:prstGeom prst="rect">
            <a:avLst/>
          </a:prstGeom>
          <a:noFill/>
          <a:ln/>
        </p:spPr>
        <p:txBody>
          <a:bodyPr wrap="square" lIns="0" tIns="0" rIns="0" bIns="0" rtlCol="0" anchor="ctr"/>
          <a:lstStyle/>
          <a:p>
            <a:pPr marL="0" indent="0">
              <a:buNone/>
            </a:pPr>
            <a:r>
              <a:rPr lang="en-US" sz="1400" b="1" dirty="0">
                <a:solidFill>
                  <a:schemeClr val="tx1"/>
                </a:solidFill>
              </a:rPr>
              <a:t>Le test seul trompe</a:t>
            </a:r>
            <a:endParaRPr lang="en-US" sz="1400" dirty="0"/>
          </a:p>
        </p:txBody>
      </p:sp>
      <p:graphicFrame>
        <p:nvGraphicFramePr>
          <p:cNvPr id="41" name="Chart 0"/>
          <p:cNvGraphicFramePr/>
          <p:nvPr/>
        </p:nvGraphicFramePr>
        <p:xfrm>
          <a:off x="7772400" y="2331720"/>
          <a:ext cx="39319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42" name="Légende"/>
          <p:cNvSpPr txBox="1"/>
          <p:nvPr/>
        </p:nvSpPr>
        <p:spPr>
          <a:xfrm>
            <a:off x="7863840" y="5623560"/>
            <a:ext cx="3749040" cy="457200"/>
          </a:xfrm>
          <a:prstGeom prst="rect">
            <a:avLst/>
          </a:prstGeom>
          <a:noFill/>
          <a:ln/>
        </p:spPr>
        <p:txBody>
          <a:bodyPr wrap="square" lIns="0" tIns="0" rIns="0" bIns="0" rtlCol="0" anchor="t"/>
          <a:lstStyle/>
          <a:p>
            <a:pPr marL="0" indent="0">
              <a:buNone/>
            </a:pPr>
            <a:r>
              <a:rPr lang="en-US" sz="1200" dirty="0">
                <a:solidFill>
                  <a:schemeClr val="tx2"/>
                </a:solidFill>
              </a:rPr>
              <a:t>Effet des règles en entrée (ΔAUC) : le signe s'inverse.</a:t>
            </a:r>
            <a:endParaRPr lang="en-US" sz="1200" dirty="0"/>
          </a:p>
        </p:txBody>
      </p:sp>
      <p:sp>
        <p:nvSpPr>
          <p:cNvPr id="4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RÉSULTATS</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Les connaissances médicales protègent là où les données ne disent rien : hors du jeu et sur la forme du modèle.</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Là où les règles servent vraiment</a:t>
            </a:r>
            <a:endParaRPr lang="en-US" sz="3400" dirty="0"/>
          </a:p>
        </p:txBody>
      </p:sp>
      <p:sp>
        <p:nvSpPr>
          <p:cNvPr id="6" name="Titre de graphique"/>
          <p:cNvSpPr txBox="1"/>
          <p:nvPr/>
        </p:nvSpPr>
        <p:spPr>
          <a:xfrm>
            <a:off x="548640" y="2011680"/>
            <a:ext cx="5303520" cy="320040"/>
          </a:xfrm>
          <a:prstGeom prst="rect">
            <a:avLst/>
          </a:prstGeom>
          <a:noFill/>
          <a:ln/>
        </p:spPr>
        <p:txBody>
          <a:bodyPr wrap="square" lIns="0" tIns="0" rIns="0" bIns="0" rtlCol="0" anchor="ctr"/>
          <a:lstStyle/>
          <a:p>
            <a:pPr marL="0" indent="0">
              <a:buNone/>
            </a:pPr>
            <a:r>
              <a:rPr lang="en-US" sz="1400" b="1" dirty="0">
                <a:solidFill>
                  <a:schemeClr val="tx1"/>
                </a:solidFill>
              </a:rPr>
              <a:t>Risque prédit pour une glycémie de 250 mg/dL</a:t>
            </a:r>
            <a:endParaRPr lang="en-US" sz="1400" dirty="0"/>
          </a:p>
        </p:txBody>
      </p:sp>
      <p:graphicFrame>
        <p:nvGraphicFramePr>
          <p:cNvPr id="7" name="Chart 0"/>
          <p:cNvGraphicFramePr/>
          <p:nvPr/>
        </p:nvGraphicFramePr>
        <p:xfrm>
          <a:off x="548640" y="2331720"/>
          <a:ext cx="53035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Légende"/>
          <p:cNvSpPr txBox="1"/>
          <p:nvPr/>
        </p:nvSpPr>
        <p:spPr>
          <a:xfrm>
            <a:off x="548640" y="5623560"/>
            <a:ext cx="5303520" cy="548640"/>
          </a:xfrm>
          <a:prstGeom prst="rect">
            <a:avLst/>
          </a:prstGeom>
          <a:noFill/>
          <a:ln/>
        </p:spPr>
        <p:txBody>
          <a:bodyPr wrap="square" lIns="0" tIns="0" rIns="0" bIns="0" rtlCol="0" anchor="t"/>
          <a:lstStyle/>
          <a:p>
            <a:pPr marL="0" indent="0">
              <a:buNone/>
            </a:pPr>
            <a:r>
              <a:rPr lang="en-US" sz="1200" dirty="0">
                <a:solidFill>
                  <a:schemeClr val="tx2"/>
                </a:solidFill>
              </a:rPr>
              <a:t>Patiente fictive de 25 ans, IMC 23 : hors du jeu (max 199). Les arbres ne savent pas extrapoler.</a:t>
            </a:r>
            <a:endParaRPr lang="en-US" sz="1200" dirty="0"/>
          </a:p>
        </p:txBody>
      </p:sp>
      <p:sp>
        <p:nvSpPr>
          <p:cNvPr id="9" name="Titre de graphique"/>
          <p:cNvSpPr txBox="1"/>
          <p:nvPr/>
        </p:nvSpPr>
        <p:spPr>
          <a:xfrm>
            <a:off x="6400800" y="2011680"/>
            <a:ext cx="5212080" cy="320040"/>
          </a:xfrm>
          <a:prstGeom prst="rect">
            <a:avLst/>
          </a:prstGeom>
          <a:noFill/>
          <a:ln/>
        </p:spPr>
        <p:txBody>
          <a:bodyPr wrap="square" lIns="0" tIns="0" rIns="0" bIns="0" rtlCol="0" anchor="ctr"/>
          <a:lstStyle/>
          <a:p>
            <a:pPr marL="0" indent="0">
              <a:buNone/>
            </a:pPr>
            <a:r>
              <a:rPr lang="en-US" sz="1400" b="1" dirty="0">
                <a:solidFill>
                  <a:schemeClr val="tx1"/>
                </a:solidFill>
              </a:rPr>
              <a:t>Le risque baisse alors que la mesure augmente (%)</a:t>
            </a:r>
            <a:endParaRPr lang="en-US" sz="1400" dirty="0"/>
          </a:p>
        </p:txBody>
      </p:sp>
      <p:graphicFrame>
        <p:nvGraphicFramePr>
          <p:cNvPr id="10" name="Chart 1"/>
          <p:cNvGraphicFramePr/>
          <p:nvPr/>
        </p:nvGraphicFramePr>
        <p:xfrm>
          <a:off x="6400800" y="2331720"/>
          <a:ext cx="521208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Légende"/>
          <p:cNvSpPr txBox="1"/>
          <p:nvPr/>
        </p:nvSpPr>
        <p:spPr>
          <a:xfrm>
            <a:off x="6400800" y="5623560"/>
            <a:ext cx="5212080" cy="548640"/>
          </a:xfrm>
          <a:prstGeom prst="rect">
            <a:avLst/>
          </a:prstGeom>
          <a:noFill/>
          <a:ln/>
        </p:spPr>
        <p:txBody>
          <a:bodyPr wrap="square" lIns="0" tIns="0" rIns="0" bIns="0" rtlCol="0" anchor="t"/>
          <a:lstStyle/>
          <a:p>
            <a:pPr marL="0" indent="0">
              <a:buNone/>
            </a:pPr>
            <a:r>
              <a:rPr lang="en-US" sz="1200" dirty="0">
                <a:solidFill>
                  <a:schemeClr val="tx2"/>
                </a:solidFill>
              </a:rPr>
              <a:t>Part des patientes dont le risque baisse. Une contrainte de monotonie sur XGBoost la réduit et gagne +0,009 d'AUC.</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RÉSULTATS</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Fréquence observée de diabète par classe de probabilité prédite, sur les 768 patientes (prédictions hors-pli).</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Calibration : XGBoost trop sûr de lui</a:t>
            </a:r>
            <a:endParaRPr lang="en-US" sz="3400" dirty="0"/>
          </a:p>
        </p:txBody>
      </p:sp>
      <p:sp>
        <p:nvSpPr>
          <p:cNvPr id="6" name="Chiffre clé"/>
          <p:cNvSpPr txBox="1"/>
          <p:nvPr/>
        </p:nvSpPr>
        <p:spPr>
          <a:xfrm>
            <a:off x="548640" y="2011680"/>
            <a:ext cx="2651760" cy="731520"/>
          </a:xfrm>
          <a:prstGeom prst="rect">
            <a:avLst/>
          </a:prstGeom>
          <a:noFill/>
          <a:ln/>
        </p:spPr>
        <p:txBody>
          <a:bodyPr wrap="square" lIns="0" tIns="0" rIns="0" bIns="0" rtlCol="0" anchor="ctr"/>
          <a:lstStyle/>
          <a:p>
            <a:pPr marL="0" indent="0">
              <a:buNone/>
            </a:pPr>
            <a:r>
              <a:rPr lang="en-US" sz="4000" b="1" dirty="0">
                <a:solidFill>
                  <a:schemeClr val="tx1"/>
                </a:solidFill>
              </a:rPr>
              <a:t>0,036</a:t>
            </a:r>
            <a:endParaRPr lang="en-US" sz="4000" dirty="0"/>
          </a:p>
        </p:txBody>
      </p:sp>
      <p:sp>
        <p:nvSpPr>
          <p:cNvPr id="7" name="Libellé du chiffre"/>
          <p:cNvSpPr txBox="1"/>
          <p:nvPr/>
        </p:nvSpPr>
        <p:spPr>
          <a:xfrm>
            <a:off x="548640" y="2761488"/>
            <a:ext cx="2651760" cy="502920"/>
          </a:xfrm>
          <a:prstGeom prst="rect">
            <a:avLst/>
          </a:prstGeom>
          <a:noFill/>
          <a:ln/>
        </p:spPr>
        <p:txBody>
          <a:bodyPr wrap="square" lIns="0" tIns="0" rIns="0" bIns="0" rtlCol="0" anchor="t"/>
          <a:lstStyle/>
          <a:p>
            <a:pPr marL="0" indent="0">
              <a:buNone/>
            </a:pPr>
            <a:r>
              <a:rPr lang="en-US" sz="1400" dirty="0">
                <a:solidFill>
                  <a:schemeClr val="tx2"/>
                </a:solidFill>
              </a:rPr>
              <a:t>ECE, régression logistique</a:t>
            </a:r>
            <a:endParaRPr lang="en-US" sz="1400" dirty="0"/>
          </a:p>
        </p:txBody>
      </p:sp>
      <p:sp>
        <p:nvSpPr>
          <p:cNvPr id="8" name="Chiffre clé"/>
          <p:cNvSpPr txBox="1"/>
          <p:nvPr/>
        </p:nvSpPr>
        <p:spPr>
          <a:xfrm>
            <a:off x="548640" y="3429000"/>
            <a:ext cx="2651760" cy="731520"/>
          </a:xfrm>
          <a:prstGeom prst="rect">
            <a:avLst/>
          </a:prstGeom>
          <a:noFill/>
          <a:ln/>
        </p:spPr>
        <p:txBody>
          <a:bodyPr wrap="square" lIns="0" tIns="0" rIns="0" bIns="0" rtlCol="0" anchor="ctr"/>
          <a:lstStyle/>
          <a:p>
            <a:pPr marL="0" indent="0">
              <a:buNone/>
            </a:pPr>
            <a:r>
              <a:rPr lang="en-US" sz="4000" b="1" dirty="0">
                <a:solidFill>
                  <a:schemeClr val="accent2"/>
                </a:solidFill>
              </a:rPr>
              <a:t>0,061</a:t>
            </a:r>
            <a:endParaRPr lang="en-US" sz="4000" dirty="0"/>
          </a:p>
        </p:txBody>
      </p:sp>
      <p:sp>
        <p:nvSpPr>
          <p:cNvPr id="9" name="Libellé du chiffre"/>
          <p:cNvSpPr txBox="1"/>
          <p:nvPr/>
        </p:nvSpPr>
        <p:spPr>
          <a:xfrm>
            <a:off x="548640" y="4178808"/>
            <a:ext cx="2651760" cy="502920"/>
          </a:xfrm>
          <a:prstGeom prst="rect">
            <a:avLst/>
          </a:prstGeom>
          <a:noFill/>
          <a:ln/>
        </p:spPr>
        <p:txBody>
          <a:bodyPr wrap="square" lIns="0" tIns="0" rIns="0" bIns="0" rtlCol="0" anchor="t"/>
          <a:lstStyle/>
          <a:p>
            <a:pPr marL="0" indent="0">
              <a:buNone/>
            </a:pPr>
            <a:r>
              <a:rPr lang="en-US" sz="1400" dirty="0">
                <a:solidFill>
                  <a:schemeClr val="tx2"/>
                </a:solidFill>
              </a:rPr>
              <a:t>ECE, XGBoost</a:t>
            </a:r>
            <a:endParaRPr lang="en-US" sz="1400" dirty="0"/>
          </a:p>
        </p:txBody>
      </p:sp>
      <p:sp>
        <p:nvSpPr>
          <p:cNvPr id="10" name="Chiffre clé"/>
          <p:cNvSpPr txBox="1"/>
          <p:nvPr/>
        </p:nvSpPr>
        <p:spPr>
          <a:xfrm>
            <a:off x="548640" y="4846320"/>
            <a:ext cx="2651760" cy="731520"/>
          </a:xfrm>
          <a:prstGeom prst="rect">
            <a:avLst/>
          </a:prstGeom>
          <a:noFill/>
          <a:ln/>
        </p:spPr>
        <p:txBody>
          <a:bodyPr wrap="square" lIns="0" tIns="0" rIns="0" bIns="0" rtlCol="0" anchor="ctr"/>
          <a:lstStyle/>
          <a:p>
            <a:pPr marL="0" indent="0">
              <a:buNone/>
            </a:pPr>
            <a:r>
              <a:rPr lang="en-US" sz="4000" b="1" dirty="0">
                <a:solidFill>
                  <a:schemeClr val="accent1"/>
                </a:solidFill>
              </a:rPr>
              <a:t>0,032</a:t>
            </a:r>
            <a:endParaRPr lang="en-US" sz="4000" dirty="0"/>
          </a:p>
        </p:txBody>
      </p:sp>
      <p:sp>
        <p:nvSpPr>
          <p:cNvPr id="11" name="Libellé du chiffre"/>
          <p:cNvSpPr txBox="1"/>
          <p:nvPr/>
        </p:nvSpPr>
        <p:spPr>
          <a:xfrm>
            <a:off x="548640" y="5596128"/>
            <a:ext cx="2651760" cy="502920"/>
          </a:xfrm>
          <a:prstGeom prst="rect">
            <a:avLst/>
          </a:prstGeom>
          <a:noFill/>
          <a:ln/>
        </p:spPr>
        <p:txBody>
          <a:bodyPr wrap="square" lIns="0" tIns="0" rIns="0" bIns="0" rtlCol="0" anchor="t"/>
          <a:lstStyle/>
          <a:p>
            <a:pPr marL="0" indent="0">
              <a:buNone/>
            </a:pPr>
            <a:r>
              <a:rPr lang="en-US" sz="1400" dirty="0">
                <a:solidFill>
                  <a:schemeClr val="tx2"/>
                </a:solidFill>
              </a:rPr>
              <a:t>ECE, XGBoost après recalibration par température</a:t>
            </a:r>
            <a:endParaRPr lang="en-US" sz="1400" dirty="0"/>
          </a:p>
        </p:txBody>
      </p:sp>
      <p:sp>
        <p:nvSpPr>
          <p:cNvPr id="12" name="Titre de graphique"/>
          <p:cNvSpPr txBox="1"/>
          <p:nvPr/>
        </p:nvSpPr>
        <p:spPr>
          <a:xfrm>
            <a:off x="3611880" y="2011680"/>
            <a:ext cx="3931920" cy="320040"/>
          </a:xfrm>
          <a:prstGeom prst="rect">
            <a:avLst/>
          </a:prstGeom>
          <a:noFill/>
          <a:ln/>
        </p:spPr>
        <p:txBody>
          <a:bodyPr wrap="square" lIns="0" tIns="0" rIns="0" bIns="0" rtlCol="0" anchor="ctr"/>
          <a:lstStyle/>
          <a:p>
            <a:pPr marL="0" indent="0">
              <a:buNone/>
            </a:pPr>
            <a:r>
              <a:rPr lang="en-US" sz="1400" b="1" dirty="0">
                <a:solidFill>
                  <a:schemeClr val="tx1"/>
                </a:solidFill>
              </a:rPr>
              <a:t>Régression logistique</a:t>
            </a:r>
            <a:endParaRPr lang="en-US" sz="1400" dirty="0"/>
          </a:p>
        </p:txBody>
      </p:sp>
      <p:graphicFrame>
        <p:nvGraphicFramePr>
          <p:cNvPr id="13" name="Chart 0"/>
          <p:cNvGraphicFramePr/>
          <p:nvPr/>
        </p:nvGraphicFramePr>
        <p:xfrm>
          <a:off x="3566160" y="2331720"/>
          <a:ext cx="39776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itre de graphique"/>
          <p:cNvSpPr txBox="1"/>
          <p:nvPr/>
        </p:nvSpPr>
        <p:spPr>
          <a:xfrm>
            <a:off x="7726680" y="2011680"/>
            <a:ext cx="3931920" cy="320040"/>
          </a:xfrm>
          <a:prstGeom prst="rect">
            <a:avLst/>
          </a:prstGeom>
          <a:noFill/>
          <a:ln/>
        </p:spPr>
        <p:txBody>
          <a:bodyPr wrap="square" lIns="0" tIns="0" rIns="0" bIns="0" rtlCol="0" anchor="ctr"/>
          <a:lstStyle/>
          <a:p>
            <a:pPr marL="0" indent="0">
              <a:buNone/>
            </a:pPr>
            <a:r>
              <a:rPr lang="en-US" sz="1400" b="1" dirty="0">
                <a:solidFill>
                  <a:schemeClr val="tx1"/>
                </a:solidFill>
              </a:rPr>
              <a:t>XGBoost</a:t>
            </a:r>
            <a:endParaRPr lang="en-US" sz="1400" dirty="0"/>
          </a:p>
        </p:txBody>
      </p:sp>
      <p:graphicFrame>
        <p:nvGraphicFramePr>
          <p:cNvPr id="15" name="Chart 1"/>
          <p:cNvGraphicFramePr/>
          <p:nvPr/>
        </p:nvGraphicFramePr>
        <p:xfrm>
          <a:off x="7680960" y="2331720"/>
          <a:ext cx="397764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Légende"/>
          <p:cNvSpPr txBox="1"/>
          <p:nvPr/>
        </p:nvSpPr>
        <p:spPr>
          <a:xfrm>
            <a:off x="3566160" y="5852160"/>
            <a:ext cx="8046720" cy="457200"/>
          </a:xfrm>
          <a:prstGeom prst="rect">
            <a:avLst/>
          </a:prstGeom>
          <a:noFill/>
          <a:ln/>
        </p:spPr>
        <p:txBody>
          <a:bodyPr wrap="square" lIns="0" tIns="0" rIns="0" bIns="0" rtlCol="0" anchor="t"/>
          <a:lstStyle/>
          <a:p>
            <a:pPr marL="0" indent="0">
              <a:buNone/>
            </a:pPr>
            <a:r>
              <a:rPr lang="en-US" sz="1200" dirty="0">
                <a:solidFill>
                  <a:schemeClr val="tx2"/>
                </a:solidFill>
              </a:rPr>
              <a:t>Les règles ne modifient pas la calibration (ECE 0,036 → 0,036 et 0,061 → 0,059). Si l'on recalibre XGBoost, il faut re-choisir son seuil.</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RÉSULTATS</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Une même sortie réunit ce qui pousse le risque (SHAP) et les règles déclenchées, avec leurs sources.</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Expliquer : SHAP et règles, ensemble</a:t>
            </a:r>
            <a:endParaRPr lang="en-US" sz="3400" dirty="0"/>
          </a:p>
        </p:txBody>
      </p:sp>
      <p:sp>
        <p:nvSpPr>
          <p:cNvPr id="6" name="Titre de graphique"/>
          <p:cNvSpPr txBox="1"/>
          <p:nvPr/>
        </p:nvSpPr>
        <p:spPr>
          <a:xfrm>
            <a:off x="548640" y="2011680"/>
            <a:ext cx="6035040" cy="320040"/>
          </a:xfrm>
          <a:prstGeom prst="rect">
            <a:avLst/>
          </a:prstGeom>
          <a:noFill/>
          <a:ln/>
        </p:spPr>
        <p:txBody>
          <a:bodyPr wrap="square" lIns="0" tIns="0" rIns="0" bIns="0" rtlCol="0" anchor="ctr"/>
          <a:lstStyle/>
          <a:p>
            <a:pPr marL="0" indent="0">
              <a:buNone/>
            </a:pPr>
            <a:r>
              <a:rPr lang="en-US" sz="1400" b="1" dirty="0">
                <a:solidFill>
                  <a:schemeClr val="tx1"/>
                </a:solidFill>
              </a:rPr>
              <a:t>Contributions SHAP (log-odds) · patiente à risque élevé</a:t>
            </a:r>
            <a:endParaRPr lang="en-US" sz="1400" dirty="0"/>
          </a:p>
        </p:txBody>
      </p:sp>
      <p:graphicFrame>
        <p:nvGraphicFramePr>
          <p:cNvPr id="7" name="Chart 0"/>
          <p:cNvGraphicFramePr/>
          <p:nvPr/>
        </p:nvGraphicFramePr>
        <p:xfrm>
          <a:off x="548640" y="2331720"/>
          <a:ext cx="60350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8" name="Légende"/>
          <p:cNvSpPr txBox="1"/>
          <p:nvPr/>
        </p:nvSpPr>
        <p:spPr>
          <a:xfrm>
            <a:off x="548640" y="5760720"/>
            <a:ext cx="6035040" cy="457200"/>
          </a:xfrm>
          <a:prstGeom prst="rect">
            <a:avLst/>
          </a:prstGeom>
          <a:noFill/>
          <a:ln/>
        </p:spPr>
        <p:txBody>
          <a:bodyPr wrap="square" lIns="0" tIns="0" rIns="0" bIns="0" rtlCol="0" anchor="t"/>
          <a:lstStyle/>
          <a:p>
            <a:pPr marL="0" indent="0">
              <a:buNone/>
            </a:pPr>
            <a:r>
              <a:rPr lang="en-US" sz="1200" dirty="0">
                <a:solidFill>
                  <a:schemeClr val="tx2"/>
                </a:solidFill>
              </a:rPr>
              <a:t>Rouge : augmente le risque. Gris : le diminue. Somme exacte des contributions = log-odds du modèle (écart 1e-15).</a:t>
            </a:r>
            <a:endParaRPr lang="en-US" sz="1200" dirty="0"/>
          </a:p>
        </p:txBody>
      </p:sp>
      <p:sp>
        <p:nvSpPr>
          <p:cNvPr id="9" name="Carte explication"/>
          <p:cNvSpPr/>
          <p:nvPr/>
        </p:nvSpPr>
        <p:spPr>
          <a:xfrm>
            <a:off x="6949440" y="2011680"/>
            <a:ext cx="4663440" cy="4160520"/>
          </a:xfrm>
          <a:prstGeom prst="roundRect">
            <a:avLst>
              <a:gd name="adj" fmla="val 1758"/>
            </a:avLst>
          </a:prstGeom>
          <a:solidFill>
            <a:schemeClr val="bg2"/>
          </a:solidFill>
          <a:ln w="12700">
            <a:solidFill>
              <a:schemeClr val="bg2"/>
            </a:solidFill>
            <a:prstDash val="solid"/>
          </a:ln>
        </p:spPr>
        <p:txBody>
          <a:bodyPr/>
          <a:lstStyle/>
          <a:p>
            <a:endParaRPr lang="fr-FR"/>
          </a:p>
        </p:txBody>
      </p:sp>
      <p:sp>
        <p:nvSpPr>
          <p:cNvPr id="10" name="Titre de carte"/>
          <p:cNvSpPr txBox="1"/>
          <p:nvPr/>
        </p:nvSpPr>
        <p:spPr>
          <a:xfrm>
            <a:off x="7223760" y="2176272"/>
            <a:ext cx="4206240" cy="320040"/>
          </a:xfrm>
          <a:prstGeom prst="rect">
            <a:avLst/>
          </a:prstGeom>
          <a:noFill/>
          <a:ln/>
        </p:spPr>
        <p:txBody>
          <a:bodyPr wrap="square" lIns="0" tIns="0" rIns="0" bIns="0" rtlCol="0" anchor="ctr"/>
          <a:lstStyle/>
          <a:p>
            <a:pPr marL="0" indent="0">
              <a:buNone/>
            </a:pPr>
            <a:r>
              <a:rPr lang="en-US" sz="1400" b="1" dirty="0">
                <a:solidFill>
                  <a:schemeClr val="tx1"/>
                </a:solidFill>
              </a:rPr>
              <a:t>Explication affichée à la patiente</a:t>
            </a:r>
            <a:endParaRPr lang="en-US" sz="1400" dirty="0"/>
          </a:p>
        </p:txBody>
      </p:sp>
      <p:sp>
        <p:nvSpPr>
          <p:cNvPr id="11" name="Texte d'explication"/>
          <p:cNvSpPr txBox="1"/>
          <p:nvPr/>
        </p:nvSpPr>
        <p:spPr>
          <a:xfrm>
            <a:off x="7223760" y="2560320"/>
            <a:ext cx="4206240" cy="1691640"/>
          </a:xfrm>
          <a:prstGeom prst="rect">
            <a:avLst/>
          </a:prstGeom>
          <a:noFill/>
          <a:ln/>
        </p:spPr>
        <p:txBody>
          <a:bodyPr wrap="square" lIns="0" tIns="0" rIns="0" bIns="0" rtlCol="0" anchor="t"/>
          <a:lstStyle/>
          <a:p>
            <a:pPr marL="0" indent="0">
              <a:buNone/>
            </a:pPr>
            <a:r>
              <a:rPr lang="en-US" sz="1400" b="1" dirty="0">
                <a:solidFill>
                  <a:schemeClr val="tx1"/>
                </a:solidFill>
              </a:rPr>
              <a:t>Risque estimé : 99 %</a:t>
            </a:r>
            <a:endParaRPr lang="en-US" sz="1400" dirty="0"/>
          </a:p>
          <a:p>
            <a:pPr marL="0" indent="0">
              <a:buNone/>
            </a:pPr>
            <a:r>
              <a:rPr lang="en-US" sz="1400" dirty="0">
                <a:solidFill>
                  <a:schemeClr val="tx1"/>
                </a:solidFill>
              </a:rPr>
              <a:t>au-dessus du seuil de dépistage (29 %).</a:t>
            </a:r>
            <a:endParaRPr lang="en-US" sz="1400" dirty="0"/>
          </a:p>
          <a:p>
            <a:pPr marL="0" indent="0">
              <a:buNone/>
            </a:pPr>
            <a:r>
              <a:rPr lang="en-US" sz="600" dirty="0">
                <a:solidFill>
                  <a:schemeClr val="tx1"/>
                </a:solidFill>
              </a:rPr>
              <a:t> </a:t>
            </a:r>
            <a:endParaRPr lang="en-US" sz="1400" dirty="0"/>
          </a:p>
          <a:p>
            <a:pPr marL="0" indent="0">
              <a:buNone/>
            </a:pPr>
            <a:r>
              <a:rPr lang="en-US" sz="1400" dirty="0">
                <a:solidFill>
                  <a:schemeClr val="tx1"/>
                </a:solidFill>
              </a:rPr>
              <a:t>Ce qui augmente le risque : la glycémie à 2 h (180 mg/dL), l'IMC (59,4 kg/m²), les antécédents familiaux (score 2,42).</a:t>
            </a:r>
            <a:endParaRPr lang="en-US" sz="1400" dirty="0"/>
          </a:p>
        </p:txBody>
      </p:sp>
      <p:sp>
        <p:nvSpPr>
          <p:cNvPr id="12" name="Étiquette règles"/>
          <p:cNvSpPr txBox="1"/>
          <p:nvPr/>
        </p:nvSpPr>
        <p:spPr>
          <a:xfrm>
            <a:off x="7223760" y="4297680"/>
            <a:ext cx="4206240" cy="274320"/>
          </a:xfrm>
          <a:prstGeom prst="rect">
            <a:avLst/>
          </a:prstGeom>
          <a:noFill/>
          <a:ln/>
        </p:spPr>
        <p:txBody>
          <a:bodyPr wrap="square" lIns="0" tIns="0" rIns="0" bIns="0" rtlCol="0" anchor="ctr"/>
          <a:lstStyle/>
          <a:p>
            <a:pPr marL="0" indent="0">
              <a:buNone/>
            </a:pPr>
            <a:r>
              <a:rPr lang="en-US" sz="1200" b="1" dirty="0">
                <a:solidFill>
                  <a:schemeClr val="tx2"/>
                </a:solidFill>
              </a:rPr>
              <a:t>Règles déclenchées</a:t>
            </a:r>
            <a:endParaRPr lang="en-US" sz="1200" dirty="0"/>
          </a:p>
        </p:txBody>
      </p:sp>
      <p:sp>
        <p:nvSpPr>
          <p:cNvPr id="13" name="Pastille règle R2"/>
          <p:cNvSpPr/>
          <p:nvPr/>
        </p:nvSpPr>
        <p:spPr>
          <a:xfrm>
            <a:off x="7223760" y="4645152"/>
            <a:ext cx="502920" cy="329184"/>
          </a:xfrm>
          <a:prstGeom prst="roundRect">
            <a:avLst>
              <a:gd name="adj" fmla="val 16667"/>
            </a:avLst>
          </a:prstGeom>
          <a:solidFill>
            <a:schemeClr val="accent1"/>
          </a:solidFill>
          <a:ln w="12700">
            <a:solidFill>
              <a:schemeClr val="accent1"/>
            </a:solidFill>
            <a:prstDash val="solid"/>
          </a:ln>
        </p:spPr>
        <p:txBody>
          <a:bodyPr/>
          <a:lstStyle/>
          <a:p>
            <a:endParaRPr lang="fr-FR"/>
          </a:p>
        </p:txBody>
      </p:sp>
      <p:sp>
        <p:nvSpPr>
          <p:cNvPr id="14" name="Nom règle R2"/>
          <p:cNvSpPr txBox="1"/>
          <p:nvPr/>
        </p:nvSpPr>
        <p:spPr>
          <a:xfrm>
            <a:off x="7223760" y="4645152"/>
            <a:ext cx="502920" cy="329184"/>
          </a:xfrm>
          <a:prstGeom prst="rect">
            <a:avLst/>
          </a:prstGeom>
          <a:noFill/>
          <a:ln/>
        </p:spPr>
        <p:txBody>
          <a:bodyPr wrap="square" lIns="0" tIns="0" rIns="0" bIns="0" rtlCol="0" anchor="ctr"/>
          <a:lstStyle/>
          <a:p>
            <a:pPr marL="0" indent="0" algn="ctr">
              <a:buNone/>
            </a:pPr>
            <a:r>
              <a:rPr lang="en-US" sz="1200" b="1" dirty="0">
                <a:solidFill>
                  <a:schemeClr val="bg1"/>
                </a:solidFill>
              </a:rPr>
              <a:t>R2</a:t>
            </a:r>
            <a:endParaRPr lang="en-US" sz="1200" dirty="0"/>
          </a:p>
        </p:txBody>
      </p:sp>
      <p:sp>
        <p:nvSpPr>
          <p:cNvPr id="15" name="Source règle R2"/>
          <p:cNvSpPr txBox="1"/>
          <p:nvPr/>
        </p:nvSpPr>
        <p:spPr>
          <a:xfrm>
            <a:off x="7863840" y="4645152"/>
            <a:ext cx="3566160" cy="329184"/>
          </a:xfrm>
          <a:prstGeom prst="rect">
            <a:avLst/>
          </a:prstGeom>
          <a:noFill/>
          <a:ln/>
        </p:spPr>
        <p:txBody>
          <a:bodyPr wrap="square" lIns="0" tIns="0" rIns="0" bIns="0" rtlCol="0" anchor="ctr"/>
          <a:lstStyle/>
          <a:p>
            <a:pPr marL="0" indent="0">
              <a:buNone/>
            </a:pPr>
            <a:r>
              <a:rPr lang="en-US" sz="1300" dirty="0">
                <a:solidFill>
                  <a:schemeClr val="tx1"/>
                </a:solidFill>
              </a:rPr>
              <a:t>Intolérance au glucose · ADA 2024, OMS 2006</a:t>
            </a:r>
            <a:endParaRPr lang="en-US" sz="1300" dirty="0"/>
          </a:p>
        </p:txBody>
      </p:sp>
      <p:sp>
        <p:nvSpPr>
          <p:cNvPr id="16" name="Pastille règle R3"/>
          <p:cNvSpPr/>
          <p:nvPr/>
        </p:nvSpPr>
        <p:spPr>
          <a:xfrm>
            <a:off x="7223760" y="5102352"/>
            <a:ext cx="502920" cy="329184"/>
          </a:xfrm>
          <a:prstGeom prst="roundRect">
            <a:avLst>
              <a:gd name="adj" fmla="val 16667"/>
            </a:avLst>
          </a:prstGeom>
          <a:solidFill>
            <a:schemeClr val="accent1"/>
          </a:solidFill>
          <a:ln w="12700">
            <a:solidFill>
              <a:schemeClr val="accent1"/>
            </a:solidFill>
            <a:prstDash val="solid"/>
          </a:ln>
        </p:spPr>
        <p:txBody>
          <a:bodyPr/>
          <a:lstStyle/>
          <a:p>
            <a:endParaRPr lang="fr-FR"/>
          </a:p>
        </p:txBody>
      </p:sp>
      <p:sp>
        <p:nvSpPr>
          <p:cNvPr id="17" name="Nom règle R3"/>
          <p:cNvSpPr txBox="1"/>
          <p:nvPr/>
        </p:nvSpPr>
        <p:spPr>
          <a:xfrm>
            <a:off x="7223760" y="5102352"/>
            <a:ext cx="502920" cy="329184"/>
          </a:xfrm>
          <a:prstGeom prst="rect">
            <a:avLst/>
          </a:prstGeom>
          <a:noFill/>
          <a:ln/>
        </p:spPr>
        <p:txBody>
          <a:bodyPr wrap="square" lIns="0" tIns="0" rIns="0" bIns="0" rtlCol="0" anchor="ctr"/>
          <a:lstStyle/>
          <a:p>
            <a:pPr marL="0" indent="0" algn="ctr">
              <a:buNone/>
            </a:pPr>
            <a:r>
              <a:rPr lang="en-US" sz="1200" b="1" dirty="0">
                <a:solidFill>
                  <a:schemeClr val="bg1"/>
                </a:solidFill>
              </a:rPr>
              <a:t>R3</a:t>
            </a:r>
            <a:endParaRPr lang="en-US" sz="1200" dirty="0"/>
          </a:p>
        </p:txBody>
      </p:sp>
      <p:sp>
        <p:nvSpPr>
          <p:cNvPr id="18" name="Source règle R3"/>
          <p:cNvSpPr txBox="1"/>
          <p:nvPr/>
        </p:nvSpPr>
        <p:spPr>
          <a:xfrm>
            <a:off x="7863840" y="5102352"/>
            <a:ext cx="3566160" cy="329184"/>
          </a:xfrm>
          <a:prstGeom prst="rect">
            <a:avLst/>
          </a:prstGeom>
          <a:noFill/>
          <a:ln/>
        </p:spPr>
        <p:txBody>
          <a:bodyPr wrap="square" lIns="0" tIns="0" rIns="0" bIns="0" rtlCol="0" anchor="ctr"/>
          <a:lstStyle/>
          <a:p>
            <a:pPr marL="0" indent="0">
              <a:buNone/>
            </a:pPr>
            <a:r>
              <a:rPr lang="en-US" sz="1300" dirty="0">
                <a:solidFill>
                  <a:schemeClr val="tx1"/>
                </a:solidFill>
              </a:rPr>
              <a:t>Obésité · OMS</a:t>
            </a:r>
            <a:endParaRPr lang="en-US" sz="1300" dirty="0"/>
          </a:p>
        </p:txBody>
      </p:sp>
      <p:sp>
        <p:nvSpPr>
          <p:cNvPr id="19" name="Avertissement"/>
          <p:cNvSpPr txBox="1"/>
          <p:nvPr/>
        </p:nvSpPr>
        <p:spPr>
          <a:xfrm>
            <a:off x="7223760" y="5577840"/>
            <a:ext cx="4206240" cy="457200"/>
          </a:xfrm>
          <a:prstGeom prst="rect">
            <a:avLst/>
          </a:prstGeom>
          <a:noFill/>
          <a:ln/>
        </p:spPr>
        <p:txBody>
          <a:bodyPr wrap="square" lIns="0" tIns="0" rIns="0" bIns="0" rtlCol="0" anchor="t"/>
          <a:lstStyle/>
          <a:p>
            <a:pPr marL="0" indent="0">
              <a:buNone/>
            </a:pPr>
            <a:r>
              <a:rPr lang="en-US" sz="1200" i="1" dirty="0">
                <a:solidFill>
                  <a:schemeClr val="tx2"/>
                </a:solidFill>
              </a:rPr>
              <a:t>À confirmer par un examen médical : aide au dépistage, pas un diagnostic.</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RÉSULTATS</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La version complète fait autant d'erreurs que la référence : l'essentiel vient du modèle et du seuil.</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Où se trouvent les erreurs</a:t>
            </a:r>
            <a:endParaRPr lang="en-US" sz="3400" dirty="0"/>
          </a:p>
        </p:txBody>
      </p:sp>
      <p:sp>
        <p:nvSpPr>
          <p:cNvPr id="6" name="Titre de graphique"/>
          <p:cNvSpPr txBox="1"/>
          <p:nvPr/>
        </p:nvSpPr>
        <p:spPr>
          <a:xfrm>
            <a:off x="548640" y="2011680"/>
            <a:ext cx="5852160" cy="320040"/>
          </a:xfrm>
          <a:prstGeom prst="rect">
            <a:avLst/>
          </a:prstGeom>
          <a:noFill/>
          <a:ln/>
        </p:spPr>
        <p:txBody>
          <a:bodyPr wrap="square" lIns="0" tIns="0" rIns="0" bIns="0" rtlCol="0" anchor="ctr"/>
          <a:lstStyle/>
          <a:p>
            <a:pPr marL="0" indent="0">
              <a:buNone/>
            </a:pPr>
            <a:r>
              <a:rPr lang="en-US" sz="1400" b="1" dirty="0">
                <a:solidFill>
                  <a:schemeClr val="tx1"/>
                </a:solidFill>
              </a:rPr>
              <a:t>Erreurs attribuées à chaque brique (moyenne par répétition)</a:t>
            </a:r>
            <a:endParaRPr lang="en-US" sz="1400" dirty="0"/>
          </a:p>
        </p:txBody>
      </p:sp>
      <p:graphicFrame>
        <p:nvGraphicFramePr>
          <p:cNvPr id="7" name="Chart 0"/>
          <p:cNvGraphicFramePr/>
          <p:nvPr/>
        </p:nvGraphicFramePr>
        <p:xfrm>
          <a:off x="548640" y="2331720"/>
          <a:ext cx="58521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Légende"/>
          <p:cNvSpPr txBox="1"/>
          <p:nvPr/>
        </p:nvSpPr>
        <p:spPr>
          <a:xfrm>
            <a:off x="548640" y="5623560"/>
            <a:ext cx="5852160" cy="548640"/>
          </a:xfrm>
          <a:prstGeom prst="rect">
            <a:avLst/>
          </a:prstGeom>
          <a:noFill/>
          <a:ln/>
        </p:spPr>
        <p:txBody>
          <a:bodyPr wrap="square" lIns="0" tIns="0" rIns="0" bIns="0" rtlCol="0" anchor="t"/>
          <a:lstStyle/>
          <a:p>
            <a:pPr marL="0" indent="0">
              <a:buNone/>
            </a:pPr>
            <a:r>
              <a:rPr lang="en-US" sz="1200" dirty="0">
                <a:solidFill>
                  <a:schemeClr val="tx2"/>
                </a:solidFill>
              </a:rPr>
              <a:t>Règles en sortie : 0 erreur introduite. Les règles en entrée en introduisent 22 et en corrigent 18 (rég. log.).</a:t>
            </a:r>
            <a:endParaRPr lang="en-US" sz="1200" dirty="0"/>
          </a:p>
        </p:txBody>
      </p:sp>
      <p:sp>
        <p:nvSpPr>
          <p:cNvPr id="9" name="Titre de graphique"/>
          <p:cNvSpPr txBox="1"/>
          <p:nvPr/>
        </p:nvSpPr>
        <p:spPr>
          <a:xfrm>
            <a:off x="6949440" y="2011680"/>
            <a:ext cx="4663440" cy="320040"/>
          </a:xfrm>
          <a:prstGeom prst="rect">
            <a:avLst/>
          </a:prstGeom>
          <a:noFill/>
          <a:ln/>
        </p:spPr>
        <p:txBody>
          <a:bodyPr wrap="square" lIns="0" tIns="0" rIns="0" bIns="0" rtlCol="0" anchor="ctr"/>
          <a:lstStyle/>
          <a:p>
            <a:pPr marL="0" indent="0">
              <a:buNone/>
            </a:pPr>
            <a:r>
              <a:rPr lang="en-US" sz="1400" b="1" dirty="0">
                <a:solidFill>
                  <a:schemeClr val="tx1"/>
                </a:solidFill>
              </a:rPr>
              <a:t>Rappel par tranche d'âge (XGBoost, test)</a:t>
            </a:r>
            <a:endParaRPr lang="en-US" sz="1400" dirty="0"/>
          </a:p>
        </p:txBody>
      </p:sp>
      <p:graphicFrame>
        <p:nvGraphicFramePr>
          <p:cNvPr id="10" name="Chart 1"/>
          <p:cNvGraphicFramePr/>
          <p:nvPr/>
        </p:nvGraphicFramePr>
        <p:xfrm>
          <a:off x="6949440" y="2331720"/>
          <a:ext cx="46634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1" name="Légende"/>
          <p:cNvSpPr txBox="1"/>
          <p:nvPr/>
        </p:nvSpPr>
        <p:spPr>
          <a:xfrm>
            <a:off x="6949440" y="5623560"/>
            <a:ext cx="4663440" cy="548640"/>
          </a:xfrm>
          <a:prstGeom prst="rect">
            <a:avLst/>
          </a:prstGeom>
          <a:noFill/>
          <a:ln/>
        </p:spPr>
        <p:txBody>
          <a:bodyPr wrap="square" lIns="0" tIns="0" rIns="0" bIns="0" rtlCol="0" anchor="t"/>
          <a:lstStyle/>
          <a:p>
            <a:pPr marL="0" indent="0">
              <a:buNone/>
            </a:pPr>
            <a:r>
              <a:rPr lang="en-US" sz="1200" dirty="0">
                <a:solidFill>
                  <a:schemeClr val="tx2"/>
                </a:solidFill>
              </a:rPr>
              <a:t>Les jeunes malades sont les plus ratées (18 dans le test) ; aucune règle ne les rattrape.</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CONCLUSION</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L'hybride ne change pas la discrimination : sa valeur est la sécurité, la cohérence et l'explication.</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Bilan sur sept dimensions</a:t>
            </a:r>
            <a:endParaRPr lang="en-US" sz="3400" dirty="0"/>
          </a:p>
        </p:txBody>
      </p:sp>
      <p:graphicFrame>
        <p:nvGraphicFramePr>
          <p:cNvPr id="13" name="Tableau des dimensions"/>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4096512"/>
        </p:xfrm>
        <a:graphic>
          <a:graphicData uri="http://schemas.openxmlformats.org/drawingml/2006/table">
            <a:tbl>
              <a:tblPr/>
              <a:tblGrid>
                <a:gridCol w="2103120">
                  <a:extLst>
                    <a:ext uri="{9D8B030D-6E8A-4147-A177-3AD203B41FA5}">
                      <a16:colId xmlns:a16="http://schemas.microsoft.com/office/drawing/2014/main" val="20000"/>
                    </a:ext>
                  </a:extLst>
                </a:gridCol>
                <a:gridCol w="8988552">
                  <a:extLst>
                    <a:ext uri="{9D8B030D-6E8A-4147-A177-3AD203B41FA5}">
                      <a16:colId xmlns:a16="http://schemas.microsoft.com/office/drawing/2014/main" val="20001"/>
                    </a:ext>
                  </a:extLst>
                </a:gridCol>
              </a:tblGrid>
              <a:tr h="512064">
                <a:tc>
                  <a:txBody>
                    <a:bodyPr/>
                    <a:lstStyle/>
                    <a:p>
                      <a:pPr marL="0" indent="0">
                        <a:buNone/>
                      </a:pPr>
                      <a:r>
                        <a:rPr lang="en-US" sz="1200" b="1" dirty="0">
                          <a:solidFill>
                            <a:srgbClr val="5B6470"/>
                          </a:solidFill>
                        </a:rPr>
                        <a:t>Dimension</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Résultat</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extLst>
                  <a:ext uri="{0D108BD9-81ED-4DB2-BD59-A6C34878D82A}">
                    <a16:rowId xmlns:a16="http://schemas.microsoft.com/office/drawing/2014/main" val="10000"/>
                  </a:ext>
                </a:extLst>
              </a:tr>
              <a:tr h="512064">
                <a:tc>
                  <a:txBody>
                    <a:bodyPr/>
                    <a:lstStyle/>
                    <a:p>
                      <a:pPr marL="0" indent="0">
                        <a:buNone/>
                      </a:pPr>
                      <a:r>
                        <a:rPr lang="en-US" sz="1400" b="1" dirty="0">
                          <a:solidFill>
                            <a:srgbClr val="0E8F7E"/>
                          </a:solidFill>
                        </a:rPr>
                        <a:t>Performance</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AUC 0,836 (rég. log.) et 0,825 (XGBoost) ; aucune version hybride démontrablement meilleure</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400" b="1" dirty="0">
                          <a:solidFill>
                            <a:srgbClr val="0E8F7E"/>
                          </a:solidFill>
                        </a:rPr>
                        <a:t>Calibration</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ECE 0,036 contre 0,061 ; 0,032 après température ; les règles n'y changent rien</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400" b="1" dirty="0">
                          <a:solidFill>
                            <a:srgbClr val="0E8F7E"/>
                          </a:solidFill>
                        </a:rPr>
                        <a:t>Cohérence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R6 respectée à 99-100 % ; XGBoost viole la monotonie (20 % et 37,5 %), corrigé par une contrainte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400" b="1" dirty="0">
                          <a:solidFill>
                            <a:srgbClr val="0E8F7E"/>
                          </a:solidFill>
                        </a:rPr>
                        <a:t>Explicabilité</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SHAP exact et règles déclenchées avec leurs sources, texte par gabarit</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400" b="1" dirty="0">
                          <a:solidFill>
                            <a:srgbClr val="0E8F7E"/>
                          </a:solidFill>
                        </a:rPr>
                        <a:t>Fidélité</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Additivité de SHAP vérifiée : écart de 1e-15 log-odds</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400" b="1" dirty="0">
                          <a:solidFill>
                            <a:srgbClr val="0E8F7E"/>
                          </a:solidFill>
                        </a:rPr>
                        <a:t>Robustesse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Hors distribution, R1 corrige XGBoost (0,56 → 0,90) ; peu de données : la rég. log. est plus stable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6"/>
                  </a:ext>
                </a:extLst>
              </a:tr>
              <a:tr h="512064">
                <a:tc>
                  <a:txBody>
                    <a:bodyPr/>
                    <a:lstStyle/>
                    <a:p>
                      <a:pPr marL="0" indent="0">
                        <a:buNone/>
                      </a:pPr>
                      <a:r>
                        <a:rPr lang="en-US" sz="1400" b="1" dirty="0">
                          <a:solidFill>
                            <a:srgbClr val="0E8F7E"/>
                          </a:solidFill>
                        </a:rPr>
                        <a:t>Coût</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Moins de 0,15 s d'entraînement, 25 ms de prédiction : les règles ne coûtent rien</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CONCLUSION</a:t>
            </a:r>
            <a:endParaRPr lang="en-US" sz="1200" dirty="0"/>
          </a:p>
        </p:txBody>
      </p:sp>
      <p:sp>
        <p:nvSpPr>
          <p:cNvPr id="4"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Limites et pistes</a:t>
            </a:r>
            <a:endParaRPr lang="en-US" sz="3400" dirty="0"/>
          </a:p>
        </p:txBody>
      </p:sp>
      <p:sp>
        <p:nvSpPr>
          <p:cNvPr id="5" name="Carte Limites"/>
          <p:cNvSpPr/>
          <p:nvPr/>
        </p:nvSpPr>
        <p:spPr>
          <a:xfrm>
            <a:off x="548640" y="1691640"/>
            <a:ext cx="5394960" cy="3931920"/>
          </a:xfrm>
          <a:prstGeom prst="roundRect">
            <a:avLst>
              <a:gd name="adj" fmla="val 1860"/>
            </a:avLst>
          </a:prstGeom>
          <a:solidFill>
            <a:schemeClr val="bg2"/>
          </a:solidFill>
          <a:ln w="12700">
            <a:solidFill>
              <a:schemeClr val="bg2"/>
            </a:solidFill>
            <a:prstDash val="solid"/>
          </a:ln>
        </p:spPr>
        <p:txBody>
          <a:bodyPr/>
          <a:lstStyle/>
          <a:p>
            <a:endParaRPr lang="fr-FR"/>
          </a:p>
        </p:txBody>
      </p:sp>
      <p:sp>
        <p:nvSpPr>
          <p:cNvPr id="6" name="Titre Limites"/>
          <p:cNvSpPr txBox="1"/>
          <p:nvPr/>
        </p:nvSpPr>
        <p:spPr>
          <a:xfrm>
            <a:off x="822960" y="1874520"/>
            <a:ext cx="4846320" cy="411480"/>
          </a:xfrm>
          <a:prstGeom prst="rect">
            <a:avLst/>
          </a:prstGeom>
          <a:noFill/>
          <a:ln/>
        </p:spPr>
        <p:txBody>
          <a:bodyPr wrap="square" lIns="0" tIns="0" rIns="0" bIns="0" rtlCol="0" anchor="ctr"/>
          <a:lstStyle/>
          <a:p>
            <a:pPr marL="0" indent="0">
              <a:buNone/>
            </a:pPr>
            <a:r>
              <a:rPr lang="en-US" sz="2000" b="1" dirty="0">
                <a:solidFill>
                  <a:schemeClr val="accent2"/>
                </a:solidFill>
              </a:rPr>
              <a:t>Limites</a:t>
            </a:r>
            <a:endParaRPr lang="en-US" sz="2000" dirty="0"/>
          </a:p>
        </p:txBody>
      </p:sp>
      <p:sp>
        <p:nvSpPr>
          <p:cNvPr id="7" name="Liste Limites"/>
          <p:cNvSpPr txBox="1"/>
          <p:nvPr/>
        </p:nvSpPr>
        <p:spPr>
          <a:xfrm>
            <a:off x="822960" y="2468880"/>
            <a:ext cx="484632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Femmes Pima d'au moins 21 ans : pas de généralisation</a:t>
            </a:r>
            <a:endParaRPr lang="en-US" sz="1600" dirty="0"/>
          </a:p>
          <a:p>
            <a:pPr marL="342900" indent="-342900">
              <a:spcAft>
                <a:spcPts val="800"/>
              </a:spcAft>
              <a:buSzPct val="100000"/>
              <a:buChar char="•"/>
            </a:pPr>
            <a:r>
              <a:rPr lang="en-US" sz="1600" dirty="0">
                <a:solidFill>
                  <a:schemeClr val="tx1"/>
                </a:solidFill>
              </a:rPr>
              <a:t>Test de 154 patientes ; IC bootstrap sur une seule répétition</a:t>
            </a:r>
            <a:endParaRPr lang="en-US" sz="1600" dirty="0"/>
          </a:p>
          <a:p>
            <a:pPr marL="342900" indent="-342900">
              <a:spcAft>
                <a:spcPts val="800"/>
              </a:spcAft>
              <a:buSzPct val="100000"/>
              <a:buChar char="•"/>
            </a:pPr>
            <a:r>
              <a:rPr lang="en-US" sz="1600" dirty="0">
                <a:solidFill>
                  <a:schemeClr val="tx1"/>
                </a:solidFill>
              </a:rPr>
              <a:t>Seuil clinique (rappel 80 %) et planchers 0,9 / 0,1 : choix de conception</a:t>
            </a:r>
            <a:endParaRPr lang="en-US" sz="1600" dirty="0"/>
          </a:p>
          <a:p>
            <a:pPr marL="342900" indent="-342900">
              <a:spcAft>
                <a:spcPts val="800"/>
              </a:spcAft>
              <a:buSzPct val="100000"/>
              <a:buChar char="•"/>
            </a:pPr>
            <a:r>
              <a:rPr lang="en-US" sz="1600" dirty="0">
                <a:solidFill>
                  <a:schemeClr val="tx1"/>
                </a:solidFill>
              </a:rPr>
              <a:t>R6 dérivée, non officielle ; risque de fausse rassurance</a:t>
            </a:r>
            <a:endParaRPr lang="en-US" sz="1600" dirty="0"/>
          </a:p>
          <a:p>
            <a:pPr marL="342900" indent="-342900">
              <a:spcAft>
                <a:spcPts val="800"/>
              </a:spcAft>
              <a:buSzPct val="100000"/>
              <a:buChar char="•"/>
            </a:pPr>
            <a:r>
              <a:rPr lang="en-US" sz="1600" dirty="0">
                <a:solidFill>
                  <a:schemeClr val="tx1"/>
                </a:solidFill>
              </a:rPr>
              <a:t>Sources à citer dans leur édition la plus récente</a:t>
            </a:r>
            <a:endParaRPr lang="en-US" sz="1600" dirty="0"/>
          </a:p>
        </p:txBody>
      </p:sp>
      <p:sp>
        <p:nvSpPr>
          <p:cNvPr id="8" name="Carte Pistes"/>
          <p:cNvSpPr/>
          <p:nvPr/>
        </p:nvSpPr>
        <p:spPr>
          <a:xfrm>
            <a:off x="6245352" y="1691640"/>
            <a:ext cx="5394960" cy="3931920"/>
          </a:xfrm>
          <a:prstGeom prst="roundRect">
            <a:avLst>
              <a:gd name="adj" fmla="val 1860"/>
            </a:avLst>
          </a:prstGeom>
          <a:solidFill>
            <a:schemeClr val="bg2"/>
          </a:solidFill>
          <a:ln w="12700">
            <a:solidFill>
              <a:schemeClr val="bg2"/>
            </a:solidFill>
            <a:prstDash val="solid"/>
          </a:ln>
        </p:spPr>
        <p:txBody>
          <a:bodyPr/>
          <a:lstStyle/>
          <a:p>
            <a:endParaRPr lang="fr-FR"/>
          </a:p>
        </p:txBody>
      </p:sp>
      <p:sp>
        <p:nvSpPr>
          <p:cNvPr id="9" name="Titre Pistes"/>
          <p:cNvSpPr txBox="1"/>
          <p:nvPr/>
        </p:nvSpPr>
        <p:spPr>
          <a:xfrm>
            <a:off x="6519672" y="1874520"/>
            <a:ext cx="4846320" cy="411480"/>
          </a:xfrm>
          <a:prstGeom prst="rect">
            <a:avLst/>
          </a:prstGeom>
          <a:noFill/>
          <a:ln/>
        </p:spPr>
        <p:txBody>
          <a:bodyPr wrap="square" lIns="0" tIns="0" rIns="0" bIns="0" rtlCol="0" anchor="ctr"/>
          <a:lstStyle/>
          <a:p>
            <a:pPr marL="0" indent="0">
              <a:buNone/>
            </a:pPr>
            <a:r>
              <a:rPr lang="en-US" sz="2000" b="1" dirty="0">
                <a:solidFill>
                  <a:schemeClr val="accent1"/>
                </a:solidFill>
              </a:rPr>
              <a:t>Pistes</a:t>
            </a:r>
            <a:endParaRPr lang="en-US" sz="2000" dirty="0"/>
          </a:p>
        </p:txBody>
      </p:sp>
      <p:sp>
        <p:nvSpPr>
          <p:cNvPr id="10" name="Liste Pistes"/>
          <p:cNvSpPr txBox="1"/>
          <p:nvPr/>
        </p:nvSpPr>
        <p:spPr>
          <a:xfrm>
            <a:off x="6519672" y="2468880"/>
            <a:ext cx="4846320"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Fournir au modèle « glycémie ≥ 140 » pour préserver la monotonie</a:t>
            </a:r>
            <a:endParaRPr lang="en-US" sz="1600" dirty="0"/>
          </a:p>
          <a:p>
            <a:pPr marL="342900" indent="-342900">
              <a:spcAft>
                <a:spcPts val="800"/>
              </a:spcAft>
              <a:buSzPct val="100000"/>
              <a:buChar char="•"/>
            </a:pPr>
            <a:r>
              <a:rPr lang="en-US" sz="1600" dirty="0">
                <a:solidFill>
                  <a:schemeClr val="tx1"/>
                </a:solidFill>
              </a:rPr>
              <a:t>Règle de sortie sur R2 (intolérance au glucose)</a:t>
            </a:r>
            <a:endParaRPr lang="en-US" sz="1600" dirty="0"/>
          </a:p>
          <a:p>
            <a:pPr marL="342900" indent="-342900">
              <a:spcAft>
                <a:spcPts val="800"/>
              </a:spcAft>
              <a:buSzPct val="100000"/>
              <a:buChar char="•"/>
            </a:pPr>
            <a:r>
              <a:rPr lang="en-US" sz="1600" dirty="0">
                <a:solidFill>
                  <a:schemeClr val="tx1"/>
                </a:solidFill>
              </a:rPr>
              <a:t>Recalibrer XGBoost, puis re-choisir son seuil</a:t>
            </a:r>
            <a:endParaRPr lang="en-US" sz="1600" dirty="0"/>
          </a:p>
          <a:p>
            <a:pPr marL="342900" indent="-342900">
              <a:spcAft>
                <a:spcPts val="800"/>
              </a:spcAft>
              <a:buSzPct val="100000"/>
              <a:buChar char="•"/>
            </a:pPr>
            <a:r>
              <a:rPr lang="en-US" sz="1600" dirty="0">
                <a:solidFill>
                  <a:schemeClr val="tx1"/>
                </a:solidFill>
              </a:rPr>
              <a:t>Hyperparamètres en validation croisée imbriquée</a:t>
            </a:r>
            <a:endParaRPr lang="en-US" sz="1600" dirty="0"/>
          </a:p>
          <a:p>
            <a:pPr marL="342900" indent="-342900">
              <a:spcAft>
                <a:spcPts val="800"/>
              </a:spcAft>
              <a:buSzPct val="100000"/>
              <a:buChar char="•"/>
            </a:pPr>
            <a:r>
              <a:rPr lang="en-US" sz="1600" dirty="0">
                <a:solidFill>
                  <a:schemeClr val="tx1"/>
                </a:solidFill>
              </a:rPr>
              <a:t>Validation sur un autre jeu de données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CE QU'IL FAUT RETENIR</a:t>
            </a:r>
            <a:endParaRPr lang="en-US" sz="1200" dirty="0"/>
          </a:p>
        </p:txBody>
      </p:sp>
      <p:sp>
        <p:nvSpPr>
          <p:cNvPr id="4"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bg1"/>
                </a:solidFill>
              </a:rPr>
              <a:t>Questions ?</a:t>
            </a:r>
            <a:endParaRPr lang="en-US" sz="3400" dirty="0"/>
          </a:p>
        </p:txBody>
      </p:sp>
      <p:sp>
        <p:nvSpPr>
          <p:cNvPr id="5" name="Numéro"/>
          <p:cNvSpPr txBox="1"/>
          <p:nvPr/>
        </p:nvSpPr>
        <p:spPr>
          <a:xfrm>
            <a:off x="548640" y="2286000"/>
            <a:ext cx="914400" cy="822960"/>
          </a:xfrm>
          <a:prstGeom prst="rect">
            <a:avLst/>
          </a:prstGeom>
          <a:noFill/>
          <a:ln/>
        </p:spPr>
        <p:txBody>
          <a:bodyPr wrap="square" lIns="0" tIns="0" rIns="0" bIns="0" rtlCol="0" anchor="ctr"/>
          <a:lstStyle/>
          <a:p>
            <a:pPr marL="0" indent="0">
              <a:buNone/>
            </a:pPr>
            <a:r>
              <a:rPr lang="en-US" sz="5400" b="1" dirty="0">
                <a:solidFill>
                  <a:schemeClr val="accent1"/>
                </a:solidFill>
              </a:rPr>
              <a:t>1</a:t>
            </a:r>
            <a:endParaRPr lang="en-US" sz="5400" dirty="0"/>
          </a:p>
        </p:txBody>
      </p:sp>
      <p:sp>
        <p:nvSpPr>
          <p:cNvPr id="6" name="Titre"/>
          <p:cNvSpPr txBox="1"/>
          <p:nvPr/>
        </p:nvSpPr>
        <p:spPr>
          <a:xfrm>
            <a:off x="548640" y="3246120"/>
            <a:ext cx="3383280" cy="457200"/>
          </a:xfrm>
          <a:prstGeom prst="rect">
            <a:avLst/>
          </a:prstGeom>
          <a:noFill/>
          <a:ln/>
        </p:spPr>
        <p:txBody>
          <a:bodyPr wrap="square" lIns="0" tIns="0" rIns="0" bIns="0" rtlCol="0" anchor="t"/>
          <a:lstStyle/>
          <a:p>
            <a:pPr marL="0" indent="0">
              <a:buNone/>
            </a:pPr>
            <a:r>
              <a:rPr lang="en-US" sz="2200" b="1" dirty="0">
                <a:solidFill>
                  <a:schemeClr val="bg1"/>
                </a:solidFill>
              </a:rPr>
              <a:t>Rigueur</a:t>
            </a:r>
            <a:endParaRPr lang="en-US" sz="2200" dirty="0"/>
          </a:p>
        </p:txBody>
      </p:sp>
      <p:sp>
        <p:nvSpPr>
          <p:cNvPr id="7" name="Description"/>
          <p:cNvSpPr txBox="1"/>
          <p:nvPr/>
        </p:nvSpPr>
        <p:spPr>
          <a:xfrm>
            <a:off x="548640" y="3794760"/>
            <a:ext cx="3291840" cy="1463040"/>
          </a:xfrm>
          <a:prstGeom prst="rect">
            <a:avLst/>
          </a:prstGeom>
          <a:noFill/>
          <a:ln/>
        </p:spPr>
        <p:txBody>
          <a:bodyPr wrap="square" lIns="0" tIns="0" rIns="0" bIns="0" rtlCol="0" anchor="t"/>
          <a:lstStyle/>
          <a:p>
            <a:pPr marL="0" indent="0">
              <a:buNone/>
            </a:pPr>
            <a:r>
              <a:rPr lang="en-US" sz="1600" dirty="0">
                <a:solidFill>
                  <a:srgbClr val="C9CFD6"/>
                </a:solidFill>
              </a:rPr>
              <a:t>Seuil choisi sur le train, prétraitement dans le Pipeline, incertitudes mesurées.</a:t>
            </a:r>
            <a:endParaRPr lang="en-US" sz="1600" dirty="0"/>
          </a:p>
        </p:txBody>
      </p:sp>
      <p:sp>
        <p:nvSpPr>
          <p:cNvPr id="8" name="Numéro"/>
          <p:cNvSpPr txBox="1"/>
          <p:nvPr/>
        </p:nvSpPr>
        <p:spPr>
          <a:xfrm>
            <a:off x="4297680" y="2286000"/>
            <a:ext cx="914400" cy="822960"/>
          </a:xfrm>
          <a:prstGeom prst="rect">
            <a:avLst/>
          </a:prstGeom>
          <a:noFill/>
          <a:ln/>
        </p:spPr>
        <p:txBody>
          <a:bodyPr wrap="square" lIns="0" tIns="0" rIns="0" bIns="0" rtlCol="0" anchor="ctr"/>
          <a:lstStyle/>
          <a:p>
            <a:pPr marL="0" indent="0">
              <a:buNone/>
            </a:pPr>
            <a:r>
              <a:rPr lang="en-US" sz="5400" b="1" dirty="0">
                <a:solidFill>
                  <a:schemeClr val="accent1"/>
                </a:solidFill>
              </a:rPr>
              <a:t>2</a:t>
            </a:r>
            <a:endParaRPr lang="en-US" sz="5400" dirty="0"/>
          </a:p>
        </p:txBody>
      </p:sp>
      <p:sp>
        <p:nvSpPr>
          <p:cNvPr id="9" name="Titre"/>
          <p:cNvSpPr txBox="1"/>
          <p:nvPr/>
        </p:nvSpPr>
        <p:spPr>
          <a:xfrm>
            <a:off x="4297680" y="3246120"/>
            <a:ext cx="3383280" cy="457200"/>
          </a:xfrm>
          <a:prstGeom prst="rect">
            <a:avLst/>
          </a:prstGeom>
          <a:noFill/>
          <a:ln/>
        </p:spPr>
        <p:txBody>
          <a:bodyPr wrap="square" lIns="0" tIns="0" rIns="0" bIns="0" rtlCol="0" anchor="t"/>
          <a:lstStyle/>
          <a:p>
            <a:pPr marL="0" indent="0">
              <a:buNone/>
            </a:pPr>
            <a:r>
              <a:rPr lang="en-US" sz="2200" b="1" dirty="0">
                <a:solidFill>
                  <a:schemeClr val="bg1"/>
                </a:solidFill>
              </a:rPr>
              <a:t>Honnêteté</a:t>
            </a:r>
            <a:endParaRPr lang="en-US" sz="2200" dirty="0"/>
          </a:p>
        </p:txBody>
      </p:sp>
      <p:sp>
        <p:nvSpPr>
          <p:cNvPr id="10" name="Description"/>
          <p:cNvSpPr txBox="1"/>
          <p:nvPr/>
        </p:nvSpPr>
        <p:spPr>
          <a:xfrm>
            <a:off x="4297680" y="3794760"/>
            <a:ext cx="3291840" cy="1463040"/>
          </a:xfrm>
          <a:prstGeom prst="rect">
            <a:avLst/>
          </a:prstGeom>
          <a:noFill/>
          <a:ln/>
        </p:spPr>
        <p:txBody>
          <a:bodyPr wrap="square" lIns="0" tIns="0" rIns="0" bIns="0" rtlCol="0" anchor="t"/>
          <a:lstStyle/>
          <a:p>
            <a:pPr marL="0" indent="0">
              <a:buNone/>
            </a:pPr>
            <a:r>
              <a:rPr lang="en-US" sz="1600" dirty="0">
                <a:solidFill>
                  <a:srgbClr val="C9CFD6"/>
                </a:solidFill>
              </a:rPr>
              <a:t>Les règles n'améliorent pas l'AUC : le signe s'inverse entre test et validation croisée.</a:t>
            </a:r>
            <a:endParaRPr lang="en-US" sz="1600" dirty="0"/>
          </a:p>
        </p:txBody>
      </p:sp>
      <p:sp>
        <p:nvSpPr>
          <p:cNvPr id="11" name="Numéro"/>
          <p:cNvSpPr txBox="1"/>
          <p:nvPr/>
        </p:nvSpPr>
        <p:spPr>
          <a:xfrm>
            <a:off x="8046720" y="2286000"/>
            <a:ext cx="914400" cy="822960"/>
          </a:xfrm>
          <a:prstGeom prst="rect">
            <a:avLst/>
          </a:prstGeom>
          <a:noFill/>
          <a:ln/>
        </p:spPr>
        <p:txBody>
          <a:bodyPr wrap="square" lIns="0" tIns="0" rIns="0" bIns="0" rtlCol="0" anchor="ctr"/>
          <a:lstStyle/>
          <a:p>
            <a:pPr marL="0" indent="0">
              <a:buNone/>
            </a:pPr>
            <a:r>
              <a:rPr lang="en-US" sz="5400" b="1" dirty="0">
                <a:solidFill>
                  <a:schemeClr val="accent1"/>
                </a:solidFill>
              </a:rPr>
              <a:t>3</a:t>
            </a:r>
            <a:endParaRPr lang="en-US" sz="5400" dirty="0"/>
          </a:p>
        </p:txBody>
      </p:sp>
      <p:sp>
        <p:nvSpPr>
          <p:cNvPr id="12" name="Titre"/>
          <p:cNvSpPr txBox="1"/>
          <p:nvPr/>
        </p:nvSpPr>
        <p:spPr>
          <a:xfrm>
            <a:off x="8046720" y="3246120"/>
            <a:ext cx="3383280" cy="457200"/>
          </a:xfrm>
          <a:prstGeom prst="rect">
            <a:avLst/>
          </a:prstGeom>
          <a:noFill/>
          <a:ln/>
        </p:spPr>
        <p:txBody>
          <a:bodyPr wrap="square" lIns="0" tIns="0" rIns="0" bIns="0" rtlCol="0" anchor="t"/>
          <a:lstStyle/>
          <a:p>
            <a:pPr marL="0" indent="0">
              <a:buNone/>
            </a:pPr>
            <a:r>
              <a:rPr lang="en-US" sz="2200" b="1" dirty="0">
                <a:solidFill>
                  <a:schemeClr val="bg1"/>
                </a:solidFill>
              </a:rPr>
              <a:t>Valeur de l'hybride</a:t>
            </a:r>
            <a:endParaRPr lang="en-US" sz="2200" dirty="0"/>
          </a:p>
        </p:txBody>
      </p:sp>
      <p:sp>
        <p:nvSpPr>
          <p:cNvPr id="13" name="Description"/>
          <p:cNvSpPr txBox="1"/>
          <p:nvPr/>
        </p:nvSpPr>
        <p:spPr>
          <a:xfrm>
            <a:off x="8046720" y="3794760"/>
            <a:ext cx="3291840" cy="1463040"/>
          </a:xfrm>
          <a:prstGeom prst="rect">
            <a:avLst/>
          </a:prstGeom>
          <a:noFill/>
          <a:ln/>
        </p:spPr>
        <p:txBody>
          <a:bodyPr wrap="square" lIns="0" tIns="0" rIns="0" bIns="0" rtlCol="0" anchor="t"/>
          <a:lstStyle/>
          <a:p>
            <a:pPr marL="0" indent="0">
              <a:buNone/>
            </a:pPr>
            <a:r>
              <a:rPr lang="en-US" sz="1600" dirty="0">
                <a:solidFill>
                  <a:srgbClr val="C9CFD6"/>
                </a:solidFill>
              </a:rPr>
              <a:t>Sécurité hors distribution, cohérence, explication sourcée.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RÉSERVE POUR LES QUESTIONS</a:t>
            </a:r>
            <a:endParaRPr lang="en-US" sz="1200" dirty="0"/>
          </a:p>
        </p:txBody>
      </p:sp>
      <p:sp>
        <p:nvSpPr>
          <p:cNvPr id="4"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bg1"/>
                </a:solidFill>
              </a:rPr>
              <a:t>Annexes</a:t>
            </a:r>
            <a:endParaRPr lang="en-US" sz="3400" dirty="0"/>
          </a:p>
        </p:txBody>
      </p:sp>
      <p:sp>
        <p:nvSpPr>
          <p:cNvPr id="5" name="Sommaire des annexes"/>
          <p:cNvSpPr txBox="1"/>
          <p:nvPr/>
        </p:nvSpPr>
        <p:spPr>
          <a:xfrm>
            <a:off x="548640" y="2011680"/>
            <a:ext cx="7315200" cy="292608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2000" dirty="0">
                <a:solidFill>
                  <a:srgbClr val="C9CFD6"/>
                </a:solidFill>
              </a:rPr>
              <a:t>Sources des règles médicales</a:t>
            </a:r>
            <a:endParaRPr lang="en-US" sz="2000" dirty="0"/>
          </a:p>
          <a:p>
            <a:pPr marL="342900" indent="-342900">
              <a:spcAft>
                <a:spcPts val="1000"/>
              </a:spcAft>
              <a:buSzPct val="100000"/>
              <a:buFont typeface="+mj-lt"/>
              <a:buAutoNum type="arabicPeriod"/>
            </a:pPr>
            <a:r>
              <a:rPr lang="en-US" sz="2000" dirty="0">
                <a:solidFill>
                  <a:srgbClr val="C9CFD6"/>
                </a:solidFill>
              </a:rPr>
              <a:t>SMOTE ou seuil bas ?</a:t>
            </a:r>
            <a:endParaRPr lang="en-US" sz="2000" dirty="0"/>
          </a:p>
          <a:p>
            <a:pPr marL="342900" indent="-342900">
              <a:spcAft>
                <a:spcPts val="1000"/>
              </a:spcAft>
              <a:buSzPct val="100000"/>
              <a:buFont typeface="+mj-lt"/>
              <a:buAutoNum type="arabicPeriod"/>
            </a:pPr>
            <a:r>
              <a:rPr lang="en-US" sz="2000" dirty="0">
                <a:solidFill>
                  <a:srgbClr val="C9CFD6"/>
                </a:solidFill>
              </a:rPr>
              <a:t>Peu de données</a:t>
            </a:r>
            <a:endParaRPr lang="en-US" sz="2000" dirty="0"/>
          </a:p>
          <a:p>
            <a:pPr marL="342900" indent="-342900">
              <a:spcAft>
                <a:spcPts val="1000"/>
              </a:spcAft>
              <a:buSzPct val="100000"/>
              <a:buFont typeface="+mj-lt"/>
              <a:buAutoNum type="arabicPeriod"/>
            </a:pPr>
            <a:r>
              <a:rPr lang="en-US" sz="2000" dirty="0">
                <a:solidFill>
                  <a:srgbClr val="C9CFD6"/>
                </a:solidFill>
              </a:rPr>
              <a:t>Importance des variables</a:t>
            </a:r>
            <a:endParaRPr lang="en-US" sz="2000" dirty="0"/>
          </a:p>
          <a:p>
            <a:pPr marL="342900" indent="-342900">
              <a:spcAft>
                <a:spcPts val="1000"/>
              </a:spcAft>
              <a:buSzPct val="100000"/>
              <a:buFont typeface="+mj-lt"/>
              <a:buAutoNum type="arabicPeriod"/>
            </a:pPr>
            <a:r>
              <a:rPr lang="en-US" sz="2000" dirty="0">
                <a:solidFill>
                  <a:srgbClr val="C9CFD6"/>
                </a:solidFill>
              </a:rPr>
              <a:t>Erreurs corrigées et introduites</a:t>
            </a:r>
            <a:endParaRPr lang="en-US" sz="2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ANNEXE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Chaque règle porte son seuil, son unité et sa source. Les éditions sont à vérifier avant citation.</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Sources des règles médicales</a:t>
            </a:r>
            <a:endParaRPr lang="en-US" sz="3400" dirty="0"/>
          </a:p>
        </p:txBody>
      </p:sp>
      <p:graphicFrame>
        <p:nvGraphicFramePr>
          <p:cNvPr id="17" name="Sources complètes"/>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3968496"/>
        </p:xfrm>
        <a:graphic>
          <a:graphicData uri="http://schemas.openxmlformats.org/drawingml/2006/table">
            <a:tbl>
              <a:tblPr/>
              <a:tblGrid>
                <a:gridCol w="8229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325112">
                  <a:extLst>
                    <a:ext uri="{9D8B030D-6E8A-4147-A177-3AD203B41FA5}">
                      <a16:colId xmlns:a16="http://schemas.microsoft.com/office/drawing/2014/main" val="20003"/>
                    </a:ext>
                  </a:extLst>
                </a:gridCol>
              </a:tblGrid>
              <a:tr h="566928">
                <a:tc>
                  <a:txBody>
                    <a:bodyPr/>
                    <a:lstStyle/>
                    <a:p>
                      <a:pPr marL="0" indent="0">
                        <a:buNone/>
                      </a:pPr>
                      <a:r>
                        <a:rPr lang="en-US" sz="1200" b="1" dirty="0">
                          <a:solidFill>
                            <a:srgbClr val="5B6470"/>
                          </a:solidFill>
                        </a:rPr>
                        <a:t>Règle</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Condition</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Signification</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Source</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0E8F7E"/>
                          </a:solidFill>
                        </a:rPr>
                        <a:t>R1</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Glucose ≥ 200 mg/dL</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Diabète (HGPO 75 g, à 2 h)</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5B6470"/>
                          </a:solidFill>
                        </a:rPr>
                        <a:t>ADA, Standards of Care, section 2 (éd. 2024)</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0E8F7E"/>
                          </a:solidFill>
                        </a:rPr>
                        <a:t>R2</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Glucose 140 à 199 mg/dL</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Intolérance au glucose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5B6470"/>
                          </a:solidFill>
                        </a:rPr>
                        <a:t>ADA, Standards of Care ; OMS/IDF 2006</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0E8F7E"/>
                          </a:solidFill>
                        </a:rPr>
                        <a:t>R3</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IMC ≥ 30</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Obésité</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5B6470"/>
                          </a:solidFill>
                        </a:rPr>
                        <a:t>OMS, fiche Obesity and overweight</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0E8F7E"/>
                          </a:solidFill>
                        </a:rPr>
                        <a:t>R4</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IMC ≥ 25 et âge ≥ 35</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Dépistage recommandé</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5B6470"/>
                          </a:solidFill>
                        </a:rPr>
                        <a:t>USPSTF, JAMA 2021;326(8):736-743</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0E8F7E"/>
                          </a:solidFill>
                        </a:rPr>
                        <a:t>R5</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Pression diastolique ≥ 90</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Hypertension</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5B6470"/>
                          </a:solidFill>
                        </a:rPr>
                        <a:t>ESC/ESH 2018 ; facteur de risque ADA</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0E8F7E"/>
                          </a:solidFill>
                        </a:rPr>
                        <a:t>R6</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Glucose &lt; 140, IMC &lt; 25, âge &lt; 35</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Aucun critère de dépistage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5B6470"/>
                          </a:solidFill>
                        </a:rPr>
                        <a:t>Règle dérivée de USPSTF 2021 et ADA ; plafond 0,1 empirique (1/59)</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ANNEXE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À rappel égal (80 %, train hors-pli), rééquilibrer les classes ne fait pas mieux qu'abaisser le seuil.</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SMOTE ou seuil bas ?</a:t>
            </a:r>
            <a:endParaRPr lang="en-US" sz="3400" dirty="0"/>
          </a:p>
        </p:txBody>
      </p:sp>
      <p:sp>
        <p:nvSpPr>
          <p:cNvPr id="6" name="Titre de graphique"/>
          <p:cNvSpPr txBox="1"/>
          <p:nvPr/>
        </p:nvSpPr>
        <p:spPr>
          <a:xfrm>
            <a:off x="548640" y="2011680"/>
            <a:ext cx="5669280" cy="320040"/>
          </a:xfrm>
          <a:prstGeom prst="rect">
            <a:avLst/>
          </a:prstGeom>
          <a:noFill/>
          <a:ln/>
        </p:spPr>
        <p:txBody>
          <a:bodyPr wrap="square" lIns="0" tIns="0" rIns="0" bIns="0" rtlCol="0" anchor="ctr"/>
          <a:lstStyle/>
          <a:p>
            <a:pPr marL="0" indent="0">
              <a:buNone/>
            </a:pPr>
            <a:r>
              <a:rPr lang="en-US" sz="1400" b="1" dirty="0">
                <a:solidFill>
                  <a:schemeClr val="tx1"/>
                </a:solidFill>
              </a:rPr>
              <a:t>Fausses alertes à 80 % de rappel (% des non-malades)</a:t>
            </a:r>
            <a:endParaRPr lang="en-US" sz="1400" dirty="0"/>
          </a:p>
        </p:txBody>
      </p:sp>
      <p:graphicFrame>
        <p:nvGraphicFramePr>
          <p:cNvPr id="7" name="Chart 0"/>
          <p:cNvGraphicFramePr/>
          <p:nvPr/>
        </p:nvGraphicFramePr>
        <p:xfrm>
          <a:off x="548640" y="2331720"/>
          <a:ext cx="566928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Tableau SMOTE"/>
          <p:cNvGraphicFramePr>
            <a:graphicFrameLocks noGrp="1"/>
          </p:cNvGraphicFramePr>
          <p:nvPr>
            <p:extLst>
              <p:ext uri="{D42A27DB-BD31-4B8C-83A1-F6EECF244321}">
                <p14:modId xmlns:p14="http://schemas.microsoft.com/office/powerpoint/2010/main" val="1579011935"/>
              </p:ext>
            </p:extLst>
          </p:nvPr>
        </p:nvGraphicFramePr>
        <p:xfrm>
          <a:off x="6766560" y="2331720"/>
          <a:ext cx="4846320" cy="2011680"/>
        </p:xfrm>
        <a:graphic>
          <a:graphicData uri="http://schemas.openxmlformats.org/drawingml/2006/table">
            <a:tbl>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502920">
                <a:tc>
                  <a:txBody>
                    <a:bodyPr/>
                    <a:lstStyle/>
                    <a:p>
                      <a:pPr marL="0" indent="0">
                        <a:buNone/>
                      </a:pPr>
                      <a:r>
                        <a:rPr lang="en-US" sz="1200" b="1" dirty="0">
                          <a:solidFill>
                            <a:srgbClr val="5B6470"/>
                          </a:solidFill>
                        </a:rPr>
                        <a:t>Version</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Seuil</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tc>
                  <a:txBody>
                    <a:bodyPr/>
                    <a:lstStyle/>
                    <a:p>
                      <a:pPr marL="0" indent="0">
                        <a:buNone/>
                      </a:pPr>
                      <a:r>
                        <a:rPr lang="en-US" sz="1200" b="1" dirty="0">
                          <a:solidFill>
                            <a:srgbClr val="5B6470"/>
                          </a:solidFill>
                        </a:rPr>
                        <a:t>Brier</a:t>
                      </a:r>
                      <a:endParaRPr lang="en-US" sz="1200" dirty="0"/>
                    </a:p>
                  </a:txBody>
                  <a:tcPr marL="73152" marR="73152" marT="36576" marB="36576" anchor="ctr">
                    <a:lnL w="0" cap="flat" cmpd="sng" algn="ctr">
                      <a:noFill/>
                    </a:lnL>
                    <a:lnR w="0" cap="flat" cmpd="sng" algn="ctr">
                      <a:noFill/>
                    </a:lnR>
                    <a:lnT w="0" cap="flat" cmpd="sng" algn="ctr">
                      <a:noFill/>
                    </a:lnT>
                    <a:lnB w="15875" cap="flat" cmpd="sng" algn="ctr">
                      <a:solidFill>
                        <a:srgbClr val="101418"/>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01418"/>
                          </a:solidFill>
                        </a:rPr>
                        <a:t>Régression logistique</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0,291</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0,150</a:t>
                      </a:r>
                      <a:endParaRPr lang="en-US" sz="1400" dirty="0"/>
                    </a:p>
                  </a:txBody>
                  <a:tcPr marL="73152" marR="73152" marT="36576" marB="36576" anchor="ctr">
                    <a:lnL w="0" cap="flat" cmpd="sng" algn="ctr">
                      <a:noFill/>
                    </a:lnL>
                    <a:lnR w="0" cap="flat" cmpd="sng" algn="ctr">
                      <a:noFill/>
                    </a:lnR>
                    <a:lnT w="15875" cap="flat" cmpd="sng" algn="ctr">
                      <a:solidFill>
                        <a:srgbClr val="101418"/>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01418"/>
                          </a:solidFill>
                        </a:rPr>
                        <a:t>XGBoost</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0,236</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0,176</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dirty="0">
                          <a:solidFill>
                            <a:srgbClr val="101418"/>
                          </a:solidFill>
                        </a:rPr>
                        <a:t>XGBoost + SMOTE</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0,324</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tc>
                  <a:txBody>
                    <a:bodyPr/>
                    <a:lstStyle/>
                    <a:p>
                      <a:pPr marL="0" indent="0">
                        <a:buNone/>
                      </a:pPr>
                      <a:r>
                        <a:rPr lang="en-US" sz="1400" dirty="0">
                          <a:solidFill>
                            <a:srgbClr val="101418"/>
                          </a:solidFill>
                        </a:rPr>
                        <a:t>0,176</a:t>
                      </a:r>
                      <a:endParaRPr lang="en-US" sz="1400" dirty="0"/>
                    </a:p>
                  </a:txBody>
                  <a:tcPr marL="73152" marR="73152" marT="36576" marB="36576" anchor="ctr">
                    <a:lnL w="0" cap="flat" cmpd="sng" algn="ctr">
                      <a:noFill/>
                    </a:lnL>
                    <a:lnR w="0" cap="flat" cmpd="sng" algn="ctr">
                      <a:noFill/>
                    </a:lnR>
                    <a:lnT w="9525" cap="flat" cmpd="sng" algn="ctr">
                      <a:solidFill>
                        <a:srgbClr val="E2E5E9"/>
                      </a:solidFill>
                      <a:prstDash val="solid"/>
                      <a:round/>
                      <a:headEnd type="none" w="med" len="med"/>
                      <a:tailEnd type="none" w="med" len="med"/>
                    </a:lnT>
                    <a:lnB w="9525" cap="flat" cmpd="sng" algn="ctr">
                      <a:solidFill>
                        <a:srgbClr val="E2E5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Commentaire"/>
          <p:cNvSpPr txBox="1"/>
          <p:nvPr/>
        </p:nvSpPr>
        <p:spPr>
          <a:xfrm>
            <a:off x="6766560" y="4572000"/>
            <a:ext cx="4846320" cy="1280160"/>
          </a:xfrm>
          <a:prstGeom prst="rect">
            <a:avLst/>
          </a:prstGeom>
          <a:noFill/>
          <a:ln/>
        </p:spPr>
        <p:txBody>
          <a:bodyPr wrap="square" lIns="0" tIns="0" rIns="0" bIns="0" rtlCol="0" anchor="t"/>
          <a:lstStyle/>
          <a:p>
            <a:pPr marL="0" indent="0">
              <a:buNone/>
            </a:pPr>
            <a:r>
              <a:rPr lang="en-US" sz="1400" dirty="0">
                <a:solidFill>
                  <a:schemeClr val="tx2"/>
                </a:solidFill>
              </a:rPr>
              <a:t>Même Brier avec et sans SMOTE : on l'écarte, car un seuil bas est plus simple, ne crée pas de patientes fictives et ne dépend pas d'un tirage aléatoire.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ANNEXE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AUC sur le test selon la taille de l'entraînement : 20 sous-échantillons stratifiés par taille.</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Peu de données</a:t>
            </a:r>
            <a:endParaRPr lang="en-US" sz="3400" dirty="0"/>
          </a:p>
        </p:txBody>
      </p:sp>
      <p:graphicFrame>
        <p:nvGraphicFramePr>
          <p:cNvPr id="6" name="Chart 0"/>
          <p:cNvGraphicFramePr/>
          <p:nvPr/>
        </p:nvGraphicFramePr>
        <p:xfrm>
          <a:off x="548640" y="2011680"/>
          <a:ext cx="69494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Lecture"/>
          <p:cNvSpPr txBox="1"/>
          <p:nvPr/>
        </p:nvSpPr>
        <p:spPr>
          <a:xfrm>
            <a:off x="7955280" y="2103120"/>
            <a:ext cx="365760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La régression logistique apprend mieux avec peu de données : 0,784 contre 0,734 à 50 patientes.</a:t>
            </a:r>
            <a:endParaRPr lang="en-US" sz="1400" dirty="0"/>
          </a:p>
          <a:p>
            <a:pPr marL="342900" indent="-342900">
              <a:spcAft>
                <a:spcPts val="1000"/>
              </a:spcAft>
              <a:buSzPct val="100000"/>
              <a:buChar char="•"/>
            </a:pPr>
            <a:r>
              <a:rPr lang="en-US" sz="1400" dirty="0">
                <a:solidFill>
                  <a:schemeClr val="tx1"/>
                </a:solidFill>
              </a:rPr>
              <a:t>Les règles n'aident pas davantage quand les données sont rares : +0,004 à +0,008 d'AUC, sans tendance.</a:t>
            </a:r>
            <a:endParaRPr lang="en-US" sz="1400" dirty="0"/>
          </a:p>
          <a:p>
            <a:pPr marL="342900" indent="-342900">
              <a:buSzPct val="100000"/>
              <a:buChar char="•"/>
            </a:pPr>
            <a:r>
              <a:rPr lang="en-US" sz="1400" dirty="0">
                <a:solidFill>
                  <a:schemeClr val="tx1"/>
                </a:solidFill>
              </a:rPr>
              <a:t>Le petit gain de la rég. log. est une propriété de ce test : en validation croisée, −0,0025.</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ANNEXE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Glycémie et IMC dominent ; l'insuline, le pli cutané et la pression ne servent presque pas.</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Importance des variables</a:t>
            </a:r>
            <a:endParaRPr lang="en-US" sz="3400" dirty="0"/>
          </a:p>
        </p:txBody>
      </p:sp>
      <p:sp>
        <p:nvSpPr>
          <p:cNvPr id="6" name="Titre de graphique"/>
          <p:cNvSpPr txBox="1"/>
          <p:nvPr/>
        </p:nvSpPr>
        <p:spPr>
          <a:xfrm>
            <a:off x="548640" y="2011680"/>
            <a:ext cx="5486400" cy="320040"/>
          </a:xfrm>
          <a:prstGeom prst="rect">
            <a:avLst/>
          </a:prstGeom>
          <a:noFill/>
          <a:ln/>
        </p:spPr>
        <p:txBody>
          <a:bodyPr wrap="square" lIns="0" tIns="0" rIns="0" bIns="0" rtlCol="0" anchor="ctr"/>
          <a:lstStyle/>
          <a:p>
            <a:pPr marL="0" indent="0">
              <a:buNone/>
            </a:pPr>
            <a:r>
              <a:rPr lang="en-US" sz="1400" b="1" dirty="0">
                <a:solidFill>
                  <a:schemeClr val="tx1"/>
                </a:solidFill>
              </a:rPr>
              <a:t>Coefficients de la régression logistique (standardisés)</a:t>
            </a:r>
            <a:endParaRPr lang="en-US" sz="1400" dirty="0"/>
          </a:p>
        </p:txBody>
      </p:sp>
      <p:graphicFrame>
        <p:nvGraphicFramePr>
          <p:cNvPr id="7" name="Chart 0"/>
          <p:cNvGraphicFramePr/>
          <p:nvPr/>
        </p:nvGraphicFramePr>
        <p:xfrm>
          <a:off x="548640" y="2331720"/>
          <a:ext cx="54864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8" name="Titre de graphique"/>
          <p:cNvSpPr txBox="1"/>
          <p:nvPr/>
        </p:nvSpPr>
        <p:spPr>
          <a:xfrm>
            <a:off x="6492240" y="2011680"/>
            <a:ext cx="5120640" cy="320040"/>
          </a:xfrm>
          <a:prstGeom prst="rect">
            <a:avLst/>
          </a:prstGeom>
          <a:noFill/>
          <a:ln/>
        </p:spPr>
        <p:txBody>
          <a:bodyPr wrap="square" lIns="0" tIns="0" rIns="0" bIns="0" rtlCol="0" anchor="ctr"/>
          <a:lstStyle/>
          <a:p>
            <a:pPr marL="0" indent="0">
              <a:buNone/>
            </a:pPr>
            <a:r>
              <a:rPr lang="en-US" sz="1400" b="1" dirty="0">
                <a:solidFill>
                  <a:schemeClr val="tx1"/>
                </a:solidFill>
              </a:rPr>
              <a:t>Contribution SHAP moyenne en valeur absolue (test)</a:t>
            </a:r>
            <a:endParaRPr lang="en-US" sz="1400" dirty="0"/>
          </a:p>
        </p:txBody>
      </p:sp>
      <p:graphicFrame>
        <p:nvGraphicFramePr>
          <p:cNvPr id="9" name="Chart 1"/>
          <p:cNvGraphicFramePr/>
          <p:nvPr/>
        </p:nvGraphicFramePr>
        <p:xfrm>
          <a:off x="6492240" y="2331720"/>
          <a:ext cx="512064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oint de section"/>
          <p:cNvSpPr/>
          <p:nvPr/>
        </p:nvSpPr>
        <p:spPr>
          <a:xfrm>
            <a:off x="548640" y="420624"/>
            <a:ext cx="118872" cy="118872"/>
          </a:xfrm>
          <a:prstGeom prst="ellipse">
            <a:avLst/>
          </a:prstGeom>
          <a:solidFill>
            <a:schemeClr val="accent1"/>
          </a:solidFill>
          <a:ln w="12700">
            <a:solidFill>
              <a:schemeClr val="accent1"/>
            </a:solidFill>
            <a:prstDash val="solid"/>
          </a:ln>
        </p:spPr>
        <p:txBody>
          <a:bodyPr/>
          <a:lstStyle/>
          <a:p>
            <a:endParaRPr lang="fr-FR"/>
          </a:p>
        </p:txBody>
      </p:sp>
      <p:sp>
        <p:nvSpPr>
          <p:cNvPr id="3" name="Section"/>
          <p:cNvSpPr txBox="1"/>
          <p:nvPr/>
        </p:nvSpPr>
        <p:spPr>
          <a:xfrm>
            <a:off x="777240" y="329184"/>
            <a:ext cx="8229600" cy="301752"/>
          </a:xfrm>
          <a:prstGeom prst="rect">
            <a:avLst/>
          </a:prstGeom>
          <a:noFill/>
          <a:ln/>
        </p:spPr>
        <p:txBody>
          <a:bodyPr wrap="square" lIns="0" tIns="0" rIns="0" bIns="0" rtlCol="0" anchor="ctr"/>
          <a:lstStyle/>
          <a:p>
            <a:pPr marL="0" indent="0">
              <a:buNone/>
            </a:pPr>
            <a:r>
              <a:rPr lang="en-US" sz="1200" b="1" kern="0" spc="200" dirty="0">
                <a:solidFill>
                  <a:schemeClr val="accent1"/>
                </a:solidFill>
              </a:rPr>
              <a:t>ANNEXE</a:t>
            </a:r>
            <a:endParaRPr lang="en-US" sz="1200" dirty="0"/>
          </a:p>
        </p:txBody>
      </p:sp>
      <p:sp>
        <p:nvSpPr>
          <p:cNvPr id="4" name="Sous-titre"/>
          <p:cNvSpPr txBox="1"/>
          <p:nvPr/>
        </p:nvSpPr>
        <p:spPr>
          <a:xfrm>
            <a:off x="548640" y="1298448"/>
            <a:ext cx="11091672" cy="411480"/>
          </a:xfrm>
          <a:prstGeom prst="rect">
            <a:avLst/>
          </a:prstGeom>
          <a:noFill/>
          <a:ln/>
        </p:spPr>
        <p:txBody>
          <a:bodyPr wrap="square" lIns="0" tIns="0" rIns="0" bIns="0" rtlCol="0" anchor="t"/>
          <a:lstStyle/>
          <a:p>
            <a:pPr marL="0" indent="0">
              <a:buNone/>
            </a:pPr>
            <a:r>
              <a:rPr lang="en-US" sz="1600" dirty="0">
                <a:solidFill>
                  <a:schemeClr val="tx2"/>
                </a:solidFill>
              </a:rPr>
              <a:t>Erreurs corrigées ou introduites par les règles en entrée (moyenne par répétition, 768 patientes).</a:t>
            </a:r>
            <a:endParaRPr lang="en-US" sz="1600" dirty="0"/>
          </a:p>
        </p:txBody>
      </p:sp>
      <p:sp>
        <p:nvSpPr>
          <p:cNvPr id="5" name="Text 0"/>
          <p:cNvSpPr>
            <a:spLocks noGrp="1"/>
          </p:cNvSpPr>
          <p:nvPr>
            <p:ph type="title" idx="100" hasCustomPrompt="1"/>
          </p:nvPr>
        </p:nvSpPr>
        <p:spPr>
          <a:xfrm>
            <a:off x="548640" y="676656"/>
            <a:ext cx="11091672" cy="566928"/>
          </a:xfrm>
          <a:prstGeom prst="rect">
            <a:avLst/>
          </a:prstGeom>
          <a:noFill/>
          <a:ln/>
        </p:spPr>
        <p:txBody>
          <a:bodyPr wrap="square" lIns="0" tIns="0" rIns="0" bIns="0" rtlCol="0" anchor="t"/>
          <a:lstStyle/>
          <a:p>
            <a:pPr marL="0" indent="0" algn="l">
              <a:buNone/>
            </a:pPr>
            <a:r>
              <a:rPr lang="en-US" sz="3400" b="1" dirty="0">
                <a:solidFill>
                  <a:schemeClr val="tx1"/>
                </a:solidFill>
              </a:rPr>
              <a:t>Erreurs corrigées et introduites</a:t>
            </a:r>
            <a:endParaRPr lang="en-US" sz="3400" dirty="0"/>
          </a:p>
        </p:txBody>
      </p:sp>
      <p:graphicFrame>
        <p:nvGraphicFramePr>
          <p:cNvPr id="6" name="Chart 0"/>
          <p:cNvGraphicFramePr/>
          <p:nvPr/>
        </p:nvGraphicFramePr>
        <p:xfrm>
          <a:off x="548640" y="2011680"/>
          <a:ext cx="64008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Lecture"/>
          <p:cNvSpPr txBox="1"/>
          <p:nvPr/>
        </p:nvSpPr>
        <p:spPr>
          <a:xfrm>
            <a:off x="7498080" y="2103120"/>
            <a:ext cx="411480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Les règles en entrée déplacent des patientes dans les deux sens, sans bilan net : cohérent avec l'absence d'effet démontrable sur l'AUC.</a:t>
            </a:r>
            <a:endParaRPr lang="en-US" sz="1400" dirty="0"/>
          </a:p>
          <a:p>
            <a:pPr marL="342900" indent="-342900">
              <a:spcAft>
                <a:spcPts val="1000"/>
              </a:spcAft>
              <a:buSzPct val="100000"/>
              <a:buChar char="•"/>
            </a:pPr>
            <a:r>
              <a:rPr lang="en-US" sz="1400" dirty="0">
                <a:solidFill>
                  <a:schemeClr val="tx1"/>
                </a:solidFill>
              </a:rPr>
              <a:t>Règles en sortie : 0 erreur introduite, 0 corrigée pour la rég. log. (0,2 pour XGBoost).</a:t>
            </a:r>
            <a:endParaRPr lang="en-US" sz="1400" dirty="0"/>
          </a:p>
          <a:p>
            <a:pPr marL="342900" indent="-342900">
              <a:buSzPct val="100000"/>
              <a:buChar char="•"/>
            </a:pPr>
            <a:r>
              <a:rPr lang="en-US" sz="1400" dirty="0">
                <a:solidFill>
                  <a:schemeClr val="tx1"/>
                </a:solidFill>
              </a:rPr>
              <a:t>Les faux négatifs les plus sévères : femmes jeunes, glycémie inférieure à 110 mg/dL, risque prédit de 3 à 12 %.</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DiabetesCheck">
  <a:themeElements>
    <a:clrScheme name="DiabetesCheck">
      <a:dk1>
        <a:srgbClr val="101418"/>
      </a:dk1>
      <a:lt1>
        <a:srgbClr val="FFFFFF"/>
      </a:lt1>
      <a:dk2>
        <a:srgbClr val="5B6470"/>
      </a:dk2>
      <a:lt2>
        <a:srgbClr val="F2F4F6"/>
      </a:lt2>
      <a:accent1>
        <a:srgbClr val="0E8F7E"/>
      </a:accent1>
      <a:accent2>
        <a:srgbClr val="D9433B"/>
      </a:accent2>
      <a:accent3>
        <a:srgbClr val="AEB6BF"/>
      </a:accent3>
      <a:accent4>
        <a:srgbClr val="2B3440"/>
      </a:accent4>
      <a:accent5>
        <a:srgbClr val="7A8794"/>
      </a:accent5>
      <a:accent6>
        <a:srgbClr val="D5DAE0"/>
      </a:accent6>
      <a:hlink>
        <a:srgbClr val="0E8F7E"/>
      </a:hlink>
      <a:folHlink>
        <a:srgbClr val="5B6470"/>
      </a:folHlink>
    </a:clrScheme>
    <a:fontScheme name="DiabetesChe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3214</Words>
  <Application>Microsoft Office PowerPoint</Application>
  <PresentationFormat>Grand écran</PresentationFormat>
  <Paragraphs>324</Paragraphs>
  <Slides>20</Slides>
  <Notes>20</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20</vt:i4>
      </vt:variant>
    </vt:vector>
  </HeadingPairs>
  <TitlesOfParts>
    <vt:vector size="22" baseType="lpstr">
      <vt:lpstr>Arial</vt:lpstr>
      <vt:lpstr>DiabetesCheck</vt:lpstr>
      <vt:lpstr>DiabetesCheck AI</vt:lpstr>
      <vt:lpstr>Dépister le diabète, et pouvoir l'expliquer</vt:lpstr>
      <vt:lpstr>Un protocole sans fuite d'information</vt:lpstr>
      <vt:lpstr>Les données piègent avant les modèles</vt:lpstr>
      <vt:lpstr>Six règles médicales, chacune sourcée</vt:lpstr>
      <vt:lpstr>Le seuil se choisit sur le train</vt:lpstr>
      <vt:lpstr>Les règles n'améliorent pas l'AUC</vt:lpstr>
      <vt:lpstr>Là où les règles servent vraiment</vt:lpstr>
      <vt:lpstr>Calibration : XGBoost trop sûr de lui</vt:lpstr>
      <vt:lpstr>Expliquer : SHAP et règles, ensemble</vt:lpstr>
      <vt:lpstr>Où se trouvent les erreurs</vt:lpstr>
      <vt:lpstr>Bilan sur sept dimensions</vt:lpstr>
      <vt:lpstr>Limites et pistes</vt:lpstr>
      <vt:lpstr>Questions ?</vt:lpstr>
      <vt:lpstr>Annexes</vt:lpstr>
      <vt:lpstr>Sources des règles médicales</vt:lpstr>
      <vt:lpstr>SMOTE ou seuil bas ?</vt:lpstr>
      <vt:lpstr>Peu de données</vt:lpstr>
      <vt:lpstr>Importance des variables</vt:lpstr>
      <vt:lpstr>Erreurs corrigées et introduites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DiabetesCheck AI : soutenance IA Hybride</dc:title>
  <dc:subject>PptxGenJS Presentation</dc:subject>
  <dc:creator>PptxGenJS</dc:creator>
  <cp:lastModifiedBy>Arthur Walid Prevel</cp:lastModifiedBy>
  <cp:revision>1</cp:revision>
  <dcterms:created xsi:type="dcterms:W3CDTF">2026-10-15T19:46:11Z</dcterms:created>
  <dcterms:modified xsi:type="dcterms:W3CDTF">2026-10-15T19:55:29Z</dcterms:modified>
</cp:coreProperties>
</file>